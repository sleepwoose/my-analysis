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309" r:id="rId5"/>
    <p:sldId id="302" r:id="rId6"/>
    <p:sldId id="303" r:id="rId7"/>
    <p:sldId id="304" r:id="rId8"/>
    <p:sldId id="299" r:id="rId9"/>
    <p:sldId id="306" r:id="rId10"/>
    <p:sldId id="261" r:id="rId11"/>
    <p:sldId id="280" r:id="rId12"/>
    <p:sldId id="279" r:id="rId13"/>
    <p:sldId id="281" r:id="rId14"/>
    <p:sldId id="282" r:id="rId15"/>
    <p:sldId id="283" r:id="rId16"/>
    <p:sldId id="284" r:id="rId17"/>
    <p:sldId id="266" r:id="rId18"/>
    <p:sldId id="269" r:id="rId19"/>
    <p:sldId id="296" r:id="rId20"/>
    <p:sldId id="297" r:id="rId21"/>
    <p:sldId id="310" r:id="rId22"/>
    <p:sldId id="311" r:id="rId23"/>
    <p:sldId id="271" r:id="rId24"/>
    <p:sldId id="295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73" r:id="rId36"/>
    <p:sldId id="312" r:id="rId37"/>
    <p:sldId id="275" r:id="rId38"/>
    <p:sldId id="276" r:id="rId39"/>
    <p:sldId id="277" r:id="rId40"/>
    <p:sldId id="278" r:id="rId41"/>
    <p:sldId id="300" r:id="rId42"/>
    <p:sldId id="305" r:id="rId43"/>
  </p:sldIdLst>
  <p:sldSz cx="12192000" cy="6858000"/>
  <p:notesSz cx="6858000" cy="9144000"/>
  <p:embeddedFontLst>
    <p:embeddedFont>
      <p:font typeface="Malgun Gothic" panose="020B0503020000020004" pitchFamily="50" charset="-127"/>
      <p:regular r:id="rId45"/>
      <p:bold r:id="rId46"/>
    </p:embeddedFont>
    <p:embeddedFont>
      <p:font typeface="Malgun Gothic" panose="020B0503020000020004" pitchFamily="50" charset="-127"/>
      <p:regular r:id="rId45"/>
      <p:bold r:id="rId46"/>
    </p:embeddedFont>
    <p:embeddedFont>
      <p:font typeface="Arial Black" panose="020B0A04020102020204" pitchFamily="34" charset="0"/>
      <p:regular r:id="rId47"/>
      <p:bold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Cambria Math" panose="02040503050406030204" pitchFamily="18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haU0hFHnfRCB0kU9/ioL5fkShw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6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3FEDAF-FF97-4FA2-A4B9-3C374E573213}">
  <a:tblStyle styleId="{FF3FEDAF-FF97-4FA2-A4B9-3C374E57321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FB81038-B3C2-47C5-B33F-A615394D63F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0" y="6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2320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3845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319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637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37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757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6827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6748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01a7e8453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801a7e8453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1a785ae7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81a785ae7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1a785ae7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81a785ae7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1a785ae7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81a785ae7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81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0.png"/><Relationship Id="rId4" Type="http://schemas.openxmlformats.org/officeDocument/2006/relationships/image" Target="NULL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0.png"/><Relationship Id="rId7" Type="http://schemas.openxmlformats.org/officeDocument/2006/relationships/image" Target="../media/image1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NUL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NULL"/><Relationship Id="rId7" Type="http://schemas.openxmlformats.org/officeDocument/2006/relationships/image" Target="../media/image28.png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0.png"/><Relationship Id="rId4" Type="http://schemas.openxmlformats.org/officeDocument/2006/relationships/image" Target="../media/image2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2807138" y="2605984"/>
            <a:ext cx="8798707" cy="14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Digital </a:t>
            </a:r>
            <a:r>
              <a:rPr lang="en-US" sz="6000" b="0" i="0" u="none" strike="noStrike" cap="none" dirty="0" err="1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IC_Repeater</a:t>
            </a:r>
            <a:endParaRPr sz="6000" b="0" i="0" u="none" strike="noStrike" cap="none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2D5F5-89F7-4E2D-8AA5-7C5D246FDE31}"/>
              </a:ext>
            </a:extLst>
          </p:cNvPr>
          <p:cNvSpPr txBox="1"/>
          <p:nvPr/>
        </p:nvSpPr>
        <p:spPr>
          <a:xfrm>
            <a:off x="7602786" y="5098911"/>
            <a:ext cx="4100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8</a:t>
            </a:r>
            <a:r>
              <a:rPr lang="ko-KR" altLang="en-US" b="1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조   고하은</a:t>
            </a:r>
            <a:r>
              <a:rPr lang="en-US" altLang="ko-KR" b="1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b="1" dirty="0" err="1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민세빈</a:t>
            </a:r>
            <a:r>
              <a:rPr lang="en-US" altLang="ko-KR" b="1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b="1" dirty="0" err="1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문종호</a:t>
            </a:r>
            <a:r>
              <a:rPr lang="en-US" altLang="ko-KR" b="1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이지영</a:t>
            </a:r>
            <a:r>
              <a:rPr lang="en-US" altLang="ko-KR" b="1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b="1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최우석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" name="Google Shape;21;p2"/>
          <p:cNvGrpSpPr/>
          <p:nvPr/>
        </p:nvGrpSpPr>
        <p:grpSpPr>
          <a:xfrm>
            <a:off x="3745462" y="3585175"/>
            <a:ext cx="3834954" cy="400110"/>
            <a:chOff x="2895600" y="1730989"/>
            <a:chExt cx="3834954" cy="400110"/>
          </a:xfrm>
        </p:grpSpPr>
        <p:sp>
          <p:nvSpPr>
            <p:cNvPr id="22" name="Google Shape;22;p2"/>
            <p:cNvSpPr txBox="1"/>
            <p:nvPr/>
          </p:nvSpPr>
          <p:spPr>
            <a:xfrm>
              <a:off x="2895600" y="1730989"/>
              <a:ext cx="7493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 txBox="1"/>
            <p:nvPr/>
          </p:nvSpPr>
          <p:spPr>
            <a:xfrm>
              <a:off x="3467100" y="1730989"/>
              <a:ext cx="3263454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Propagation Delay</a:t>
              </a:r>
              <a:endParaRPr sz="20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3745462" y="2486257"/>
            <a:ext cx="2123918" cy="400110"/>
            <a:chOff x="2895600" y="1730989"/>
            <a:chExt cx="2123918" cy="400110"/>
          </a:xfrm>
        </p:grpSpPr>
        <p:sp>
          <p:nvSpPr>
            <p:cNvPr id="25" name="Google Shape;25;p2"/>
            <p:cNvSpPr txBox="1"/>
            <p:nvPr/>
          </p:nvSpPr>
          <p:spPr>
            <a:xfrm>
              <a:off x="2895600" y="1730989"/>
              <a:ext cx="7493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 txBox="1"/>
            <p:nvPr/>
          </p:nvSpPr>
          <p:spPr>
            <a:xfrm>
              <a:off x="3467100" y="1730989"/>
              <a:ext cx="1552418" cy="4001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1966" t="-9229" b="-2769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 dirty="0"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745462" y="3035716"/>
            <a:ext cx="4004938" cy="400110"/>
            <a:chOff x="2895600" y="1730989"/>
            <a:chExt cx="4004938" cy="400110"/>
          </a:xfrm>
        </p:grpSpPr>
        <p:sp>
          <p:nvSpPr>
            <p:cNvPr id="28" name="Google Shape;28;p2"/>
            <p:cNvSpPr txBox="1"/>
            <p:nvPr/>
          </p:nvSpPr>
          <p:spPr>
            <a:xfrm>
              <a:off x="2895600" y="1730989"/>
              <a:ext cx="7493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 txBox="1"/>
            <p:nvPr/>
          </p:nvSpPr>
          <p:spPr>
            <a:xfrm>
              <a:off x="3467099" y="1730989"/>
              <a:ext cx="343343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Rising &amp; Falling Time</a:t>
              </a:r>
              <a:endParaRPr sz="20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745462" y="1927310"/>
            <a:ext cx="1978426" cy="400110"/>
            <a:chOff x="2895600" y="1730989"/>
            <a:chExt cx="1978426" cy="400110"/>
          </a:xfrm>
        </p:grpSpPr>
        <p:sp>
          <p:nvSpPr>
            <p:cNvPr id="31" name="Google Shape;31;p2"/>
            <p:cNvSpPr txBox="1"/>
            <p:nvPr/>
          </p:nvSpPr>
          <p:spPr>
            <a:xfrm>
              <a:off x="2895600" y="1730989"/>
              <a:ext cx="7493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20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 txBox="1"/>
            <p:nvPr/>
          </p:nvSpPr>
          <p:spPr>
            <a:xfrm>
              <a:off x="3467100" y="1730989"/>
              <a:ext cx="140692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Summary</a:t>
              </a:r>
              <a:endParaRPr sz="20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p2"/>
          <p:cNvGrpSpPr/>
          <p:nvPr/>
        </p:nvGrpSpPr>
        <p:grpSpPr>
          <a:xfrm>
            <a:off x="3745462" y="4134634"/>
            <a:ext cx="3611302" cy="400110"/>
            <a:chOff x="2895600" y="1730989"/>
            <a:chExt cx="3611302" cy="400110"/>
          </a:xfrm>
        </p:grpSpPr>
        <p:sp>
          <p:nvSpPr>
            <p:cNvPr id="34" name="Google Shape;34;p2"/>
            <p:cNvSpPr txBox="1"/>
            <p:nvPr/>
          </p:nvSpPr>
          <p:spPr>
            <a:xfrm>
              <a:off x="2895600" y="1730989"/>
              <a:ext cx="7493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 txBox="1"/>
            <p:nvPr/>
          </p:nvSpPr>
          <p:spPr>
            <a:xfrm>
              <a:off x="3467100" y="1730989"/>
              <a:ext cx="303980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Duty Cycle</a:t>
              </a:r>
              <a:endParaRPr sz="20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"/>
          <p:cNvSpPr txBox="1"/>
          <p:nvPr/>
        </p:nvSpPr>
        <p:spPr>
          <a:xfrm>
            <a:off x="2003573" y="682510"/>
            <a:ext cx="3523770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b="0" u="none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Contents</a:t>
            </a:r>
            <a:endParaRPr sz="4000" b="0" u="none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46" name="Google Shape;33;p2">
            <a:extLst>
              <a:ext uri="{FF2B5EF4-FFF2-40B4-BE49-F238E27FC236}">
                <a16:creationId xmlns:a16="http://schemas.microsoft.com/office/drawing/2014/main" id="{E959F368-F170-4A17-99BE-39620F5401E3}"/>
              </a:ext>
            </a:extLst>
          </p:cNvPr>
          <p:cNvGrpSpPr/>
          <p:nvPr/>
        </p:nvGrpSpPr>
        <p:grpSpPr>
          <a:xfrm>
            <a:off x="3745462" y="4684052"/>
            <a:ext cx="3611302" cy="400110"/>
            <a:chOff x="2895600" y="1730989"/>
            <a:chExt cx="3611302" cy="400110"/>
          </a:xfrm>
        </p:grpSpPr>
        <p:sp>
          <p:nvSpPr>
            <p:cNvPr id="47" name="Google Shape;34;p2">
              <a:extLst>
                <a:ext uri="{FF2B5EF4-FFF2-40B4-BE49-F238E27FC236}">
                  <a16:creationId xmlns:a16="http://schemas.microsoft.com/office/drawing/2014/main" id="{4B66323A-6ED6-428D-A8D5-292F9D4D62F4}"/>
                </a:ext>
              </a:extLst>
            </p:cNvPr>
            <p:cNvSpPr txBox="1"/>
            <p:nvPr/>
          </p:nvSpPr>
          <p:spPr>
            <a:xfrm>
              <a:off x="2895600" y="1730989"/>
              <a:ext cx="7493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sz="20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35;p2">
              <a:extLst>
                <a:ext uri="{FF2B5EF4-FFF2-40B4-BE49-F238E27FC236}">
                  <a16:creationId xmlns:a16="http://schemas.microsoft.com/office/drawing/2014/main" id="{F87D7C62-2262-46D7-B01E-D62B36895F99}"/>
                </a:ext>
              </a:extLst>
            </p:cNvPr>
            <p:cNvSpPr txBox="1"/>
            <p:nvPr/>
          </p:nvSpPr>
          <p:spPr>
            <a:xfrm>
              <a:off x="3467100" y="1730989"/>
              <a:ext cx="303980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Power Consumption</a:t>
              </a:r>
              <a:endParaRPr sz="20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oogle Shape;33;p2">
            <a:extLst>
              <a:ext uri="{FF2B5EF4-FFF2-40B4-BE49-F238E27FC236}">
                <a16:creationId xmlns:a16="http://schemas.microsoft.com/office/drawing/2014/main" id="{9CC1202E-B625-4B61-AC4D-29BE78C2B32F}"/>
              </a:ext>
            </a:extLst>
          </p:cNvPr>
          <p:cNvGrpSpPr/>
          <p:nvPr/>
        </p:nvGrpSpPr>
        <p:grpSpPr>
          <a:xfrm>
            <a:off x="3745462" y="5233429"/>
            <a:ext cx="3611302" cy="400110"/>
            <a:chOff x="2895600" y="1730989"/>
            <a:chExt cx="3611302" cy="400110"/>
          </a:xfrm>
        </p:grpSpPr>
        <p:sp>
          <p:nvSpPr>
            <p:cNvPr id="50" name="Google Shape;34;p2">
              <a:extLst>
                <a:ext uri="{FF2B5EF4-FFF2-40B4-BE49-F238E27FC236}">
                  <a16:creationId xmlns:a16="http://schemas.microsoft.com/office/drawing/2014/main" id="{5B5F411E-7627-4735-98EC-7A1471BC798F}"/>
                </a:ext>
              </a:extLst>
            </p:cNvPr>
            <p:cNvSpPr txBox="1"/>
            <p:nvPr/>
          </p:nvSpPr>
          <p:spPr>
            <a:xfrm>
              <a:off x="2895600" y="1730989"/>
              <a:ext cx="7493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sz="20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35;p2">
              <a:extLst>
                <a:ext uri="{FF2B5EF4-FFF2-40B4-BE49-F238E27FC236}">
                  <a16:creationId xmlns:a16="http://schemas.microsoft.com/office/drawing/2014/main" id="{4770F20C-AB63-494C-A6B6-EE9042596DBA}"/>
                </a:ext>
              </a:extLst>
            </p:cNvPr>
            <p:cNvSpPr txBox="1"/>
            <p:nvPr/>
          </p:nvSpPr>
          <p:spPr>
            <a:xfrm>
              <a:off x="3467100" y="1730989"/>
              <a:ext cx="303980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20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2649415" y="3240230"/>
            <a:ext cx="8129954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6000"/>
              <a:buFont typeface="Arial"/>
              <a:buNone/>
            </a:pPr>
            <a:r>
              <a:rPr lang="en-US" sz="6000" b="1" dirty="0">
                <a:solidFill>
                  <a:srgbClr val="09644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lang="en-US" sz="6000" dirty="0">
                <a:solidFill>
                  <a:srgbClr val="0964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Summary</a:t>
            </a:r>
            <a:endParaRPr sz="6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01. Summary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AE5470-61CE-4AF4-AFD1-C699E055DA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54"/>
          <a:stretch/>
        </p:blipFill>
        <p:spPr>
          <a:xfrm>
            <a:off x="3783647" y="2977165"/>
            <a:ext cx="5690425" cy="1329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D7AAD5-A77F-49B9-8244-EF10E57938F0}"/>
              </a:ext>
            </a:extLst>
          </p:cNvPr>
          <p:cNvSpPr txBox="1"/>
          <p:nvPr/>
        </p:nvSpPr>
        <p:spPr>
          <a:xfrm>
            <a:off x="2003569" y="4367331"/>
            <a:ext cx="3488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Repeater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483708F-200D-40A5-9E15-B2012C34D67B}"/>
              </a:ext>
            </a:extLst>
          </p:cNvPr>
          <p:cNvSpPr/>
          <p:nvPr/>
        </p:nvSpPr>
        <p:spPr>
          <a:xfrm>
            <a:off x="1994169" y="4734242"/>
            <a:ext cx="69963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RC Delay</a:t>
            </a:r>
            <a:r>
              <a:rPr lang="ko-KR" altLang="en-US" dirty="0"/>
              <a:t>로 인한 신호 지연과 파형 왜곡 현상을 방지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B539F0-8784-4ECE-8731-F3DA30CCDA24}"/>
              </a:ext>
            </a:extLst>
          </p:cNvPr>
          <p:cNvSpPr/>
          <p:nvPr/>
        </p:nvSpPr>
        <p:spPr>
          <a:xfrm>
            <a:off x="2003572" y="5041264"/>
            <a:ext cx="6996332" cy="1668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PPA Perspective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Multiplier : 1x, 2x, 4x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Loading Conditions : Same Load vs Multi Load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Scale down : 180nm </a:t>
            </a:r>
            <a:r>
              <a:rPr lang="ko-KR" altLang="en-US" dirty="0"/>
              <a:t>→ </a:t>
            </a:r>
            <a:r>
              <a:rPr lang="en-US" altLang="ko-KR" dirty="0"/>
              <a:t>90nm </a:t>
            </a:r>
            <a:r>
              <a:rPr lang="ko-KR" altLang="en-US" dirty="0"/>
              <a:t>→</a:t>
            </a:r>
            <a:r>
              <a:rPr lang="en-US" altLang="ko-KR" dirty="0"/>
              <a:t> 45nm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Process Corner : SS,</a:t>
            </a:r>
            <a:r>
              <a:rPr lang="ko-KR" altLang="en-US" dirty="0"/>
              <a:t> </a:t>
            </a:r>
            <a:r>
              <a:rPr lang="en-US" altLang="ko-KR" dirty="0"/>
              <a:t>TT,</a:t>
            </a:r>
            <a:r>
              <a:rPr lang="ko-KR" altLang="en-US" dirty="0"/>
              <a:t> </a:t>
            </a:r>
            <a:r>
              <a:rPr lang="en-US" altLang="ko-KR" dirty="0"/>
              <a:t>FF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172C0-4F82-4278-9D5A-BC57D61AA6AB}"/>
              </a:ext>
            </a:extLst>
          </p:cNvPr>
          <p:cNvSpPr txBox="1"/>
          <p:nvPr/>
        </p:nvSpPr>
        <p:spPr>
          <a:xfrm>
            <a:off x="1994169" y="1367071"/>
            <a:ext cx="3488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연구목적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18ACB4-25EB-4EB6-8192-7A0ACE8ABB64}"/>
              </a:ext>
            </a:extLst>
          </p:cNvPr>
          <p:cNvSpPr txBox="1"/>
          <p:nvPr/>
        </p:nvSpPr>
        <p:spPr>
          <a:xfrm>
            <a:off x="2003569" y="1695408"/>
            <a:ext cx="9250582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CMOS inverter</a:t>
            </a:r>
            <a:r>
              <a:rPr lang="ko-KR" altLang="en-US" dirty="0"/>
              <a:t>를 공정별 </a:t>
            </a:r>
            <a:r>
              <a:rPr lang="en-US" altLang="ko-KR" dirty="0"/>
              <a:t>180nm / 90nm / 45nm </a:t>
            </a:r>
            <a:r>
              <a:rPr lang="ko-KR" altLang="en-US" dirty="0"/>
              <a:t>로 비교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Performance, Power, Area </a:t>
            </a:r>
            <a:r>
              <a:rPr lang="ko-KR" altLang="en-US" dirty="0"/>
              <a:t>간 </a:t>
            </a:r>
            <a:r>
              <a:rPr lang="en-US" altLang="ko-KR" dirty="0"/>
              <a:t>Trade-off </a:t>
            </a:r>
            <a:r>
              <a:rPr lang="ko-KR" altLang="en-US" dirty="0"/>
              <a:t>분석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공정 미세화가 인버터 특성에 미치는 영향 및 </a:t>
            </a:r>
            <a:r>
              <a:rPr lang="en-US" altLang="ko-KR" dirty="0"/>
              <a:t>Digital IC </a:t>
            </a:r>
            <a:r>
              <a:rPr lang="ko-KR" altLang="en-US" dirty="0"/>
              <a:t>설계 최적화 방향 제시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0289FF-DFB2-4510-A54F-D84EDA1A512C}"/>
              </a:ext>
            </a:extLst>
          </p:cNvPr>
          <p:cNvSpPr/>
          <p:nvPr/>
        </p:nvSpPr>
        <p:spPr>
          <a:xfrm>
            <a:off x="4102927" y="3127853"/>
            <a:ext cx="2238499" cy="99159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371E261A-110F-4E33-B180-177D33B4F297}"/>
              </a:ext>
            </a:extLst>
          </p:cNvPr>
          <p:cNvCxnSpPr>
            <a:cxnSpLocks/>
          </p:cNvCxnSpPr>
          <p:nvPr/>
        </p:nvCxnSpPr>
        <p:spPr>
          <a:xfrm>
            <a:off x="6341426" y="3984171"/>
            <a:ext cx="2078179" cy="602290"/>
          </a:xfrm>
          <a:prstGeom prst="bentConnector3">
            <a:avLst>
              <a:gd name="adj1" fmla="val 1142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89BC9D2-CE46-4230-BE62-F7EBB023FBDD}"/>
              </a:ext>
            </a:extLst>
          </p:cNvPr>
          <p:cNvSpPr txBox="1"/>
          <p:nvPr/>
        </p:nvSpPr>
        <p:spPr>
          <a:xfrm>
            <a:off x="8415510" y="4343239"/>
            <a:ext cx="2204450" cy="822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ko-KR" altLang="en-US" sz="1100" dirty="0" err="1">
                <a:solidFill>
                  <a:srgbClr val="FF0000"/>
                </a:solidFill>
              </a:rPr>
              <a:t>버퍼링</a:t>
            </a:r>
            <a:r>
              <a:rPr lang="ko-KR" altLang="en-US" sz="1100" dirty="0">
                <a:solidFill>
                  <a:srgbClr val="FF0000"/>
                </a:solidFill>
              </a:rPr>
              <a:t> 및 드라이브 능력 향상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171450" indent="-1714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ko-KR" altLang="en-US" sz="1100" dirty="0">
                <a:solidFill>
                  <a:srgbClr val="FF0000"/>
                </a:solidFill>
              </a:rPr>
              <a:t>신호 정형 및 노이즈 제거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171450" indent="-1714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ko-KR" altLang="en-US" sz="1100" dirty="0">
                <a:solidFill>
                  <a:srgbClr val="FF0000"/>
                </a:solidFill>
              </a:rPr>
              <a:t>지연 시간 및 타이밍 조작</a:t>
            </a:r>
          </a:p>
        </p:txBody>
      </p:sp>
    </p:spTree>
    <p:extLst>
      <p:ext uri="{BB962C8B-B14F-4D97-AF65-F5344CB8AC3E}">
        <p14:creationId xmlns:p14="http://schemas.microsoft.com/office/powerpoint/2010/main" val="318095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01. Summary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570" y="1324784"/>
            <a:ext cx="1513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Mode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A6ABC-E06D-413D-A83A-0A06E5B3CBCE}"/>
              </a:ext>
            </a:extLst>
          </p:cNvPr>
          <p:cNvSpPr txBox="1"/>
          <p:nvPr/>
        </p:nvSpPr>
        <p:spPr>
          <a:xfrm>
            <a:off x="2003571" y="2451181"/>
            <a:ext cx="1513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Parameter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9DE56B-3480-4751-AAAA-051184EA1FEF}"/>
              </a:ext>
            </a:extLst>
          </p:cNvPr>
          <p:cNvSpPr/>
          <p:nvPr/>
        </p:nvSpPr>
        <p:spPr>
          <a:xfrm>
            <a:off x="2003570" y="1823052"/>
            <a:ext cx="6996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Cadence Generic PDK (gpdk180 / gpdk090 / gpdk045, TT corner)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8947D9-6F1E-4877-8B2F-EC81F5C17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68783"/>
              </p:ext>
            </p:extLst>
          </p:nvPr>
        </p:nvGraphicFramePr>
        <p:xfrm>
          <a:off x="2003570" y="3096811"/>
          <a:ext cx="4587235" cy="303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7447">
                  <a:extLst>
                    <a:ext uri="{9D8B030D-6E8A-4147-A177-3AD203B41FA5}">
                      <a16:colId xmlns:a16="http://schemas.microsoft.com/office/drawing/2014/main" val="996672229"/>
                    </a:ext>
                  </a:extLst>
                </a:gridCol>
                <a:gridCol w="917447">
                  <a:extLst>
                    <a:ext uri="{9D8B030D-6E8A-4147-A177-3AD203B41FA5}">
                      <a16:colId xmlns:a16="http://schemas.microsoft.com/office/drawing/2014/main" val="3484151992"/>
                    </a:ext>
                  </a:extLst>
                </a:gridCol>
                <a:gridCol w="917447">
                  <a:extLst>
                    <a:ext uri="{9D8B030D-6E8A-4147-A177-3AD203B41FA5}">
                      <a16:colId xmlns:a16="http://schemas.microsoft.com/office/drawing/2014/main" val="2999372138"/>
                    </a:ext>
                  </a:extLst>
                </a:gridCol>
                <a:gridCol w="917447">
                  <a:extLst>
                    <a:ext uri="{9D8B030D-6E8A-4147-A177-3AD203B41FA5}">
                      <a16:colId xmlns:a16="http://schemas.microsoft.com/office/drawing/2014/main" val="3731009915"/>
                    </a:ext>
                  </a:extLst>
                </a:gridCol>
                <a:gridCol w="917447">
                  <a:extLst>
                    <a:ext uri="{9D8B030D-6E8A-4147-A177-3AD203B41FA5}">
                      <a16:colId xmlns:a16="http://schemas.microsoft.com/office/drawing/2014/main" val="2945612453"/>
                    </a:ext>
                  </a:extLst>
                </a:gridCol>
              </a:tblGrid>
              <a:tr h="60623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NMOS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PMOS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NMOS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PMOS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07337"/>
                  </a:ext>
                </a:extLst>
              </a:tr>
              <a:tr h="60623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Width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Length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492635"/>
                  </a:ext>
                </a:extLst>
              </a:tr>
              <a:tr h="6062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45nm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120nm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140nm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45nm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011877"/>
                  </a:ext>
                </a:extLst>
              </a:tr>
              <a:tr h="6062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90nm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120nm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350nm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100nm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511170"/>
                  </a:ext>
                </a:extLst>
              </a:tr>
              <a:tr h="6062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180nm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400nm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1800nm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180nm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12555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D008B02-610F-4120-B767-D9318221B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862938"/>
              </p:ext>
            </p:extLst>
          </p:nvPr>
        </p:nvGraphicFramePr>
        <p:xfrm>
          <a:off x="7084229" y="3096810"/>
          <a:ext cx="4587235" cy="303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7447">
                  <a:extLst>
                    <a:ext uri="{9D8B030D-6E8A-4147-A177-3AD203B41FA5}">
                      <a16:colId xmlns:a16="http://schemas.microsoft.com/office/drawing/2014/main" val="996672229"/>
                    </a:ext>
                  </a:extLst>
                </a:gridCol>
                <a:gridCol w="917447">
                  <a:extLst>
                    <a:ext uri="{9D8B030D-6E8A-4147-A177-3AD203B41FA5}">
                      <a16:colId xmlns:a16="http://schemas.microsoft.com/office/drawing/2014/main" val="3484151992"/>
                    </a:ext>
                  </a:extLst>
                </a:gridCol>
                <a:gridCol w="917447">
                  <a:extLst>
                    <a:ext uri="{9D8B030D-6E8A-4147-A177-3AD203B41FA5}">
                      <a16:colId xmlns:a16="http://schemas.microsoft.com/office/drawing/2014/main" val="2999372138"/>
                    </a:ext>
                  </a:extLst>
                </a:gridCol>
                <a:gridCol w="917447">
                  <a:extLst>
                    <a:ext uri="{9D8B030D-6E8A-4147-A177-3AD203B41FA5}">
                      <a16:colId xmlns:a16="http://schemas.microsoft.com/office/drawing/2014/main" val="3731009915"/>
                    </a:ext>
                  </a:extLst>
                </a:gridCol>
                <a:gridCol w="917447">
                  <a:extLst>
                    <a:ext uri="{9D8B030D-6E8A-4147-A177-3AD203B41FA5}">
                      <a16:colId xmlns:a16="http://schemas.microsoft.com/office/drawing/2014/main" val="2945612453"/>
                    </a:ext>
                  </a:extLst>
                </a:gridCol>
              </a:tblGrid>
              <a:tr h="60623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NMOS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PMOS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NMOS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PMOS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07337"/>
                  </a:ext>
                </a:extLst>
              </a:tr>
              <a:tr h="60623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Same Load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Multi Load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492635"/>
                  </a:ext>
                </a:extLst>
              </a:tr>
              <a:tr h="6062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1x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011877"/>
                  </a:ext>
                </a:extLst>
              </a:tr>
              <a:tr h="6062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2x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511170"/>
                  </a:ext>
                </a:extLst>
              </a:tr>
              <a:tr h="6062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4x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dirty="0"/>
                        <a:t>M=4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125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99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2003572" y="682510"/>
            <a:ext cx="8963365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01. Summary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8A0A6-C7D0-4CCD-8896-C9CD9663DE6D}"/>
              </a:ext>
            </a:extLst>
          </p:cNvPr>
          <p:cNvSpPr txBox="1"/>
          <p:nvPr/>
        </p:nvSpPr>
        <p:spPr>
          <a:xfrm>
            <a:off x="2003572" y="1375996"/>
            <a:ext cx="3488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[ Schematic Same Load ]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6F3021-4163-485B-B4A7-5D1226EBC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7" y="1892842"/>
            <a:ext cx="7608201" cy="438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09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B862C19-1C7D-40E7-893A-53D1DD21D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572" y="2006070"/>
            <a:ext cx="5846652" cy="3429530"/>
          </a:xfrm>
          <a:prstGeom prst="rect">
            <a:avLst/>
          </a:prstGeom>
        </p:spPr>
      </p:pic>
      <p:sp>
        <p:nvSpPr>
          <p:cNvPr id="57" name="Google Shape;57;p4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2003572" y="682510"/>
            <a:ext cx="8963365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01. Summary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8A0A6-C7D0-4CCD-8896-C9CD9663DE6D}"/>
              </a:ext>
            </a:extLst>
          </p:cNvPr>
          <p:cNvSpPr txBox="1"/>
          <p:nvPr/>
        </p:nvSpPr>
        <p:spPr>
          <a:xfrm>
            <a:off x="2003572" y="1375996"/>
            <a:ext cx="3488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[ Schematic Multi Load ]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E797BE-1966-4D67-AD92-5B179FD0E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225" y="2006070"/>
            <a:ext cx="3752038" cy="3429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B7A87E-5F6E-45B9-9EA2-AE82598600A5}"/>
              </a:ext>
            </a:extLst>
          </p:cNvPr>
          <p:cNvSpPr txBox="1"/>
          <p:nvPr/>
        </p:nvSpPr>
        <p:spPr>
          <a:xfrm>
            <a:off x="3994150" y="232201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1x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F640C0-453E-4148-9E19-9DEF9939974B}"/>
              </a:ext>
            </a:extLst>
          </p:cNvPr>
          <p:cNvSpPr txBox="1"/>
          <p:nvPr/>
        </p:nvSpPr>
        <p:spPr>
          <a:xfrm>
            <a:off x="4866003" y="232201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1x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92281-85E7-40B7-80E8-2422043E8D0F}"/>
              </a:ext>
            </a:extLst>
          </p:cNvPr>
          <p:cNvSpPr txBox="1"/>
          <p:nvPr/>
        </p:nvSpPr>
        <p:spPr>
          <a:xfrm>
            <a:off x="5795007" y="232201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1x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45BAB-43CA-4DFA-A15F-53C958B42ACB}"/>
              </a:ext>
            </a:extLst>
          </p:cNvPr>
          <p:cNvSpPr txBox="1"/>
          <p:nvPr/>
        </p:nvSpPr>
        <p:spPr>
          <a:xfrm>
            <a:off x="6724011" y="232201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1x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95A73E-C15B-43EE-9E65-6C7F4048B32A}"/>
              </a:ext>
            </a:extLst>
          </p:cNvPr>
          <p:cNvSpPr txBox="1"/>
          <p:nvPr/>
        </p:nvSpPr>
        <p:spPr>
          <a:xfrm>
            <a:off x="3994149" y="3558331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2x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81DA29-27CE-425E-BB33-00951F40122D}"/>
              </a:ext>
            </a:extLst>
          </p:cNvPr>
          <p:cNvSpPr txBox="1"/>
          <p:nvPr/>
        </p:nvSpPr>
        <p:spPr>
          <a:xfrm>
            <a:off x="4866003" y="3558331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2x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F640F8-63A8-4C68-881E-37C35E4278F2}"/>
              </a:ext>
            </a:extLst>
          </p:cNvPr>
          <p:cNvSpPr txBox="1"/>
          <p:nvPr/>
        </p:nvSpPr>
        <p:spPr>
          <a:xfrm>
            <a:off x="5795007" y="3558331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2x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4F1FF1-EB57-478C-BA47-EAEF779B06A1}"/>
              </a:ext>
            </a:extLst>
          </p:cNvPr>
          <p:cNvSpPr txBox="1"/>
          <p:nvPr/>
        </p:nvSpPr>
        <p:spPr>
          <a:xfrm>
            <a:off x="6724011" y="3558331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2x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EE5A11-418F-427B-B645-CF216C838306}"/>
              </a:ext>
            </a:extLst>
          </p:cNvPr>
          <p:cNvSpPr txBox="1"/>
          <p:nvPr/>
        </p:nvSpPr>
        <p:spPr>
          <a:xfrm>
            <a:off x="6724011" y="4775595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2x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2D354C-A499-4E66-B5C7-1A6FA30F3489}"/>
              </a:ext>
            </a:extLst>
          </p:cNvPr>
          <p:cNvSpPr txBox="1"/>
          <p:nvPr/>
        </p:nvSpPr>
        <p:spPr>
          <a:xfrm>
            <a:off x="5246173" y="2047365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input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DD0678B-2EC0-4A17-8554-F0EA4DC980B4}"/>
              </a:ext>
            </a:extLst>
          </p:cNvPr>
          <p:cNvSpPr/>
          <p:nvPr/>
        </p:nvSpPr>
        <p:spPr>
          <a:xfrm>
            <a:off x="6212488" y="2044305"/>
            <a:ext cx="6815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output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D95979-3084-4AF6-94EA-E43A78B2194F}"/>
              </a:ext>
            </a:extLst>
          </p:cNvPr>
          <p:cNvSpPr txBox="1"/>
          <p:nvPr/>
        </p:nvSpPr>
        <p:spPr>
          <a:xfrm>
            <a:off x="8079614" y="2302966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905AB1-6871-47C9-80EA-D0D3A019C075}"/>
              </a:ext>
            </a:extLst>
          </p:cNvPr>
          <p:cNvSpPr txBox="1"/>
          <p:nvPr/>
        </p:nvSpPr>
        <p:spPr>
          <a:xfrm>
            <a:off x="8874457" y="2302966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0C1084-683E-4B94-8795-317451450415}"/>
              </a:ext>
            </a:extLst>
          </p:cNvPr>
          <p:cNvSpPr txBox="1"/>
          <p:nvPr/>
        </p:nvSpPr>
        <p:spPr>
          <a:xfrm>
            <a:off x="9692514" y="2302370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A35406-4FD4-4E60-8AB6-720B8865766E}"/>
              </a:ext>
            </a:extLst>
          </p:cNvPr>
          <p:cNvSpPr txBox="1"/>
          <p:nvPr/>
        </p:nvSpPr>
        <p:spPr>
          <a:xfrm>
            <a:off x="10510571" y="2302370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8DFAF3-4ABE-46D0-9429-E5EE54D683A4}"/>
              </a:ext>
            </a:extLst>
          </p:cNvPr>
          <p:cNvSpPr txBox="1"/>
          <p:nvPr/>
        </p:nvSpPr>
        <p:spPr>
          <a:xfrm>
            <a:off x="10523271" y="3146623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77ED67-9DF6-4CFD-88F8-2752BD65DE1E}"/>
              </a:ext>
            </a:extLst>
          </p:cNvPr>
          <p:cNvSpPr txBox="1"/>
          <p:nvPr/>
        </p:nvSpPr>
        <p:spPr>
          <a:xfrm>
            <a:off x="10523271" y="3988493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935ABB-7659-472C-8852-5D95EDF675B3}"/>
              </a:ext>
            </a:extLst>
          </p:cNvPr>
          <p:cNvSpPr txBox="1"/>
          <p:nvPr/>
        </p:nvSpPr>
        <p:spPr>
          <a:xfrm>
            <a:off x="10535971" y="4832746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4x</a:t>
            </a:r>
            <a:endParaRPr lang="ko-KR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9A28AF-F5F0-406C-BB06-5783697D75F9}"/>
              </a:ext>
            </a:extLst>
          </p:cNvPr>
          <p:cNvSpPr txBox="1"/>
          <p:nvPr/>
        </p:nvSpPr>
        <p:spPr>
          <a:xfrm>
            <a:off x="5239823" y="3254531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input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27308EB-2F3A-4A4F-AF9C-615973DEF3CD}"/>
              </a:ext>
            </a:extLst>
          </p:cNvPr>
          <p:cNvSpPr/>
          <p:nvPr/>
        </p:nvSpPr>
        <p:spPr>
          <a:xfrm>
            <a:off x="6206138" y="3251471"/>
            <a:ext cx="6815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output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6331F9-A1A1-4C31-9CA0-8BAC1197D3C0}"/>
              </a:ext>
            </a:extLst>
          </p:cNvPr>
          <p:cNvSpPr txBox="1"/>
          <p:nvPr/>
        </p:nvSpPr>
        <p:spPr>
          <a:xfrm>
            <a:off x="9220106" y="1994255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input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4ED76D5-3624-408E-B42E-8A8FCDF7DD48}"/>
              </a:ext>
            </a:extLst>
          </p:cNvPr>
          <p:cNvSpPr/>
          <p:nvPr/>
        </p:nvSpPr>
        <p:spPr>
          <a:xfrm>
            <a:off x="10066334" y="1988685"/>
            <a:ext cx="6815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output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6C86B73-A820-45AF-8A43-EDB467CA530C}"/>
              </a:ext>
            </a:extLst>
          </p:cNvPr>
          <p:cNvSpPr/>
          <p:nvPr/>
        </p:nvSpPr>
        <p:spPr>
          <a:xfrm>
            <a:off x="5622756" y="2084087"/>
            <a:ext cx="692437" cy="205829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985FC4AD-5566-4A6E-AC4A-F4151A62FF0D}"/>
              </a:ext>
            </a:extLst>
          </p:cNvPr>
          <p:cNvSpPr/>
          <p:nvPr/>
        </p:nvSpPr>
        <p:spPr>
          <a:xfrm>
            <a:off x="9636870" y="2068719"/>
            <a:ext cx="572593" cy="8270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4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2003572" y="682510"/>
            <a:ext cx="8963365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01. Summary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933EC7-BB4E-46CB-8E8C-7CDC7654C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389" y="1646327"/>
            <a:ext cx="4743729" cy="27671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934BD83-E152-44BC-A5CD-E7D896B322FB}"/>
              </a:ext>
            </a:extLst>
          </p:cNvPr>
          <p:cNvSpPr txBox="1"/>
          <p:nvPr/>
        </p:nvSpPr>
        <p:spPr>
          <a:xfrm>
            <a:off x="2003572" y="1375996"/>
            <a:ext cx="3488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[ Simulation Condition 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9447CE-70B6-42F5-B96A-6D594E857A26}"/>
                  </a:ext>
                </a:extLst>
              </p:cNvPr>
              <p:cNvSpPr txBox="1"/>
              <p:nvPr/>
            </p:nvSpPr>
            <p:spPr>
              <a:xfrm>
                <a:off x="5162559" y="4340429"/>
                <a:ext cx="2620269" cy="6435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𝑖𝑛𝑡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dirty="0"/>
                  <a:t>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𝑖𝑛𝑡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9447CE-70B6-42F5-B96A-6D594E857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559" y="4340429"/>
                <a:ext cx="2620269" cy="643509"/>
              </a:xfrm>
              <a:prstGeom prst="rect">
                <a:avLst/>
              </a:prstGeom>
              <a:blipFill>
                <a:blip r:embed="rId4"/>
                <a:stretch>
                  <a:fillRect l="-2326" b="-132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FB0F8E-B56A-43B3-B43F-6582005C4298}"/>
                  </a:ext>
                </a:extLst>
              </p:cNvPr>
              <p:cNvSpPr txBox="1"/>
              <p:nvPr/>
            </p:nvSpPr>
            <p:spPr>
              <a:xfrm>
                <a:off x="4484217" y="5073004"/>
                <a:ext cx="3976952" cy="1663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200" b="1" dirty="0"/>
                  <a:t>Digital IC </a:t>
                </a:r>
                <a:r>
                  <a:rPr lang="ko-KR" altLang="en-US" sz="1200" b="1" dirty="0"/>
                  <a:t>에선 </a:t>
                </a:r>
                <a:r>
                  <a:rPr lang="en-US" altLang="ko-KR" sz="1200" b="1" dirty="0"/>
                  <a:t>Linear</a:t>
                </a:r>
                <a:r>
                  <a:rPr lang="ko-KR" altLang="en-US" sz="1200" b="1" dirty="0"/>
                  <a:t>와 </a:t>
                </a:r>
                <a:r>
                  <a:rPr lang="en-US" altLang="ko-KR" sz="1200" b="1" dirty="0"/>
                  <a:t>Cut-off </a:t>
                </a:r>
                <a:r>
                  <a:rPr lang="ko-KR" altLang="en-US" sz="1200" b="1" dirty="0"/>
                  <a:t>영역에서만 동작</a:t>
                </a:r>
                <a:endParaRPr lang="en-US" altLang="ko-KR" sz="1200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en-US" altLang="ko-KR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𝑔𝑠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𝑔𝑑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𝐿𝑖𝑛𝑒𝑎𝑟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𝑐𝑢𝑡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𝑜𝑓𝑓</m:t>
                          </m:r>
                        </m:e>
                      </m:d>
                    </m:oMath>
                  </m:oMathPara>
                </a14:m>
                <a:endParaRPr lang="en-US" altLang="ko-KR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FB0F8E-B56A-43B3-B43F-6582005C4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217" y="5073004"/>
                <a:ext cx="3976952" cy="16639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18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083169-083B-4278-B970-9AEC0B78FA2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9BA44F-5164-456B-8735-C35285372992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79D59286-DE78-4A8B-879E-3640F67D805C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11058BE-BBDE-4390-A1F8-72F0D5BF8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863" y="1824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1B444A2-30E8-4EA5-A16D-77C69D54A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863" y="1824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FCDC64E-22C6-4CD7-A88A-C4F43D242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716006"/>
              </p:ext>
            </p:extLst>
          </p:nvPr>
        </p:nvGraphicFramePr>
        <p:xfrm>
          <a:off x="3076491" y="1597730"/>
          <a:ext cx="7303770" cy="4637372"/>
        </p:xfrm>
        <a:graphic>
          <a:graphicData uri="http://schemas.openxmlformats.org/drawingml/2006/table">
            <a:tbl>
              <a:tblPr firstRow="1" bandRow="1"/>
              <a:tblGrid>
                <a:gridCol w="1200150">
                  <a:extLst>
                    <a:ext uri="{9D8B030D-6E8A-4147-A177-3AD203B41FA5}">
                      <a16:colId xmlns:a16="http://schemas.microsoft.com/office/drawing/2014/main" val="399577725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1811619888"/>
                    </a:ext>
                  </a:extLst>
                </a:gridCol>
                <a:gridCol w="1491615">
                  <a:extLst>
                    <a:ext uri="{9D8B030D-6E8A-4147-A177-3AD203B41FA5}">
                      <a16:colId xmlns:a16="http://schemas.microsoft.com/office/drawing/2014/main" val="417042157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851977227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330900426"/>
                    </a:ext>
                  </a:extLst>
                </a:gridCol>
              </a:tblGrid>
              <a:tr h="489212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공정 </a:t>
                      </a:r>
                      <a:r>
                        <a:rPr lang="en-US" altLang="ko-KR" dirty="0"/>
                        <a:t>(180nm -&gt; 90nm -&gt; 45nm)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Multiplier (1X -&gt; 2X -&gt; 4X)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412727"/>
                  </a:ext>
                </a:extLst>
              </a:tr>
              <a:tr h="489212">
                <a:tc vMerge="1"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Load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Load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061104"/>
                  </a:ext>
                </a:extLst>
              </a:tr>
              <a:tr h="683557">
                <a:tc vMerge="1"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same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multi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Same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Multi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95552"/>
                  </a:ext>
                </a:extLst>
              </a:tr>
              <a:tr h="49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l-GR" altLang="ko-KR" dirty="0">
                          <a:effectLst/>
                        </a:rPr>
                        <a:t>β</a:t>
                      </a:r>
                      <a:r>
                        <a:rPr lang="en-US" altLang="ko-KR" dirty="0">
                          <a:effectLst/>
                        </a:rPr>
                        <a:t>-ratio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동일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8179"/>
                  </a:ext>
                </a:extLst>
              </a:tr>
              <a:tr h="4892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/>
                        <a:t>Rise </a:t>
                      </a:r>
                      <a:r>
                        <a:rPr lang="en-US" altLang="ko-KR" dirty="0"/>
                        <a:t>time/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Fall time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12732"/>
                  </a:ext>
                </a:extLst>
              </a:tr>
              <a:tr h="4892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Propagation Delay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881278"/>
                  </a:ext>
                </a:extLst>
              </a:tr>
              <a:tr h="4892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Duty Cycle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70187"/>
                  </a:ext>
                </a:extLst>
              </a:tr>
              <a:tr h="4892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/>
                        <a:t>Power Consumption</a:t>
                      </a:r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996000"/>
                  </a:ext>
                </a:extLst>
              </a:tr>
            </a:tbl>
          </a:graphicData>
        </a:graphic>
      </p:graphicFrame>
      <p:sp>
        <p:nvSpPr>
          <p:cNvPr id="11" name="Google Shape;378;g381a785ae79_0_9">
            <a:extLst>
              <a:ext uri="{FF2B5EF4-FFF2-40B4-BE49-F238E27FC236}">
                <a16:creationId xmlns:a16="http://schemas.microsoft.com/office/drawing/2014/main" id="{DCC85CB4-DDA2-40AF-AB72-8B96AA054B02}"/>
              </a:ext>
            </a:extLst>
          </p:cNvPr>
          <p:cNvSpPr txBox="1"/>
          <p:nvPr/>
        </p:nvSpPr>
        <p:spPr>
          <a:xfrm>
            <a:off x="2003572" y="682510"/>
            <a:ext cx="89634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01. Summary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63670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2649415" y="3240230"/>
            <a:ext cx="81300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6000"/>
              <a:buFont typeface="Arial"/>
              <a:buNone/>
            </a:pPr>
            <a:r>
              <a:rPr lang="en-US" sz="6000" b="1" dirty="0">
                <a:solidFill>
                  <a:srgbClr val="09644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6000" b="1" dirty="0">
                <a:solidFill>
                  <a:srgbClr val="09644C"/>
                </a:solidFill>
              </a:rPr>
              <a:t>2</a:t>
            </a:r>
            <a:r>
              <a:rPr lang="en-US" sz="6000" dirty="0">
                <a:solidFill>
                  <a:srgbClr val="0964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𝛃-ratio &amp; Delay asymmetry</a:t>
            </a:r>
            <a:endParaRPr sz="6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3600" kern="12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02. </a:t>
                </a:r>
                <a14:m>
                  <m:oMath xmlns:m="http://schemas.openxmlformats.org/officeDocument/2006/math">
                    <m:r>
                      <a:rPr lang="ko-KR" altLang="en-US" sz="4000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&amp; Delay Asymmetry</a:t>
                </a:r>
                <a:endParaRPr lang="ko-KR" altLang="en-US" sz="4000" dirty="0">
                  <a:solidFill>
                    <a:srgbClr val="09644C"/>
                  </a:solidFill>
                  <a:latin typeface="Arial Black" panose="020B0A04020102020204" pitchFamily="34" charset="0"/>
                  <a:ea typeface="KoPubWorld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  <a:blipFill>
                <a:blip r:embed="rId2"/>
                <a:stretch>
                  <a:fillRect l="-2449" t="-80645" b="-10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959AE7-1752-4C46-AECD-E97BF0E8C74E}"/>
                  </a:ext>
                </a:extLst>
              </p:cNvPr>
              <p:cNvSpPr txBox="1"/>
              <p:nvPr/>
            </p:nvSpPr>
            <p:spPr>
              <a:xfrm>
                <a:off x="2003572" y="2372039"/>
                <a:ext cx="9601200" cy="892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(</m:t>
                    </m:r>
                  </m:oMath>
                </a14:m>
                <a:r>
                  <a:rPr lang="en-US" altLang="ko-KR" dirty="0"/>
                  <a:t>for NMOS)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(for PMOS)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959AE7-1752-4C46-AECD-E97BF0E8C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2372039"/>
                <a:ext cx="9601200" cy="892232"/>
              </a:xfrm>
              <a:prstGeom prst="rect">
                <a:avLst/>
              </a:prstGeom>
              <a:blipFill>
                <a:blip r:embed="rId3"/>
                <a:stretch>
                  <a:fillRect l="-190" b="-27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/>
              <p:nvPr/>
            </p:nvSpPr>
            <p:spPr>
              <a:xfrm>
                <a:off x="2003572" y="1318846"/>
                <a:ext cx="11664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ko-KR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1318846"/>
                <a:ext cx="1166446" cy="369332"/>
              </a:xfrm>
              <a:prstGeom prst="rect">
                <a:avLst/>
              </a:prstGeom>
              <a:blipFill>
                <a:blip r:embed="rId4"/>
                <a:stretch>
                  <a:fillRect l="-1571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634443-7012-480D-8585-1EF9F7659A4C}"/>
                  </a:ext>
                </a:extLst>
              </p:cNvPr>
              <p:cNvSpPr txBox="1"/>
              <p:nvPr/>
            </p:nvSpPr>
            <p:spPr>
              <a:xfrm>
                <a:off x="2003572" y="1827857"/>
                <a:ext cx="58380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</a:t>
                </a:r>
                <a:r>
                  <a:rPr lang="ko-KR" altLang="en-US" dirty="0"/>
                  <a:t>전류 구동 능력을 나타내는 </a:t>
                </a:r>
                <a:r>
                  <a:rPr lang="en-US" altLang="ko-KR" dirty="0"/>
                  <a:t>Parameter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634443-7012-480D-8585-1EF9F7659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1827857"/>
                <a:ext cx="5838092" cy="369332"/>
              </a:xfrm>
              <a:prstGeom prst="rect">
                <a:avLst/>
              </a:prstGeom>
              <a:blipFill>
                <a:blip r:embed="rId5"/>
                <a:stretch>
                  <a:fillRect l="-313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33585C-779C-4B3B-B641-FC15AB069790}"/>
                  </a:ext>
                </a:extLst>
              </p:cNvPr>
              <p:cNvSpPr txBox="1"/>
              <p:nvPr/>
            </p:nvSpPr>
            <p:spPr>
              <a:xfrm>
                <a:off x="2003572" y="3387968"/>
                <a:ext cx="6427909" cy="547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/>
                  <a:t>-ratio=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33585C-779C-4B3B-B641-FC15AB069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3387968"/>
                <a:ext cx="6427909" cy="547201"/>
              </a:xfrm>
              <a:prstGeom prst="rect">
                <a:avLst/>
              </a:prstGeom>
              <a:blipFill>
                <a:blip r:embed="rId6"/>
                <a:stretch>
                  <a:fillRect l="-285" b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B3EA647-BE4A-4184-9DDF-FF1DEBA74702}"/>
              </a:ext>
            </a:extLst>
          </p:cNvPr>
          <p:cNvSpPr txBox="1"/>
          <p:nvPr/>
        </p:nvSpPr>
        <p:spPr>
          <a:xfrm>
            <a:off x="2003572" y="4058866"/>
            <a:ext cx="116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Goal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340DD3-5A15-4D77-9791-6A11B913B925}"/>
                  </a:ext>
                </a:extLst>
              </p:cNvPr>
              <p:cNvSpPr txBox="1"/>
              <p:nvPr/>
            </p:nvSpPr>
            <p:spPr>
              <a:xfrm>
                <a:off x="2003572" y="4475699"/>
                <a:ext cx="37229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/>
                  <a:t>-ratio = 1</a:t>
                </a:r>
                <a:r>
                  <a:rPr lang="ko-KR" altLang="en-US" dirty="0"/>
                  <a:t>이 되도록 설계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340DD3-5A15-4D77-9791-6A11B913B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4475699"/>
                <a:ext cx="3722914" cy="369332"/>
              </a:xfrm>
              <a:prstGeom prst="rect">
                <a:avLst/>
              </a:prstGeom>
              <a:blipFill>
                <a:blip r:embed="rId7"/>
                <a:stretch>
                  <a:fillRect l="-492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857FD86-E08F-474A-95CE-E7EA40B3584F}"/>
              </a:ext>
            </a:extLst>
          </p:cNvPr>
          <p:cNvSpPr/>
          <p:nvPr/>
        </p:nvSpPr>
        <p:spPr>
          <a:xfrm>
            <a:off x="2003572" y="3387967"/>
            <a:ext cx="2414049" cy="54720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Beta-Ratio-Effects | Digital-CMOS-Design || Electronics Tutorial">
            <a:extLst>
              <a:ext uri="{FF2B5EF4-FFF2-40B4-BE49-F238E27FC236}">
                <a16:creationId xmlns:a16="http://schemas.microsoft.com/office/drawing/2014/main" id="{3B33AAFC-BAA5-4070-B9EB-D5D8E97F1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43" y="2336868"/>
            <a:ext cx="4726471" cy="255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AC057C-6D33-4C39-8BB4-72EE809E91AE}"/>
                  </a:ext>
                </a:extLst>
              </p:cNvPr>
              <p:cNvSpPr txBox="1"/>
              <p:nvPr/>
            </p:nvSpPr>
            <p:spPr>
              <a:xfrm>
                <a:off x="2003572" y="4995355"/>
                <a:ext cx="67333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If</a:t>
                </a:r>
                <a:r>
                  <a:rPr lang="ko-KR" altLang="en-US" b="1" dirty="0"/>
                  <a:t>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b="1" dirty="0"/>
                  <a:t>-ratio&gt;&gt;1  </a:t>
                </a:r>
                <a:r>
                  <a:rPr lang="en-US" altLang="ko-KR" dirty="0"/>
                  <a:t>High Skewed Gate, Low Noise Margin NMH </a:t>
                </a:r>
                <a:r>
                  <a:rPr lang="ko-KR" altLang="en-US" dirty="0"/>
                  <a:t>감소</a:t>
                </a:r>
                <a:r>
                  <a:rPr lang="en-US" altLang="ko-KR" dirty="0"/>
                  <a:t>, NML </a:t>
                </a:r>
                <a:r>
                  <a:rPr lang="ko-KR" altLang="en-US" dirty="0"/>
                  <a:t>증가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AC057C-6D33-4C39-8BB4-72EE809E9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4995355"/>
                <a:ext cx="6733310" cy="307777"/>
              </a:xfrm>
              <a:prstGeom prst="rect">
                <a:avLst/>
              </a:prstGeom>
              <a:blipFill>
                <a:blip r:embed="rId9"/>
                <a:stretch>
                  <a:fillRect l="-272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142AC0-E4BA-4063-9DEA-63AB427F85BA}"/>
                  </a:ext>
                </a:extLst>
              </p:cNvPr>
              <p:cNvSpPr txBox="1"/>
              <p:nvPr/>
            </p:nvSpPr>
            <p:spPr>
              <a:xfrm>
                <a:off x="2003572" y="5405753"/>
                <a:ext cx="67333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If</a:t>
                </a:r>
                <a:r>
                  <a:rPr lang="ko-KR" altLang="en-US" b="1" dirty="0"/>
                  <a:t>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b="1" dirty="0"/>
                  <a:t>-ratio&lt;&lt;1  </a:t>
                </a:r>
                <a:r>
                  <a:rPr lang="en-US" altLang="ko-KR" dirty="0"/>
                  <a:t>Low Skewed Gate, High Noise Margin NML </a:t>
                </a:r>
                <a:r>
                  <a:rPr lang="ko-KR" altLang="en-US" dirty="0"/>
                  <a:t>감소</a:t>
                </a:r>
                <a:r>
                  <a:rPr lang="en-US" altLang="ko-KR" dirty="0"/>
                  <a:t>, NMH </a:t>
                </a:r>
                <a:r>
                  <a:rPr lang="ko-KR" altLang="en-US" dirty="0"/>
                  <a:t>증가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142AC0-E4BA-4063-9DEA-63AB427F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5405753"/>
                <a:ext cx="6733310" cy="307777"/>
              </a:xfrm>
              <a:prstGeom prst="rect">
                <a:avLst/>
              </a:prstGeom>
              <a:blipFill>
                <a:blip r:embed="rId10"/>
                <a:stretch>
                  <a:fillRect l="-272" t="-6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E9E62F1-95DF-4355-BE31-F3AFE9BE254D}"/>
              </a:ext>
            </a:extLst>
          </p:cNvPr>
          <p:cNvCxnSpPr/>
          <p:nvPr/>
        </p:nvCxnSpPr>
        <p:spPr>
          <a:xfrm>
            <a:off x="2125525" y="6200964"/>
            <a:ext cx="3270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FA14AC-5405-40D0-8560-3E18BC59900B}"/>
                  </a:ext>
                </a:extLst>
              </p:cNvPr>
              <p:cNvSpPr txBox="1"/>
              <p:nvPr/>
            </p:nvSpPr>
            <p:spPr>
              <a:xfrm>
                <a:off x="2639991" y="5942591"/>
                <a:ext cx="1141210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𝐷𝐷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FA14AC-5405-40D0-8560-3E18BC599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991" y="5942591"/>
                <a:ext cx="1141210" cy="51674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01FFE6-B772-4083-ABD8-D422844DD889}"/>
              </a:ext>
            </a:extLst>
          </p:cNvPr>
          <p:cNvSpPr/>
          <p:nvPr/>
        </p:nvSpPr>
        <p:spPr>
          <a:xfrm>
            <a:off x="2547258" y="5905217"/>
            <a:ext cx="1300350" cy="638086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355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3600" kern="12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02. </a:t>
                </a:r>
                <a14:m>
                  <m:oMath xmlns:m="http://schemas.openxmlformats.org/officeDocument/2006/math">
                    <m:r>
                      <a:rPr lang="ko-KR" altLang="en-US" sz="4000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&amp; Delay Asymmetry</a:t>
                </a:r>
                <a:endParaRPr lang="ko-KR" altLang="en-US" sz="4000" dirty="0">
                  <a:solidFill>
                    <a:srgbClr val="09644C"/>
                  </a:solidFill>
                  <a:latin typeface="Arial Black" panose="020B0A04020102020204" pitchFamily="34" charset="0"/>
                  <a:ea typeface="KoPubWorld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  <a:blipFill>
                <a:blip r:embed="rId2"/>
                <a:stretch>
                  <a:fillRect l="-2449" t="-80645" b="-10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/>
              <p:nvPr/>
            </p:nvSpPr>
            <p:spPr>
              <a:xfrm>
                <a:off x="2003571" y="1351889"/>
                <a:ext cx="2794059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공</a:t>
                </a:r>
                <a14:m>
                  <m:oMath xmlns:m="http://schemas.openxmlformats.org/officeDocument/2006/math">
                    <m:r>
                      <a:rPr lang="ko-KR" altLang="en-US" b="1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정</m:t>
                    </m:r>
                    <m:r>
                      <a:rPr lang="ko-KR" altLang="en-US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별</m:t>
                    </m:r>
                    <m:r>
                      <a:rPr lang="en-US" altLang="ko-KR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b="1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en-US" altLang="ko-KR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</a:t>
                </a:r>
                <a:r>
                  <a:rPr lang="ko-KR" altLang="en-US" b="1" dirty="0">
                    <a:solidFill>
                      <a:srgbClr val="09644C"/>
                    </a:solidFill>
                    <a:latin typeface="+mn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비교</a:t>
                </a:r>
                <a:endParaRPr lang="ko-KR" altLang="en-US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1351889"/>
                <a:ext cx="2794059" cy="311817"/>
              </a:xfrm>
              <a:prstGeom prst="rect">
                <a:avLst/>
              </a:prstGeom>
              <a:blipFill>
                <a:blip r:embed="rId3"/>
                <a:stretch>
                  <a:fillRect l="-655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922EC204-C125-452C-B838-5D7EC5277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536" y="2285449"/>
            <a:ext cx="4965815" cy="23919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57F075-C9ED-4AFF-B79F-D9DD69426051}"/>
              </a:ext>
            </a:extLst>
          </p:cNvPr>
          <p:cNvSpPr txBox="1"/>
          <p:nvPr/>
        </p:nvSpPr>
        <p:spPr>
          <a:xfrm>
            <a:off x="6202878" y="4784596"/>
            <a:ext cx="116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&lt;45nm&gt;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7F8D53-FF90-4459-8905-8FFCD4C06E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012" y="2285449"/>
            <a:ext cx="4891971" cy="23919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190E1-24DC-4707-BEC4-78E3B305A613}"/>
                  </a:ext>
                </a:extLst>
              </p:cNvPr>
              <p:cNvSpPr txBox="1"/>
              <p:nvPr/>
            </p:nvSpPr>
            <p:spPr>
              <a:xfrm>
                <a:off x="5414178" y="5486419"/>
                <a:ext cx="274613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140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190E1-24DC-4707-BEC4-78E3B305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178" y="5486419"/>
                <a:ext cx="2746136" cy="298415"/>
              </a:xfrm>
              <a:prstGeom prst="rect">
                <a:avLst/>
              </a:prstGeom>
              <a:blipFill>
                <a:blip r:embed="rId6"/>
                <a:stretch>
                  <a:fillRect l="-2882" t="-28571" r="-2217" b="-387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5617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3600" kern="12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02. </a:t>
                </a:r>
                <a14:m>
                  <m:oMath xmlns:m="http://schemas.openxmlformats.org/officeDocument/2006/math">
                    <m:r>
                      <a:rPr lang="ko-KR" altLang="en-US" sz="4000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&amp; Delay Asymmetry</a:t>
                </a:r>
                <a:endParaRPr lang="ko-KR" altLang="en-US" sz="4000" dirty="0">
                  <a:solidFill>
                    <a:srgbClr val="09644C"/>
                  </a:solidFill>
                  <a:latin typeface="Arial Black" panose="020B0A04020102020204" pitchFamily="34" charset="0"/>
                  <a:ea typeface="KoPubWorld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  <a:blipFill>
                <a:blip r:embed="rId2"/>
                <a:stretch>
                  <a:fillRect l="-2449" t="-80645" b="-10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/>
              <p:nvPr/>
            </p:nvSpPr>
            <p:spPr>
              <a:xfrm>
                <a:off x="2003571" y="1351889"/>
                <a:ext cx="2794059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공</a:t>
                </a:r>
                <a14:m>
                  <m:oMath xmlns:m="http://schemas.openxmlformats.org/officeDocument/2006/math">
                    <m:r>
                      <a:rPr lang="ko-KR" altLang="en-US" b="1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정</m:t>
                    </m:r>
                    <m:r>
                      <a:rPr lang="ko-KR" altLang="en-US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별</m:t>
                    </m:r>
                    <m:r>
                      <a:rPr lang="en-US" altLang="ko-KR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b="1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en-US" altLang="ko-KR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</a:t>
                </a:r>
                <a:r>
                  <a:rPr lang="ko-KR" altLang="en-US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비교</a:t>
                </a:r>
                <a:endParaRPr lang="ko-KR" altLang="en-US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1351889"/>
                <a:ext cx="2794059" cy="311817"/>
              </a:xfrm>
              <a:prstGeom prst="rect">
                <a:avLst/>
              </a:prstGeom>
              <a:blipFill>
                <a:blip r:embed="rId3"/>
                <a:stretch>
                  <a:fillRect l="-655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57F075-C9ED-4AFF-B79F-D9DD69426051}"/>
              </a:ext>
            </a:extLst>
          </p:cNvPr>
          <p:cNvSpPr txBox="1"/>
          <p:nvPr/>
        </p:nvSpPr>
        <p:spPr>
          <a:xfrm>
            <a:off x="6202878" y="4784596"/>
            <a:ext cx="116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&lt;90nm&gt;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190E1-24DC-4707-BEC4-78E3B305A613}"/>
                  </a:ext>
                </a:extLst>
              </p:cNvPr>
              <p:cNvSpPr txBox="1"/>
              <p:nvPr/>
            </p:nvSpPr>
            <p:spPr>
              <a:xfrm>
                <a:off x="5414178" y="5486419"/>
                <a:ext cx="274613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350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190E1-24DC-4707-BEC4-78E3B305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178" y="5486419"/>
                <a:ext cx="2746136" cy="298415"/>
              </a:xfrm>
              <a:prstGeom prst="rect">
                <a:avLst/>
              </a:prstGeom>
              <a:blipFill>
                <a:blip r:embed="rId4"/>
                <a:stretch>
                  <a:fillRect l="-2882" t="-28571" r="-2217" b="-387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C244845A-FDF2-4052-A78D-E13E96C78A4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72" y="2291745"/>
            <a:ext cx="4892400" cy="23904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8151AE-94C8-4CA4-AD7E-BE42C9CD19E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428" y="2291745"/>
            <a:ext cx="4892400" cy="23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6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3600" kern="12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02. </a:t>
                </a:r>
                <a14:m>
                  <m:oMath xmlns:m="http://schemas.openxmlformats.org/officeDocument/2006/math">
                    <m:r>
                      <a:rPr lang="ko-KR" altLang="en-US" sz="4000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&amp; Delay Asymmetry</a:t>
                </a:r>
                <a:endParaRPr lang="ko-KR" altLang="en-US" sz="4000" dirty="0">
                  <a:solidFill>
                    <a:srgbClr val="09644C"/>
                  </a:solidFill>
                  <a:latin typeface="Arial Black" panose="020B0A04020102020204" pitchFamily="34" charset="0"/>
                  <a:ea typeface="KoPubWorld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  <a:blipFill>
                <a:blip r:embed="rId2"/>
                <a:stretch>
                  <a:fillRect l="-2449" t="-80645" b="-10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/>
              <p:nvPr/>
            </p:nvSpPr>
            <p:spPr>
              <a:xfrm>
                <a:off x="2003571" y="1351889"/>
                <a:ext cx="2794059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공</a:t>
                </a:r>
                <a14:m>
                  <m:oMath xmlns:m="http://schemas.openxmlformats.org/officeDocument/2006/math">
                    <m:r>
                      <a:rPr lang="ko-KR" altLang="en-US" b="1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정</m:t>
                    </m:r>
                    <m:r>
                      <a:rPr lang="ko-KR" altLang="en-US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별</m:t>
                    </m:r>
                    <m:r>
                      <a:rPr lang="en-US" altLang="ko-KR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b="1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en-US" altLang="ko-KR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</a:t>
                </a:r>
                <a:r>
                  <a:rPr lang="ko-KR" altLang="en-US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비교</a:t>
                </a:r>
                <a:endParaRPr lang="ko-KR" altLang="en-US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1351889"/>
                <a:ext cx="2794059" cy="311817"/>
              </a:xfrm>
              <a:prstGeom prst="rect">
                <a:avLst/>
              </a:prstGeom>
              <a:blipFill>
                <a:blip r:embed="rId3"/>
                <a:stretch>
                  <a:fillRect l="-655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57F075-C9ED-4AFF-B79F-D9DD69426051}"/>
              </a:ext>
            </a:extLst>
          </p:cNvPr>
          <p:cNvSpPr txBox="1"/>
          <p:nvPr/>
        </p:nvSpPr>
        <p:spPr>
          <a:xfrm>
            <a:off x="6202878" y="4784596"/>
            <a:ext cx="1261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&lt;180nm&gt;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190E1-24DC-4707-BEC4-78E3B305A613}"/>
                  </a:ext>
                </a:extLst>
              </p:cNvPr>
              <p:cNvSpPr txBox="1"/>
              <p:nvPr/>
            </p:nvSpPr>
            <p:spPr>
              <a:xfrm>
                <a:off x="5414178" y="5486419"/>
                <a:ext cx="287437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400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1800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190E1-24DC-4707-BEC4-78E3B305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178" y="5486419"/>
                <a:ext cx="2874377" cy="298415"/>
              </a:xfrm>
              <a:prstGeom prst="rect">
                <a:avLst/>
              </a:prstGeom>
              <a:blipFill>
                <a:blip r:embed="rId4"/>
                <a:stretch>
                  <a:fillRect l="-2754" t="-28571" r="-2119" b="-387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C244845A-FDF2-4052-A78D-E13E96C78A4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72" y="2291745"/>
            <a:ext cx="4892400" cy="23904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8151AE-94C8-4CA4-AD7E-BE42C9CD19E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870" y="2291745"/>
            <a:ext cx="4892400" cy="2390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989EC1E-B4D9-46EC-9896-1074917BC9F3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72" y="2298833"/>
            <a:ext cx="4892400" cy="2394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691A8A0-8892-423E-9A20-6A0ABE510DE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870" y="2314084"/>
            <a:ext cx="4892400" cy="23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3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3600" kern="12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02. </a:t>
                </a:r>
                <a14:m>
                  <m:oMath xmlns:m="http://schemas.openxmlformats.org/officeDocument/2006/math">
                    <m:r>
                      <a:rPr lang="ko-KR" altLang="en-US" sz="4000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&amp; Delay Asymmetry</a:t>
                </a:r>
                <a:endParaRPr lang="ko-KR" altLang="en-US" sz="4000" dirty="0">
                  <a:solidFill>
                    <a:srgbClr val="09644C"/>
                  </a:solidFill>
                  <a:latin typeface="Arial Black" panose="020B0A04020102020204" pitchFamily="34" charset="0"/>
                  <a:ea typeface="KoPubWorld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  <a:blipFill>
                <a:blip r:embed="rId2"/>
                <a:stretch>
                  <a:fillRect l="-2449" t="-80645" b="-10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/>
              <p:nvPr/>
            </p:nvSpPr>
            <p:spPr>
              <a:xfrm>
                <a:off x="2003571" y="1351889"/>
                <a:ext cx="2794059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공</a:t>
                </a:r>
                <a14:m>
                  <m:oMath xmlns:m="http://schemas.openxmlformats.org/officeDocument/2006/math">
                    <m:r>
                      <a:rPr lang="ko-KR" altLang="en-US" b="1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정</m:t>
                    </m:r>
                    <m:r>
                      <a:rPr lang="ko-KR" altLang="en-US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별</m:t>
                    </m:r>
                    <m:r>
                      <a:rPr lang="en-US" altLang="ko-KR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 </m:t>
                    </m:r>
                    <m:r>
                      <a:rPr lang="ko-KR" altLang="en-US" b="1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en-US" altLang="ko-KR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</a:t>
                </a:r>
                <a:r>
                  <a:rPr lang="ko-KR" altLang="en-US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비교</a:t>
                </a:r>
                <a:endParaRPr lang="ko-KR" altLang="en-US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1351889"/>
                <a:ext cx="2794059" cy="311817"/>
              </a:xfrm>
              <a:prstGeom prst="rect">
                <a:avLst/>
              </a:prstGeom>
              <a:blipFill>
                <a:blip r:embed="rId3"/>
                <a:stretch>
                  <a:fillRect l="-655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FF13CA03-6448-478D-8E40-49C55B49F3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6846892"/>
                  </p:ext>
                </p:extLst>
              </p:nvPr>
            </p:nvGraphicFramePr>
            <p:xfrm>
              <a:off x="2003570" y="1901261"/>
              <a:ext cx="7328492" cy="3117307"/>
            </p:xfrm>
            <a:graphic>
              <a:graphicData uri="http://schemas.openxmlformats.org/drawingml/2006/table">
                <a:tbl>
                  <a:tblPr firstRow="1" bandRow="1">
                    <a:tableStyleId>{BFB81038-B3C2-47C5-B33F-A615394D63FA}</a:tableStyleId>
                  </a:tblPr>
                  <a:tblGrid>
                    <a:gridCol w="1832123">
                      <a:extLst>
                        <a:ext uri="{9D8B030D-6E8A-4147-A177-3AD203B41FA5}">
                          <a16:colId xmlns:a16="http://schemas.microsoft.com/office/drawing/2014/main" val="3576195445"/>
                        </a:ext>
                      </a:extLst>
                    </a:gridCol>
                    <a:gridCol w="1832123">
                      <a:extLst>
                        <a:ext uri="{9D8B030D-6E8A-4147-A177-3AD203B41FA5}">
                          <a16:colId xmlns:a16="http://schemas.microsoft.com/office/drawing/2014/main" val="276731458"/>
                        </a:ext>
                      </a:extLst>
                    </a:gridCol>
                    <a:gridCol w="1832123">
                      <a:extLst>
                        <a:ext uri="{9D8B030D-6E8A-4147-A177-3AD203B41FA5}">
                          <a16:colId xmlns:a16="http://schemas.microsoft.com/office/drawing/2014/main" val="2478105210"/>
                        </a:ext>
                      </a:extLst>
                    </a:gridCol>
                    <a:gridCol w="1832123">
                      <a:extLst>
                        <a:ext uri="{9D8B030D-6E8A-4147-A177-3AD203B41FA5}">
                          <a16:colId xmlns:a16="http://schemas.microsoft.com/office/drawing/2014/main" val="1568704241"/>
                        </a:ext>
                      </a:extLst>
                    </a:gridCol>
                  </a:tblGrid>
                  <a:tr h="11659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공정</a:t>
                          </a:r>
                          <a:endParaRPr lang="en-US" altLang="ko-KR" dirty="0"/>
                        </a:p>
                        <a:p>
                          <a:pPr algn="ctr" latinLnBrk="1"/>
                          <a:r>
                            <a:rPr lang="en-US" altLang="ko-KR" dirty="0"/>
                            <a:t>(nm)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ko-KR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  <m:r>
                                  <a:rPr lang="en-US" altLang="ko-KR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ko-KR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dirty="0"/>
                        </a:p>
                        <a:p>
                          <a:pPr algn="ctr" latinLnBrk="1"/>
                          <a:r>
                            <a:rPr lang="en-US" altLang="ko-KR" dirty="0"/>
                            <a:t>(nm)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altLang="ko-KR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dirty="0"/>
                        </a:p>
                        <a:p>
                          <a:pPr algn="ctr" latinLnBrk="1"/>
                          <a:r>
                            <a:rPr lang="en-US" altLang="ko-KR" dirty="0"/>
                            <a:t>(nm)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altLang="ko-KR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dirty="0"/>
                        </a:p>
                        <a:p>
                          <a:pPr algn="ctr" latinLnBrk="1"/>
                          <a:r>
                            <a:rPr lang="en-US" altLang="ko-KR" dirty="0"/>
                            <a:t>(nm)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146024"/>
                      </a:ext>
                    </a:extLst>
                  </a:tr>
                  <a:tr h="6504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8915110"/>
                      </a:ext>
                    </a:extLst>
                  </a:tr>
                  <a:tr h="6504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90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350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5143720"/>
                      </a:ext>
                    </a:extLst>
                  </a:tr>
                  <a:tr h="6504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140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6267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FF13CA03-6448-478D-8E40-49C55B49F3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6846892"/>
                  </p:ext>
                </p:extLst>
              </p:nvPr>
            </p:nvGraphicFramePr>
            <p:xfrm>
              <a:off x="2003570" y="1901261"/>
              <a:ext cx="7328492" cy="3117307"/>
            </p:xfrm>
            <a:graphic>
              <a:graphicData uri="http://schemas.openxmlformats.org/drawingml/2006/table">
                <a:tbl>
                  <a:tblPr firstRow="1" bandRow="1">
                    <a:tableStyleId>{BFB81038-B3C2-47C5-B33F-A615394D63FA}</a:tableStyleId>
                  </a:tblPr>
                  <a:tblGrid>
                    <a:gridCol w="1832123">
                      <a:extLst>
                        <a:ext uri="{9D8B030D-6E8A-4147-A177-3AD203B41FA5}">
                          <a16:colId xmlns:a16="http://schemas.microsoft.com/office/drawing/2014/main" val="3576195445"/>
                        </a:ext>
                      </a:extLst>
                    </a:gridCol>
                    <a:gridCol w="1832123">
                      <a:extLst>
                        <a:ext uri="{9D8B030D-6E8A-4147-A177-3AD203B41FA5}">
                          <a16:colId xmlns:a16="http://schemas.microsoft.com/office/drawing/2014/main" val="276731458"/>
                        </a:ext>
                      </a:extLst>
                    </a:gridCol>
                    <a:gridCol w="1832123">
                      <a:extLst>
                        <a:ext uri="{9D8B030D-6E8A-4147-A177-3AD203B41FA5}">
                          <a16:colId xmlns:a16="http://schemas.microsoft.com/office/drawing/2014/main" val="2478105210"/>
                        </a:ext>
                      </a:extLst>
                    </a:gridCol>
                    <a:gridCol w="1832123">
                      <a:extLst>
                        <a:ext uri="{9D8B030D-6E8A-4147-A177-3AD203B41FA5}">
                          <a16:colId xmlns:a16="http://schemas.microsoft.com/office/drawing/2014/main" val="1568704241"/>
                        </a:ext>
                      </a:extLst>
                    </a:gridCol>
                  </a:tblGrid>
                  <a:tr h="11659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공정</a:t>
                          </a:r>
                          <a:endParaRPr lang="en-US" altLang="ko-KR" dirty="0"/>
                        </a:p>
                        <a:p>
                          <a:pPr algn="ctr" latinLnBrk="1"/>
                          <a:r>
                            <a:rPr lang="en-US" altLang="ko-KR" dirty="0"/>
                            <a:t>(nm)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332" t="-521" r="-200332" b="-168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1000" t="-521" r="-101000" b="-168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000" t="-521" r="-664" b="-1682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8146024"/>
                      </a:ext>
                    </a:extLst>
                  </a:tr>
                  <a:tr h="6504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8915110"/>
                      </a:ext>
                    </a:extLst>
                  </a:tr>
                  <a:tr h="6504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90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100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350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5143720"/>
                      </a:ext>
                    </a:extLst>
                  </a:tr>
                  <a:tr h="6504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45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140</a:t>
                          </a:r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62675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82692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3600" kern="12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02. </a:t>
                </a:r>
                <a14:m>
                  <m:oMath xmlns:m="http://schemas.openxmlformats.org/officeDocument/2006/math">
                    <m:r>
                      <a:rPr lang="ko-KR" altLang="en-US" sz="4000" i="1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KoPubWorld돋움체 Bold" panose="00000800000000000000" pitchFamily="2" charset="-127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lang="en-US" altLang="ko-KR" sz="4000" dirty="0">
                    <a:solidFill>
                      <a:srgbClr val="09644C"/>
                    </a:solidFill>
                    <a:latin typeface="Arial Black" panose="020B0A04020102020204" pitchFamily="34" charset="0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-ratio &amp; Delay Asymmetry</a:t>
                </a:r>
                <a:endParaRPr lang="ko-KR" altLang="en-US" sz="4000" dirty="0">
                  <a:solidFill>
                    <a:srgbClr val="09644C"/>
                  </a:solidFill>
                  <a:latin typeface="Arial Black" panose="020B0A04020102020204" pitchFamily="34" charset="0"/>
                  <a:ea typeface="KoPubWorld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텍스트 개체 틀 3">
                <a:extLst>
                  <a:ext uri="{FF2B5EF4-FFF2-40B4-BE49-F238E27FC236}">
                    <a16:creationId xmlns:a16="http://schemas.microsoft.com/office/drawing/2014/main" id="{9C8E79E0-9242-4B7E-B056-F6D82940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2" y="682510"/>
                <a:ext cx="8963365" cy="377539"/>
              </a:xfrm>
              <a:prstGeom prst="rect">
                <a:avLst/>
              </a:prstGeom>
              <a:blipFill>
                <a:blip r:embed="rId2"/>
                <a:stretch>
                  <a:fillRect l="-2449" t="-80645" b="-10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/>
              <p:nvPr/>
            </p:nvSpPr>
            <p:spPr>
              <a:xfrm>
                <a:off x="2003571" y="1351889"/>
                <a:ext cx="30315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dirty="0" smtClean="0">
                            <a:solidFill>
                              <a:srgbClr val="0964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>
                            <a:solidFill>
                              <a:srgbClr val="09644C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b="1" i="1" dirty="0">
                            <a:solidFill>
                              <a:srgbClr val="09644C"/>
                            </a:solidFill>
                            <a:latin typeface="Cambria Math" panose="02040503050406030204" pitchFamily="18" charset="0"/>
                          </a:rPr>
                          <m:t>𝑷𝑳𝑯</m:t>
                        </m:r>
                      </m:sub>
                    </m:sSub>
                    <m:r>
                      <a:rPr lang="en-US" altLang="ko-KR" b="1" i="1" dirty="0">
                        <a:solidFill>
                          <a:srgbClr val="09644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1" dirty="0">
                    <a:solidFill>
                      <a:srgbClr val="09644C"/>
                    </a:solidFill>
                    <a:latin typeface="+mn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rgbClr val="09644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</m:oMath>
                </a14:m>
                <a:r>
                  <a:rPr lang="en-US" altLang="ko-KR" b="1" dirty="0">
                    <a:solidFill>
                      <a:srgbClr val="09644C"/>
                    </a:solidFill>
                    <a:latin typeface="+mn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rgbClr val="0964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rgbClr val="09644C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9644C"/>
                            </a:solidFill>
                            <a:latin typeface="Cambria Math" panose="02040503050406030204" pitchFamily="18" charset="0"/>
                          </a:rPr>
                          <m:t>𝑷𝑯𝑳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09644C"/>
                    </a:solidFill>
                  </a:rPr>
                  <a:t> </a:t>
                </a:r>
                <a:r>
                  <a:rPr lang="en-US" altLang="ko-KR" b="1" dirty="0">
                    <a:solidFill>
                      <a:srgbClr val="09644C"/>
                    </a:solidFill>
                    <a:latin typeface="+mn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 </a:t>
                </a:r>
                <a:r>
                  <a:rPr lang="ko-KR" altLang="en-US" b="1" dirty="0">
                    <a:solidFill>
                      <a:srgbClr val="09644C"/>
                    </a:solidFill>
                    <a:latin typeface="+mj-lt"/>
                    <a:ea typeface="KoPubWorld돋움체 Bold" panose="00000800000000000000" pitchFamily="2" charset="-127"/>
                    <a:cs typeface="Arial" panose="020B0604020202020204" pitchFamily="34" charset="0"/>
                  </a:rPr>
                  <a:t>비대칭</a:t>
                </a:r>
                <a:endParaRPr lang="ko-KR" altLang="en-US" b="1" dirty="0">
                  <a:solidFill>
                    <a:srgbClr val="09644C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FD9F9-4CF8-47F2-9F45-5332B8084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1351889"/>
                <a:ext cx="3031567" cy="307777"/>
              </a:xfrm>
              <a:prstGeom prst="rect">
                <a:avLst/>
              </a:prstGeom>
              <a:blipFill>
                <a:blip r:embed="rId3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B61332-F31F-4524-A591-11A68F2D9C83}"/>
                  </a:ext>
                </a:extLst>
              </p:cNvPr>
              <p:cNvSpPr txBox="1"/>
              <p:nvPr/>
            </p:nvSpPr>
            <p:spPr>
              <a:xfrm>
                <a:off x="2003571" y="1828395"/>
                <a:ext cx="8223662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𝑃𝐿𝐻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입력이 </a:t>
                </a:r>
                <a:r>
                  <a:rPr lang="en-US" altLang="ko-KR" dirty="0"/>
                  <a:t>Low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/>
                  <a:t>High</a:t>
                </a:r>
                <a:r>
                  <a:rPr lang="ko-KR" altLang="en-US" dirty="0"/>
                  <a:t>로 바뀔 때 출력이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en-US" altLang="ko-KR" dirty="0"/>
                  <a:t>/2 </a:t>
                </a:r>
                <a:r>
                  <a:rPr lang="ko-KR" altLang="en-US" dirty="0"/>
                  <a:t>로 전환되는 지연 시간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B61332-F31F-4524-A591-11A68F2D9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1828395"/>
                <a:ext cx="8223662" cy="311817"/>
              </a:xfrm>
              <a:prstGeom prst="rect">
                <a:avLst/>
              </a:prstGeom>
              <a:blipFill>
                <a:blip r:embed="rId4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0E3DA4-9993-45C6-95D8-8B3F595F72E6}"/>
                  </a:ext>
                </a:extLst>
              </p:cNvPr>
              <p:cNvSpPr txBox="1"/>
              <p:nvPr/>
            </p:nvSpPr>
            <p:spPr>
              <a:xfrm>
                <a:off x="2003571" y="2288176"/>
                <a:ext cx="8223662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𝑃𝐻𝐿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입력이 </a:t>
                </a:r>
                <a:r>
                  <a:rPr lang="en-US" altLang="ko-KR" dirty="0"/>
                  <a:t>High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/>
                  <a:t>Low</a:t>
                </a:r>
                <a:r>
                  <a:rPr lang="ko-KR" altLang="en-US" dirty="0"/>
                  <a:t>로 바뀔 때 출력이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en-US" altLang="ko-KR" dirty="0"/>
                  <a:t>/2 </a:t>
                </a:r>
                <a:r>
                  <a:rPr lang="ko-KR" altLang="en-US" dirty="0"/>
                  <a:t>로 전환되는 지연 시간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0E3DA4-9993-45C6-95D8-8B3F595F7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2288176"/>
                <a:ext cx="8223662" cy="311817"/>
              </a:xfrm>
              <a:prstGeom prst="rect">
                <a:avLst/>
              </a:prstGeom>
              <a:blipFill>
                <a:blip r:embed="rId5"/>
                <a:stretch>
                  <a:fillRect t="-3846" b="-17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134C9E9-953A-4548-AB2C-83CBC6C4EEE0}"/>
              </a:ext>
            </a:extLst>
          </p:cNvPr>
          <p:cNvSpPr txBox="1"/>
          <p:nvPr/>
        </p:nvSpPr>
        <p:spPr>
          <a:xfrm>
            <a:off x="2003569" y="2878378"/>
            <a:ext cx="3031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9644C"/>
                </a:solidFill>
                <a:latin typeface="+mj-lt"/>
                <a:ea typeface="KoPubWorld돋움체 Bold" panose="00000800000000000000"/>
                <a:cs typeface="Arial" panose="020B0604020202020204" pitchFamily="34" charset="0"/>
              </a:rPr>
              <a:t>원인</a:t>
            </a:r>
            <a:endParaRPr lang="ko-KR" altLang="en-US" b="1" dirty="0">
              <a:latin typeface="+mj-lt"/>
              <a:ea typeface="KoPubWorld돋움체 Bold" panose="0000080000000000000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7CF6B6-E5EB-4052-BAEB-845737720688}"/>
                  </a:ext>
                </a:extLst>
              </p:cNvPr>
              <p:cNvSpPr txBox="1"/>
              <p:nvPr/>
            </p:nvSpPr>
            <p:spPr>
              <a:xfrm>
                <a:off x="2003570" y="3354884"/>
                <a:ext cx="822366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2~3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ko-KR" altLang="en-US" dirty="0"/>
                  <a:t> → </a:t>
                </a:r>
                <a:r>
                  <a:rPr lang="en-US" altLang="ko-KR" dirty="0"/>
                  <a:t>PMOS</a:t>
                </a:r>
                <a:r>
                  <a:rPr lang="ko-KR" altLang="en-US" dirty="0"/>
                  <a:t>의 구동이 더 느림 →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/>
                  <a:t>-ratio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ko-KR" dirty="0"/>
                  <a:t>1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7CF6B6-E5EB-4052-BAEB-845737720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0" y="3354884"/>
                <a:ext cx="8223662" cy="390748"/>
              </a:xfrm>
              <a:prstGeom prst="rect">
                <a:avLst/>
              </a:prstGeom>
              <a:blipFill>
                <a:blip r:embed="rId6"/>
                <a:stretch>
                  <a:fillRect t="-9375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7B4B81D-0470-4592-8010-44E46D5CA15D}"/>
              </a:ext>
            </a:extLst>
          </p:cNvPr>
          <p:cNvSpPr txBox="1"/>
          <p:nvPr/>
        </p:nvSpPr>
        <p:spPr>
          <a:xfrm>
            <a:off x="2003572" y="3852753"/>
            <a:ext cx="896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출력 노드에 걸리는 기생 </a:t>
            </a:r>
            <a:r>
              <a:rPr lang="en-US" altLang="ko-KR" dirty="0"/>
              <a:t>Capacitance + </a:t>
            </a:r>
            <a:r>
              <a:rPr lang="ko-KR" altLang="en-US" dirty="0"/>
              <a:t>배선 지연이 </a:t>
            </a:r>
            <a:r>
              <a:rPr lang="en-US" altLang="ko-KR" dirty="0"/>
              <a:t>NMOS/PMOS</a:t>
            </a:r>
            <a:r>
              <a:rPr lang="ko-KR" altLang="en-US" dirty="0"/>
              <a:t>에 다르게 작용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E052B-784B-4887-9E8C-0FCC7534F6CC}"/>
              </a:ext>
            </a:extLst>
          </p:cNvPr>
          <p:cNvSpPr txBox="1"/>
          <p:nvPr/>
        </p:nvSpPr>
        <p:spPr>
          <a:xfrm>
            <a:off x="2003569" y="4442955"/>
            <a:ext cx="3031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9644C"/>
                </a:solidFill>
                <a:latin typeface="+mn-lt"/>
                <a:ea typeface="KoPubWorld돋움체 Bold" panose="00000800000000000000" pitchFamily="2" charset="-127"/>
                <a:cs typeface="Arial" panose="020B0604020202020204" pitchFamily="34" charset="0"/>
              </a:rPr>
              <a:t>극복 방안</a:t>
            </a:r>
            <a:endParaRPr lang="ko-KR" altLang="en-US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1EF775-A77F-4C3A-B566-C2E13DC4552A}"/>
                  </a:ext>
                </a:extLst>
              </p:cNvPr>
              <p:cNvSpPr txBox="1"/>
              <p:nvPr/>
            </p:nvSpPr>
            <p:spPr>
              <a:xfrm>
                <a:off x="2003569" y="4940877"/>
                <a:ext cx="8963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PMOS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W/L </a:t>
                </a:r>
                <a:r>
                  <a:rPr lang="ko-KR" altLang="en-US" dirty="0"/>
                  <a:t>비율을 조정하여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/>
                  <a:t>-ratio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에 가깝게 최적화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1EF775-A77F-4C3A-B566-C2E13DC45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69" y="4940877"/>
                <a:ext cx="8963364" cy="369332"/>
              </a:xfrm>
              <a:prstGeom prst="rect">
                <a:avLst/>
              </a:prstGeom>
              <a:blipFill>
                <a:blip r:embed="rId7"/>
                <a:stretch>
                  <a:fillRect l="-612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76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2649415" y="3240230"/>
            <a:ext cx="8129954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6000"/>
              <a:buFont typeface="Arial"/>
              <a:buNone/>
            </a:pPr>
            <a:r>
              <a:rPr lang="en-US" sz="6000" b="1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r>
              <a:rPr lang="en-US" sz="6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 Rising &amp; Falling Time</a:t>
            </a:r>
            <a:endParaRPr sz="6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03. Rising &amp; Falling Time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571" y="1351889"/>
            <a:ext cx="2794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Rising &amp; Falling Time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6893E4-8593-4B78-82B8-22C653079AF2}"/>
                  </a:ext>
                </a:extLst>
              </p:cNvPr>
              <p:cNvSpPr txBox="1"/>
              <p:nvPr/>
            </p:nvSpPr>
            <p:spPr>
              <a:xfrm>
                <a:off x="2003571" y="1929740"/>
                <a:ext cx="8235538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Rising Time(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출력전압이 </a:t>
                </a:r>
                <a:r>
                  <a:rPr lang="en-US" altLang="ko-KR" dirty="0"/>
                  <a:t>10%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90%</a:t>
                </a:r>
                <a:r>
                  <a:rPr lang="ko-KR" altLang="en-US" dirty="0"/>
                  <a:t>까지 상승할 때 소요 시간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6893E4-8593-4B78-82B8-22C653079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1929740"/>
                <a:ext cx="8235538" cy="374526"/>
              </a:xfrm>
              <a:prstGeom prst="rect">
                <a:avLst/>
              </a:prstGeom>
              <a:blipFill>
                <a:blip r:embed="rId2"/>
                <a:stretch>
                  <a:fillRect l="-666" t="-9836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146331-4D6C-4067-81B7-FD141F75B99E}"/>
                  </a:ext>
                </a:extLst>
              </p:cNvPr>
              <p:cNvSpPr txBox="1"/>
              <p:nvPr/>
            </p:nvSpPr>
            <p:spPr>
              <a:xfrm>
                <a:off x="2003571" y="2400315"/>
                <a:ext cx="8235538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Falling Time(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출력전압이 </a:t>
                </a:r>
                <a:r>
                  <a:rPr lang="en-US" altLang="ko-KR" dirty="0"/>
                  <a:t>90%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10%</a:t>
                </a:r>
                <a:r>
                  <a:rPr lang="ko-KR" altLang="en-US" dirty="0"/>
                  <a:t>까지 하강할 때 소요 시간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146331-4D6C-4067-81B7-FD141F75B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2400315"/>
                <a:ext cx="8235538" cy="391582"/>
              </a:xfrm>
              <a:prstGeom prst="rect">
                <a:avLst/>
              </a:prstGeom>
              <a:blipFill>
                <a:blip r:embed="rId3"/>
                <a:stretch>
                  <a:fillRect l="-666"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98AE101F-6107-417E-A65D-18FA8F8F0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571" y="3022420"/>
            <a:ext cx="5135155" cy="331922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B24E227-F2D6-4C13-AA35-3487CD07903E}"/>
              </a:ext>
            </a:extLst>
          </p:cNvPr>
          <p:cNvSpPr/>
          <p:nvPr/>
        </p:nvSpPr>
        <p:spPr>
          <a:xfrm>
            <a:off x="7773793" y="3244334"/>
            <a:ext cx="1560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485849"/>
                </a:solidFill>
                <a:latin typeface="Arial" panose="020B0604020202020204" pitchFamily="34" charset="0"/>
              </a:rPr>
              <a:t>t</a:t>
            </a:r>
            <a:r>
              <a:rPr lang="en-US" altLang="ko-KR" sz="1100" dirty="0" err="1">
                <a:solidFill>
                  <a:srgbClr val="485849"/>
                </a:solidFill>
                <a:latin typeface="Arial" panose="020B0604020202020204" pitchFamily="34" charset="0"/>
              </a:rPr>
              <a:t>rise</a:t>
            </a:r>
            <a:r>
              <a:rPr lang="en-US" altLang="ko-KR" sz="1100" dirty="0">
                <a:solidFill>
                  <a:srgbClr val="485849"/>
                </a:solidFill>
                <a:latin typeface="Arial" panose="020B0604020202020204" pitchFamily="34" charset="0"/>
              </a:rPr>
              <a:t>  =</a:t>
            </a:r>
            <a:r>
              <a:rPr lang="en-US" altLang="ko-KR" dirty="0">
                <a:solidFill>
                  <a:srgbClr val="485849"/>
                </a:solidFill>
                <a:latin typeface="Arial" panose="020B0604020202020204" pitchFamily="34" charset="0"/>
              </a:rPr>
              <a:t>t</a:t>
            </a:r>
            <a:r>
              <a:rPr lang="en-US" altLang="ko-KR" baseline="-25000" dirty="0">
                <a:solidFill>
                  <a:srgbClr val="485849"/>
                </a:solidFill>
                <a:latin typeface="Arial" panose="020B0604020202020204" pitchFamily="34" charset="0"/>
              </a:rPr>
              <a:t>90% </a:t>
            </a:r>
            <a:r>
              <a:rPr lang="en-US" altLang="ko-KR" dirty="0">
                <a:solidFill>
                  <a:srgbClr val="485849"/>
                </a:solidFill>
                <a:latin typeface="Arial" panose="020B0604020202020204" pitchFamily="34" charset="0"/>
              </a:rPr>
              <a:t>- t</a:t>
            </a:r>
            <a:r>
              <a:rPr lang="en-US" altLang="ko-KR" baseline="-25000" dirty="0">
                <a:solidFill>
                  <a:srgbClr val="485849"/>
                </a:solidFill>
                <a:latin typeface="Arial" panose="020B0604020202020204" pitchFamily="34" charset="0"/>
              </a:rPr>
              <a:t>10%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FA4751-711A-42B8-8833-4238D30AFC45}"/>
              </a:ext>
            </a:extLst>
          </p:cNvPr>
          <p:cNvSpPr/>
          <p:nvPr/>
        </p:nvSpPr>
        <p:spPr>
          <a:xfrm>
            <a:off x="7773793" y="4104584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485849"/>
                </a:solidFill>
                <a:latin typeface="Arial" panose="020B0604020202020204" pitchFamily="34" charset="0"/>
              </a:rPr>
              <a:t>t</a:t>
            </a:r>
            <a:r>
              <a:rPr lang="en-US" altLang="ko-KR" sz="1100" dirty="0" err="1">
                <a:solidFill>
                  <a:srgbClr val="485849"/>
                </a:solidFill>
                <a:latin typeface="Arial" panose="020B0604020202020204" pitchFamily="34" charset="0"/>
              </a:rPr>
              <a:t>fall</a:t>
            </a:r>
            <a:r>
              <a:rPr lang="en-US" altLang="ko-KR" sz="1100" dirty="0">
                <a:solidFill>
                  <a:srgbClr val="485849"/>
                </a:solidFill>
                <a:latin typeface="Arial" panose="020B0604020202020204" pitchFamily="34" charset="0"/>
              </a:rPr>
              <a:t>  =</a:t>
            </a:r>
            <a:r>
              <a:rPr lang="en-US" altLang="ko-KR" dirty="0">
                <a:solidFill>
                  <a:srgbClr val="485849"/>
                </a:solidFill>
                <a:latin typeface="Arial" panose="020B0604020202020204" pitchFamily="34" charset="0"/>
              </a:rPr>
              <a:t>t</a:t>
            </a:r>
            <a:r>
              <a:rPr lang="en-US" altLang="ko-KR" baseline="-25000" dirty="0">
                <a:solidFill>
                  <a:srgbClr val="485849"/>
                </a:solidFill>
                <a:latin typeface="Arial" panose="020B0604020202020204" pitchFamily="34" charset="0"/>
              </a:rPr>
              <a:t>10% </a:t>
            </a:r>
            <a:r>
              <a:rPr lang="en-US" altLang="ko-KR" dirty="0">
                <a:solidFill>
                  <a:srgbClr val="485849"/>
                </a:solidFill>
                <a:latin typeface="Arial" panose="020B0604020202020204" pitchFamily="34" charset="0"/>
              </a:rPr>
              <a:t>- t</a:t>
            </a:r>
            <a:r>
              <a:rPr lang="en-US" altLang="ko-KR" baseline="-25000" dirty="0">
                <a:solidFill>
                  <a:srgbClr val="485849"/>
                </a:solidFill>
                <a:latin typeface="Arial" panose="020B0604020202020204" pitchFamily="34" charset="0"/>
              </a:rPr>
              <a:t>90%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5623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579955A1-A755-431B-94D9-0DFF051592AD}"/>
                  </a:ext>
                </a:extLst>
              </p:cNvPr>
              <p:cNvSpPr/>
              <p:nvPr/>
            </p:nvSpPr>
            <p:spPr>
              <a:xfrm>
                <a:off x="8328609" y="1543801"/>
                <a:ext cx="3435327" cy="478574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9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r>
                  <a:rPr lang="en-US" altLang="ko-KR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Scale down</a:t>
                </a:r>
                <a:r>
                  <a:rPr lang="ko-KR" altLang="en-US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될 수록 </a:t>
                </a:r>
                <a:r>
                  <a:rPr lang="en-US" altLang="ko-KR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Rise &amp; Fall time </a:t>
                </a:r>
                <a:r>
                  <a:rPr lang="ko-KR" altLang="en-US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감소</a:t>
                </a:r>
                <a:endParaRPr lang="en-US" altLang="ko-KR" sz="10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atinLnBrk="0">
                  <a:lnSpc>
                    <a:spcPts val="2749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𝑠𝑔</m:t>
                            </m:r>
                          </m:sub>
                        </m:s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|)</m:t>
                        </m:r>
                      </m:den>
                    </m:f>
                    <m:d>
                      <m:d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ko-KR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, tr = 2.2Ron.p*CL</a:t>
                </a:r>
              </a:p>
              <a:p>
                <a:pPr latinLnBrk="0">
                  <a:lnSpc>
                    <a:spcPts val="2749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𝑔𝑠</m:t>
                            </m:r>
                          </m:sub>
                        </m:s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|)</m:t>
                        </m:r>
                      </m:den>
                    </m:f>
                    <m:d>
                      <m:d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000" i="1">
                                <a:solidFill>
                                  <a:srgbClr val="333F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sz="1000" i="1">
                                    <a:solidFill>
                                      <a:srgbClr val="333F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ko-KR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 tf = 2.2Ron.n*CL</a:t>
                </a:r>
              </a:p>
              <a:p>
                <a:pPr lvl="0" latinLnBrk="0">
                  <a:lnSpc>
                    <a:spcPts val="2749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이므로</a:t>
                </a:r>
                <a:r>
                  <a:rPr lang="en-US" altLang="ko-KR" sz="1000" dirty="0">
                    <a:solidFill>
                      <a:srgbClr val="333F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이 되어 </a:t>
                </a:r>
                <a:r>
                  <a:rPr lang="en-US" altLang="ko-KR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Rise &amp; Fall time </a:t>
                </a: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r>
                  <a:rPr lang="ko-KR" altLang="en-US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이 감소해 </a:t>
                </a:r>
                <a:r>
                  <a:rPr lang="en-US" altLang="ko-KR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Performance</a:t>
                </a:r>
                <a:r>
                  <a:rPr lang="ko-KR" altLang="en-US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가 향상됨</a:t>
                </a:r>
                <a:endParaRPr lang="en-US" altLang="ko-KR" sz="1000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dirty="0"/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r>
                  <a:rPr lang="en-US" altLang="ko-KR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Multiplier</a:t>
                </a:r>
                <a:r>
                  <a:rPr lang="ko-KR" altLang="en-US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가 </a:t>
                </a:r>
                <a:r>
                  <a:rPr lang="en-US" altLang="ko-KR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1X-&gt;2X-&gt;4X</a:t>
                </a:r>
                <a:r>
                  <a:rPr lang="ko-KR" altLang="en-US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로 변해도 </a:t>
                </a:r>
                <a:r>
                  <a:rPr lang="en-US" altLang="ko-KR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Rise &amp; Fall time </a:t>
                </a:r>
                <a:r>
                  <a:rPr lang="ko-KR" altLang="en-US" sz="1000" b="1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유지</a:t>
                </a:r>
                <a:endParaRPr lang="en-US" altLang="ko-KR" sz="1000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(1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=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+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𝑔𝑑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)=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2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ko-KR" altLang="en-US" sz="1000" spc="104" dirty="0">
                    <a:ea typeface="Source Han Sans KR" panose="020B0600000101010101" charset="-127"/>
                    <a:cs typeface="Calibri" panose="020F0502020204030204" pitchFamily="34" charset="0"/>
                    <a:sym typeface="Source Han Sans KR"/>
                  </a:rPr>
                  <a:t>  </a:t>
                </a:r>
                <a:endParaRPr lang="en-US" altLang="ko-KR" sz="1000" spc="104" dirty="0">
                  <a:ea typeface="Source Han Sans KR" panose="020B0600000101010101" charset="-127"/>
                  <a:cs typeface="Calibri" panose="020F0502020204030204" pitchFamily="34" charset="0"/>
                  <a:sym typeface="Source Han Sans KR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(2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cs typeface="Source Han Sans KR"/>
                        <a:sym typeface="Source Han Sans KR"/>
                      </a:rPr>
                      <m:t>=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(2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+2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𝑔𝑑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)=4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=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2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(1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 </m:t>
                    </m:r>
                  </m:oMath>
                </a14:m>
                <a:r>
                  <a:rPr lang="en-US" altLang="ko-KR" sz="1000" spc="104" dirty="0">
                    <a:ea typeface="Source Han Sans KR" panose="020B0600000101010101" charset="-127"/>
                    <a:cs typeface="Calibri" panose="020F0502020204030204" pitchFamily="34" charset="0"/>
                    <a:sym typeface="Source Han Sans KR"/>
                  </a:rPr>
                  <a:t> </a:t>
                </a: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(4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cs typeface="Source Han Sans KR"/>
                        <a:sym typeface="Source Han Sans KR"/>
                      </a:rPr>
                      <m:t>=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(4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+4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𝑔𝑑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)=8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0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=4</m:t>
                    </m:r>
                    <m:sSub>
                      <m:sSubPr>
                        <m:ctrlP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(1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0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ko-KR" sz="1000" spc="104" dirty="0">
                    <a:ea typeface="Source Han Sans KR" panose="020B0600000101010101" charset="-127"/>
                    <a:cs typeface="Calibri" panose="020F0502020204030204" pitchFamily="34" charset="0"/>
                    <a:sym typeface="Source Han Sans KR"/>
                  </a:rPr>
                  <a:t> </a:t>
                </a: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000" i="1">
                        <a:solidFill>
                          <a:srgbClr val="333F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000" dirty="0">
                    <a:solidFill>
                      <a:srgbClr val="333F50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의 증가비율과</a:t>
                </a:r>
                <a:r>
                  <a:rPr lang="ko-KR" altLang="en-US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 동일한 비율로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000" i="1">
                            <a:solidFill>
                              <a:srgbClr val="333F50"/>
                            </a:solidFill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ko-KR" altLang="en-US" sz="10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이 감소하기 때문</a:t>
                </a:r>
                <a:endParaRPr lang="en-US" altLang="ko-KR" sz="1000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endParaRPr lang="en-US" altLang="ko-KR" sz="800" dirty="0"/>
              </a:p>
              <a:p>
                <a:br>
                  <a:rPr lang="en-US" altLang="ko-KR" sz="800" dirty="0"/>
                </a:br>
                <a:br>
                  <a:rPr lang="en-US" altLang="ko-KR" sz="800" dirty="0"/>
                </a:br>
                <a:endParaRPr lang="ko-KR" altLang="en-US" sz="800" dirty="0"/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579955A1-A755-431B-94D9-0DFF05159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609" y="1543801"/>
                <a:ext cx="3435327" cy="4785748"/>
              </a:xfrm>
              <a:prstGeom prst="rect">
                <a:avLst/>
              </a:prstGeom>
              <a:blipFill>
                <a:blip r:embed="rId2"/>
                <a:stretch>
                  <a:fillRect t="-253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BE083169-083B-4278-B970-9AEC0B78FA2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9BA44F-5164-456B-8735-C35285372992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E3060E-9407-4CB1-81A3-7CE4B3F7BFF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03571" y="1933178"/>
          <a:ext cx="5965974" cy="4236489"/>
        </p:xfrm>
        <a:graphic>
          <a:graphicData uri="http://schemas.openxmlformats.org/drawingml/2006/table">
            <a:tbl>
              <a:tblPr/>
              <a:tblGrid>
                <a:gridCol w="743747">
                  <a:extLst>
                    <a:ext uri="{9D8B030D-6E8A-4147-A177-3AD203B41FA5}">
                      <a16:colId xmlns:a16="http://schemas.microsoft.com/office/drawing/2014/main" val="1723384585"/>
                    </a:ext>
                  </a:extLst>
                </a:gridCol>
                <a:gridCol w="743747">
                  <a:extLst>
                    <a:ext uri="{9D8B030D-6E8A-4147-A177-3AD203B41FA5}">
                      <a16:colId xmlns:a16="http://schemas.microsoft.com/office/drawing/2014/main" val="3801634433"/>
                    </a:ext>
                  </a:extLst>
                </a:gridCol>
                <a:gridCol w="743747">
                  <a:extLst>
                    <a:ext uri="{9D8B030D-6E8A-4147-A177-3AD203B41FA5}">
                      <a16:colId xmlns:a16="http://schemas.microsoft.com/office/drawing/2014/main" val="3074921236"/>
                    </a:ext>
                  </a:extLst>
                </a:gridCol>
                <a:gridCol w="743747">
                  <a:extLst>
                    <a:ext uri="{9D8B030D-6E8A-4147-A177-3AD203B41FA5}">
                      <a16:colId xmlns:a16="http://schemas.microsoft.com/office/drawing/2014/main" val="2483307257"/>
                    </a:ext>
                  </a:extLst>
                </a:gridCol>
                <a:gridCol w="751746">
                  <a:extLst>
                    <a:ext uri="{9D8B030D-6E8A-4147-A177-3AD203B41FA5}">
                      <a16:colId xmlns:a16="http://schemas.microsoft.com/office/drawing/2014/main" val="427549497"/>
                    </a:ext>
                  </a:extLst>
                </a:gridCol>
                <a:gridCol w="751746">
                  <a:extLst>
                    <a:ext uri="{9D8B030D-6E8A-4147-A177-3AD203B41FA5}">
                      <a16:colId xmlns:a16="http://schemas.microsoft.com/office/drawing/2014/main" val="3439163755"/>
                    </a:ext>
                  </a:extLst>
                </a:gridCol>
                <a:gridCol w="743747">
                  <a:extLst>
                    <a:ext uri="{9D8B030D-6E8A-4147-A177-3AD203B41FA5}">
                      <a16:colId xmlns:a16="http://schemas.microsoft.com/office/drawing/2014/main" val="3703766447"/>
                    </a:ext>
                  </a:extLst>
                </a:gridCol>
                <a:gridCol w="743747">
                  <a:extLst>
                    <a:ext uri="{9D8B030D-6E8A-4147-A177-3AD203B41FA5}">
                      <a16:colId xmlns:a16="http://schemas.microsoft.com/office/drawing/2014/main" val="1071545001"/>
                    </a:ext>
                  </a:extLst>
                </a:gridCol>
              </a:tblGrid>
              <a:tr h="301418">
                <a:tc gridSpan="2">
                  <a:txBody>
                    <a:bodyPr/>
                    <a:lstStyle/>
                    <a:p>
                      <a:pPr fontAlgn="t"/>
                      <a:r>
                        <a:rPr lang="ko-KR" altLang="en-US" sz="1100" dirty="0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FF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NN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SS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899920"/>
                  </a:ext>
                </a:extLst>
              </a:tr>
              <a:tr h="301418">
                <a:tc gridSpan="2">
                  <a:txBody>
                    <a:bodyPr/>
                    <a:lstStyle/>
                    <a:p>
                      <a:pPr fontAlgn="t"/>
                      <a:r>
                        <a:rPr lang="ko-KR" altLang="en-US" sz="1100" dirty="0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RISE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FALL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RISE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FALL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RISE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FALL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189320"/>
                  </a:ext>
                </a:extLst>
              </a:tr>
              <a:tr h="399601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  <a:endParaRPr lang="en-US" sz="11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40.15p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42.3p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51.06p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54.33p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64.78p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73.60p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373398"/>
                  </a:ext>
                </a:extLst>
              </a:tr>
              <a:tr h="399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40.15p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42.3p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51.06p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54.33p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64.78p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73.60p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527699"/>
                  </a:ext>
                </a:extLst>
              </a:tr>
              <a:tr h="399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40.15p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42.3p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51.06p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54.33p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64.78p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73.60p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36989"/>
                  </a:ext>
                </a:extLst>
              </a:tr>
              <a:tr h="399601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  <a:endParaRPr lang="en-US" sz="11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14.55p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14.89p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21.25p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23.81p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35.61p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43.01p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679566"/>
                  </a:ext>
                </a:extLst>
              </a:tr>
              <a:tr h="399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14.55p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14.89p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21.25p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23.81p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35.61p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43.01p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565698"/>
                  </a:ext>
                </a:extLst>
              </a:tr>
              <a:tr h="399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14.55p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14.89p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21.25p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23.81p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35.61p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43.01p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972198"/>
                  </a:ext>
                </a:extLst>
              </a:tr>
              <a:tr h="399601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en-US" sz="11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8.57p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6.66p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11.00p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8.96p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14.04p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12.92p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108078"/>
                  </a:ext>
                </a:extLst>
              </a:tr>
              <a:tr h="399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8.57p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6.66p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11.00p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8.96p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14.04p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12.92p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454285"/>
                  </a:ext>
                </a:extLst>
              </a:tr>
              <a:tr h="3996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8.57p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6.66p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11.00p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8.96p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14.04p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12.92p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276983"/>
                  </a:ext>
                </a:extLst>
              </a:tr>
            </a:tbl>
          </a:graphicData>
        </a:graphic>
      </p:graphicFrame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79D59286-DE78-4A8B-879E-3640F67D805C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03. Rising &amp; Falling Time 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355AA624-5780-4C85-8E69-7DDBDCE89A61}"/>
              </a:ext>
            </a:extLst>
          </p:cNvPr>
          <p:cNvSpPr/>
          <p:nvPr/>
        </p:nvSpPr>
        <p:spPr>
          <a:xfrm>
            <a:off x="3424632" y="1991878"/>
            <a:ext cx="151429" cy="27315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CF0893-5262-4404-8BD4-E6D14F4C5FA7}"/>
              </a:ext>
            </a:extLst>
          </p:cNvPr>
          <p:cNvSpPr/>
          <p:nvPr/>
        </p:nvSpPr>
        <p:spPr>
          <a:xfrm>
            <a:off x="3246993" y="4723429"/>
            <a:ext cx="506706" cy="256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감소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35E3721-EF5A-4F46-9AC3-73998F45F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478" y="5181582"/>
            <a:ext cx="2487653" cy="10505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CC4A9F-D5B7-4767-ABBC-8D8AAC04583D}"/>
              </a:ext>
            </a:extLst>
          </p:cNvPr>
          <p:cNvSpPr txBox="1"/>
          <p:nvPr/>
        </p:nvSpPr>
        <p:spPr>
          <a:xfrm>
            <a:off x="2003571" y="1351889"/>
            <a:ext cx="3435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Rising &amp; Falling Time (Same load)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48297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083169-083B-4278-B970-9AEC0B78FA2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9BA44F-5164-456B-8735-C35285372992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79D59286-DE78-4A8B-879E-3640F67D805C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03. Rising &amp; Falling Time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8563A8AE-B20C-46C3-8AB1-284EC1F6C144}"/>
                  </a:ext>
                </a:extLst>
              </p:cNvPr>
              <p:cNvSpPr/>
              <p:nvPr/>
            </p:nvSpPr>
            <p:spPr>
              <a:xfrm>
                <a:off x="8328610" y="1933177"/>
                <a:ext cx="3203312" cy="4236489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endParaRPr lang="en-US" altLang="ko-KR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:r>
                  <a:rPr lang="en-US" altLang="ko-KR" sz="12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Multiplier</a:t>
                </a:r>
                <a:r>
                  <a:rPr lang="ko-KR" altLang="en-US" sz="12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가 </a:t>
                </a:r>
                <a:r>
                  <a:rPr lang="en-US" altLang="ko-KR" sz="12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1X-&gt;2X-&gt;4X</a:t>
                </a:r>
                <a:r>
                  <a:rPr lang="ko-KR" altLang="en-US" sz="12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로 변하며 </a:t>
                </a:r>
                <a:r>
                  <a:rPr lang="en-US" altLang="ko-KR" sz="12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Rise &amp; Fall time </a:t>
                </a:r>
                <a:r>
                  <a:rPr lang="ko-KR" altLang="en-US" sz="1200" spc="129" dirty="0">
                    <a:ea typeface="Calibri" panose="020F0502020204030204" pitchFamily="34" charset="0"/>
                    <a:cs typeface="Calibri" panose="020F0502020204030204" pitchFamily="34" charset="0"/>
                    <a:sym typeface="Source Han Sans KR Bold"/>
                  </a:rPr>
                  <a:t>증가</a:t>
                </a:r>
                <a:endParaRPr lang="en-US" altLang="ko-KR" sz="1200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pc="10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200" i="1" spc="10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200" i="1" spc="10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1</m:t>
                        </m:r>
                        <m:r>
                          <a:rPr lang="en-US" altLang="ko-KR" sz="1200" i="1" spc="10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200" i="1" spc="10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=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+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𝑔𝑑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)=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2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ko-KR" altLang="en-US" sz="1200" spc="104" dirty="0">
                    <a:solidFill>
                      <a:schemeClr val="tx1"/>
                    </a:solidFill>
                    <a:ea typeface="Source Han Sans KR" panose="020B0600000101010101" charset="-127"/>
                    <a:cs typeface="Calibri" panose="020F0502020204030204" pitchFamily="34" charset="0"/>
                    <a:sym typeface="Source Han Sans KR"/>
                  </a:rPr>
                  <a:t>  </a:t>
                </a:r>
                <a:endParaRPr lang="en-US" altLang="ko-KR" sz="1200" spc="104" dirty="0">
                  <a:solidFill>
                    <a:schemeClr val="tx1"/>
                  </a:solidFill>
                  <a:ea typeface="Source Han Sans KR" panose="020B0600000101010101" charset="-127"/>
                  <a:cs typeface="Calibri" panose="020F0502020204030204" pitchFamily="34" charset="0"/>
                  <a:sym typeface="Source Han Sans KR"/>
                </a:endParaRP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2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cs typeface="Source Han Sans KR"/>
                        <a:sym typeface="Source Han Sans KR"/>
                      </a:rPr>
                      <m:t>=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4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+</m:t>
                    </m:r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2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𝑔𝑑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)=</m:t>
                    </m:r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6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=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3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1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 </m:t>
                    </m:r>
                  </m:oMath>
                </a14:m>
                <a:r>
                  <a:rPr lang="en-US" altLang="ko-KR" sz="1200" spc="104" dirty="0">
                    <a:solidFill>
                      <a:schemeClr val="tx1"/>
                    </a:solidFill>
                    <a:ea typeface="Source Han Sans KR" panose="020B0600000101010101" charset="-127"/>
                    <a:cs typeface="Calibri" panose="020F0502020204030204" pitchFamily="34" charset="0"/>
                    <a:sym typeface="Source Han Sans KR"/>
                  </a:rPr>
                  <a:t> </a:t>
                </a:r>
              </a:p>
              <a:p>
                <a:pPr lvl="0" latinLnBrk="0">
                  <a:lnSpc>
                    <a:spcPct val="150000"/>
                  </a:lnSpc>
                  <a:spcBef>
                    <a:spcPct val="0"/>
                  </a:spcBef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4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cs typeface="Source Han Sans KR"/>
                        <a:sym typeface="Source Han Sans KR"/>
                      </a:rPr>
                      <m:t>=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16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+</m:t>
                    </m:r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4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𝑔𝑑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)=</m:t>
                    </m:r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20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𝑔𝑠</m:t>
                        </m:r>
                      </m:sub>
                    </m:sSub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=</m:t>
                    </m:r>
                    <m:r>
                      <a:rPr lang="en-US" altLang="ko-KR" sz="1200" i="1" spc="104">
                        <a:latin typeface="Cambria Math" panose="02040503050406030204" pitchFamily="18" charset="0"/>
                        <a:ea typeface="Source Han Sans KR"/>
                        <a:sym typeface="Source Han Sans KR"/>
                      </a:rPr>
                      <m:t>10</m:t>
                    </m:r>
                    <m:sSub>
                      <m:sSubPr>
                        <m:ctrlP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</m:ctrlPr>
                      </m:sSubPr>
                      <m:e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𝐶</m:t>
                        </m:r>
                      </m:e>
                      <m:sub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𝐿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(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1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𝑋</m:t>
                        </m:r>
                        <m:r>
                          <a:rPr lang="en-US" altLang="ko-KR" sz="1200" i="1" spc="104">
                            <a:latin typeface="Cambria Math" panose="02040503050406030204" pitchFamily="18" charset="0"/>
                            <a:ea typeface="Source Han Sans KR"/>
                            <a:sym typeface="Source Han Sans KR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ko-KR" sz="1200" spc="104" dirty="0">
                    <a:ea typeface="Source Han Sans KR" panose="020B0600000101010101" charset="-127"/>
                    <a:cs typeface="Calibri" panose="020F0502020204030204" pitchFamily="34" charset="0"/>
                    <a:sym typeface="Source Han Sans KR"/>
                  </a:rPr>
                  <a:t> </a:t>
                </a:r>
              </a:p>
              <a:p>
                <a:pPr lvl="1" latinLnBrk="0">
                  <a:lnSpc>
                    <a:spcPts val="2749"/>
                  </a:lnSpc>
                  <a:spcBef>
                    <a:spcPct val="0"/>
                  </a:spcBef>
                  <a:defRPr/>
                </a:pPr>
                <a:r>
                  <a:rPr lang="en-US" altLang="ko-KR" spc="104" dirty="0">
                    <a:solidFill>
                      <a:schemeClr val="tx1"/>
                    </a:solidFill>
                    <a:ea typeface="Source Han Sans KR" panose="020B0600000101010101" charset="-127"/>
                    <a:cs typeface="Calibri" panose="020F0502020204030204" pitchFamily="34" charset="0"/>
                    <a:sym typeface="Source Han Sans KR"/>
                  </a:rPr>
                  <a:t> </a:t>
                </a:r>
                <a:endParaRPr lang="en-US" altLang="ko-KR" spc="104" dirty="0">
                  <a:ea typeface="Source Han Sans KR" panose="020B0600000101010101" charset="-127"/>
                  <a:cs typeface="Calibri" panose="020F0502020204030204" pitchFamily="34" charset="0"/>
                  <a:sym typeface="Source Han Sans KR"/>
                </a:endParaRPr>
              </a:p>
              <a:p>
                <a:endParaRPr lang="en-US" altLang="ko-KR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b="1" spc="129" dirty="0">
                  <a:ea typeface="Calibri" panose="020F0502020204030204" pitchFamily="34" charset="0"/>
                  <a:cs typeface="Calibri" panose="020F0502020204030204" pitchFamily="34" charset="0"/>
                  <a:sym typeface="Source Han Sans KR Bold"/>
                </a:endParaRP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br>
                  <a:rPr lang="en-US" altLang="ko-KR" dirty="0"/>
                </a:br>
                <a:br>
                  <a:rPr lang="en-US" altLang="ko-KR" dirty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8563A8AE-B20C-46C3-8AB1-284EC1F6C1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610" y="1933177"/>
                <a:ext cx="3203312" cy="4236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355AA624-5780-4C85-8E69-7DDBDCE89A61}"/>
              </a:ext>
            </a:extLst>
          </p:cNvPr>
          <p:cNvSpPr/>
          <p:nvPr/>
        </p:nvSpPr>
        <p:spPr>
          <a:xfrm>
            <a:off x="3424632" y="1991878"/>
            <a:ext cx="151429" cy="27315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CF0893-5262-4404-8BD4-E6D14F4C5FA7}"/>
              </a:ext>
            </a:extLst>
          </p:cNvPr>
          <p:cNvSpPr/>
          <p:nvPr/>
        </p:nvSpPr>
        <p:spPr>
          <a:xfrm>
            <a:off x="3246993" y="4723429"/>
            <a:ext cx="506706" cy="256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감소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CC4A9F-D5B7-4767-ABBC-8D8AAC04583D}"/>
              </a:ext>
            </a:extLst>
          </p:cNvPr>
          <p:cNvSpPr txBox="1"/>
          <p:nvPr/>
        </p:nvSpPr>
        <p:spPr>
          <a:xfrm>
            <a:off x="2003571" y="1351889"/>
            <a:ext cx="3192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Rising &amp; Falling Time (multi load)</a:t>
            </a:r>
            <a:endParaRPr lang="ko-KR" alt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11058BE-BBDE-4390-A1F8-72F0D5BF8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863" y="1824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FB12C2-20F7-4E76-B760-9A0DA616C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815823"/>
              </p:ext>
            </p:extLst>
          </p:nvPr>
        </p:nvGraphicFramePr>
        <p:xfrm>
          <a:off x="2000431" y="1933177"/>
          <a:ext cx="5971072" cy="4239956"/>
        </p:xfrm>
        <a:graphic>
          <a:graphicData uri="http://schemas.openxmlformats.org/drawingml/2006/table">
            <a:tbl>
              <a:tblPr/>
              <a:tblGrid>
                <a:gridCol w="746384">
                  <a:extLst>
                    <a:ext uri="{9D8B030D-6E8A-4147-A177-3AD203B41FA5}">
                      <a16:colId xmlns:a16="http://schemas.microsoft.com/office/drawing/2014/main" val="4024444705"/>
                    </a:ext>
                  </a:extLst>
                </a:gridCol>
                <a:gridCol w="746384">
                  <a:extLst>
                    <a:ext uri="{9D8B030D-6E8A-4147-A177-3AD203B41FA5}">
                      <a16:colId xmlns:a16="http://schemas.microsoft.com/office/drawing/2014/main" val="3300558362"/>
                    </a:ext>
                  </a:extLst>
                </a:gridCol>
                <a:gridCol w="746384">
                  <a:extLst>
                    <a:ext uri="{9D8B030D-6E8A-4147-A177-3AD203B41FA5}">
                      <a16:colId xmlns:a16="http://schemas.microsoft.com/office/drawing/2014/main" val="829632714"/>
                    </a:ext>
                  </a:extLst>
                </a:gridCol>
                <a:gridCol w="746384">
                  <a:extLst>
                    <a:ext uri="{9D8B030D-6E8A-4147-A177-3AD203B41FA5}">
                      <a16:colId xmlns:a16="http://schemas.microsoft.com/office/drawing/2014/main" val="2681705776"/>
                    </a:ext>
                  </a:extLst>
                </a:gridCol>
                <a:gridCol w="746384">
                  <a:extLst>
                    <a:ext uri="{9D8B030D-6E8A-4147-A177-3AD203B41FA5}">
                      <a16:colId xmlns:a16="http://schemas.microsoft.com/office/drawing/2014/main" val="1112024904"/>
                    </a:ext>
                  </a:extLst>
                </a:gridCol>
                <a:gridCol w="746384">
                  <a:extLst>
                    <a:ext uri="{9D8B030D-6E8A-4147-A177-3AD203B41FA5}">
                      <a16:colId xmlns:a16="http://schemas.microsoft.com/office/drawing/2014/main" val="3566833765"/>
                    </a:ext>
                  </a:extLst>
                </a:gridCol>
                <a:gridCol w="746384">
                  <a:extLst>
                    <a:ext uri="{9D8B030D-6E8A-4147-A177-3AD203B41FA5}">
                      <a16:colId xmlns:a16="http://schemas.microsoft.com/office/drawing/2014/main" val="2465818267"/>
                    </a:ext>
                  </a:extLst>
                </a:gridCol>
                <a:gridCol w="746384">
                  <a:extLst>
                    <a:ext uri="{9D8B030D-6E8A-4147-A177-3AD203B41FA5}">
                      <a16:colId xmlns:a16="http://schemas.microsoft.com/office/drawing/2014/main" val="2094911662"/>
                    </a:ext>
                  </a:extLst>
                </a:gridCol>
              </a:tblGrid>
              <a:tr h="305718">
                <a:tc gridSpan="2">
                  <a:txBody>
                    <a:bodyPr/>
                    <a:lstStyle/>
                    <a:p>
                      <a:pPr fontAlgn="t"/>
                      <a:r>
                        <a:rPr lang="ko-KR" altLang="en-US" sz="1300">
                          <a:effectLst/>
                        </a:rPr>
                        <a:t> </a:t>
                      </a: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FF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NN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SS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748182"/>
                  </a:ext>
                </a:extLst>
              </a:tr>
              <a:tr h="305718">
                <a:tc gridSpan="2">
                  <a:txBody>
                    <a:bodyPr/>
                    <a:lstStyle/>
                    <a:p>
                      <a:pPr fontAlgn="t"/>
                      <a:r>
                        <a:rPr lang="ko-KR" altLang="en-US" sz="1300">
                          <a:effectLst/>
                        </a:rPr>
                        <a:t> </a:t>
                      </a: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RISE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FALL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RISE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FALL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RISE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FALL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374454"/>
                  </a:ext>
                </a:extLst>
              </a:tr>
              <a:tr h="40278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  <a:endParaRPr lang="en-US" sz="13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39.92p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42.30p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50.70p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54.30p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64.72p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73.57p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865130"/>
                  </a:ext>
                </a:extLst>
              </a:tr>
              <a:tr h="402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57.90p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64.70p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73.50p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82.70p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92.93p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111.04p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851772"/>
                  </a:ext>
                </a:extLst>
              </a:tr>
              <a:tr h="402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87.85p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108.48p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111.39p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137.88p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141.82p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183.14p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495270"/>
                  </a:ext>
                </a:extLst>
              </a:tr>
              <a:tr h="40278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  <a:endParaRPr lang="en-US" sz="13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14.53p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14.90p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21.25p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23.80p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35.58p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43.00p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383922"/>
                  </a:ext>
                </a:extLst>
              </a:tr>
              <a:tr h="402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20.93p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23.23p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30.63p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36.76p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50.83p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67.11p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300331"/>
                  </a:ext>
                </a:extLst>
              </a:tr>
              <a:tr h="402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34.49p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39.90p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49.28p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63.13p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80.54p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115.17p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44142"/>
                  </a:ext>
                </a:extLst>
              </a:tr>
              <a:tr h="40278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en-US" sz="13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14.01p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12.91p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10.99p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8.98p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14.10p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12.91p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768369"/>
                  </a:ext>
                </a:extLst>
              </a:tr>
              <a:tr h="402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22.23p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19.84p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16.83p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13.96p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22.23p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935901"/>
                  </a:ext>
                </a:extLst>
              </a:tr>
              <a:tr h="402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36.57p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33.21p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27.33p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22.78p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36.57p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33.21p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495378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D1B444A2-30E8-4EA5-A16D-77C69D54A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863" y="1824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3758D5-ECBD-4C9D-87FA-AB8CEEA5B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834" y="4193146"/>
            <a:ext cx="3050863" cy="1344054"/>
          </a:xfrm>
          <a:prstGeom prst="rect">
            <a:avLst/>
          </a:prstGeom>
        </p:spPr>
      </p:pic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4B326285-7D4D-43FF-9738-81CD871BD3E4}"/>
              </a:ext>
            </a:extLst>
          </p:cNvPr>
          <p:cNvSpPr/>
          <p:nvPr/>
        </p:nvSpPr>
        <p:spPr>
          <a:xfrm>
            <a:off x="6231929" y="2616301"/>
            <a:ext cx="45719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2DE2B2AB-64E3-4DE9-8311-79CC7791BDF7}"/>
              </a:ext>
            </a:extLst>
          </p:cNvPr>
          <p:cNvSpPr/>
          <p:nvPr/>
        </p:nvSpPr>
        <p:spPr>
          <a:xfrm>
            <a:off x="6350463" y="2616301"/>
            <a:ext cx="45719" cy="812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DAB25-340A-4008-8708-DF11A2892376}"/>
              </a:ext>
            </a:extLst>
          </p:cNvPr>
          <p:cNvSpPr txBox="1"/>
          <p:nvPr/>
        </p:nvSpPr>
        <p:spPr>
          <a:xfrm>
            <a:off x="5724290" y="264733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X1.5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B07283-D61B-4652-8E24-771394E15201}"/>
              </a:ext>
            </a:extLst>
          </p:cNvPr>
          <p:cNvSpPr txBox="1"/>
          <p:nvPr/>
        </p:nvSpPr>
        <p:spPr>
          <a:xfrm>
            <a:off x="6325017" y="2645393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X2.5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C59AFA48-873A-41F2-A733-0A361C4E2801}"/>
              </a:ext>
            </a:extLst>
          </p:cNvPr>
          <p:cNvSpPr/>
          <p:nvPr/>
        </p:nvSpPr>
        <p:spPr>
          <a:xfrm>
            <a:off x="6242234" y="3799892"/>
            <a:ext cx="45719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3990068A-1A45-4E12-8F40-2CF6F5B86661}"/>
              </a:ext>
            </a:extLst>
          </p:cNvPr>
          <p:cNvSpPr/>
          <p:nvPr/>
        </p:nvSpPr>
        <p:spPr>
          <a:xfrm>
            <a:off x="6360768" y="3799892"/>
            <a:ext cx="45719" cy="812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18486C-E217-4D92-BDE6-60B42D82DFFC}"/>
              </a:ext>
            </a:extLst>
          </p:cNvPr>
          <p:cNvSpPr txBox="1"/>
          <p:nvPr/>
        </p:nvSpPr>
        <p:spPr>
          <a:xfrm>
            <a:off x="5734595" y="3830926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X1.5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12D641-81FE-4510-B1AD-5EBD9532644C}"/>
              </a:ext>
            </a:extLst>
          </p:cNvPr>
          <p:cNvSpPr txBox="1"/>
          <p:nvPr/>
        </p:nvSpPr>
        <p:spPr>
          <a:xfrm>
            <a:off x="6335322" y="3828984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X2.5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31F049AB-B403-4B40-8EB7-CC94519110FA}"/>
              </a:ext>
            </a:extLst>
          </p:cNvPr>
          <p:cNvSpPr/>
          <p:nvPr/>
        </p:nvSpPr>
        <p:spPr>
          <a:xfrm>
            <a:off x="6186210" y="5021803"/>
            <a:ext cx="45719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5D12138C-3F95-45B5-B41C-49ECA65F9FC1}"/>
              </a:ext>
            </a:extLst>
          </p:cNvPr>
          <p:cNvSpPr/>
          <p:nvPr/>
        </p:nvSpPr>
        <p:spPr>
          <a:xfrm>
            <a:off x="6304744" y="5021803"/>
            <a:ext cx="45719" cy="812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876D54-56A7-4112-B2C5-ADF05787F25D}"/>
              </a:ext>
            </a:extLst>
          </p:cNvPr>
          <p:cNvSpPr txBox="1"/>
          <p:nvPr/>
        </p:nvSpPr>
        <p:spPr>
          <a:xfrm>
            <a:off x="5678571" y="5052837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X1.5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48769F-F890-43DA-B3F8-2966507890C6}"/>
              </a:ext>
            </a:extLst>
          </p:cNvPr>
          <p:cNvSpPr txBox="1"/>
          <p:nvPr/>
        </p:nvSpPr>
        <p:spPr>
          <a:xfrm>
            <a:off x="6279298" y="505089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X2.5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006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03. Rising &amp; Falling Time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571" y="1351889"/>
            <a:ext cx="3579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Rising &amp; Falling Time</a:t>
            </a:r>
            <a:endParaRPr lang="ko-KR" altLang="en-US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193DF9E-FB41-4C87-ADAB-EA36F1C67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688" y="20221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836397-4167-4C09-88AC-82F0A0962CD3}"/>
              </a:ext>
            </a:extLst>
          </p:cNvPr>
          <p:cNvSpPr/>
          <p:nvPr/>
        </p:nvSpPr>
        <p:spPr>
          <a:xfrm>
            <a:off x="8561030" y="1951507"/>
            <a:ext cx="3435327" cy="47857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Rise time &amp; Fall time </a:t>
            </a:r>
            <a:r>
              <a:rPr lang="ko-KR" altLang="en-US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일치하지 않는 이유</a:t>
            </a:r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:</a:t>
            </a:r>
            <a:b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</a:br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ko-KR" altLang="en-US" sz="105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일반적으로</a:t>
            </a:r>
            <a:endParaRPr lang="en-US" altLang="ko-KR" sz="105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5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pPr algn="ctr"/>
            <a:r>
              <a:rPr lang="el-GR" altLang="ko-KR" sz="1600" b="1" i="1" dirty="0"/>
              <a:t>μ</a:t>
            </a:r>
            <a:r>
              <a:rPr lang="en-US" altLang="ko-KR" sz="1600" b="1" i="1" baseline="-25000" dirty="0"/>
              <a:t>n</a:t>
            </a:r>
            <a:r>
              <a:rPr lang="en-US" altLang="ko-KR" sz="1600" b="1" i="1" dirty="0"/>
              <a:t> &gt;</a:t>
            </a:r>
            <a:r>
              <a:rPr lang="el-GR" altLang="ko-KR" sz="1600" b="1" i="1" dirty="0"/>
              <a:t>μ</a:t>
            </a:r>
            <a:r>
              <a:rPr lang="en-US" altLang="ko-KR" sz="1600" b="1" i="1" baseline="-25000" dirty="0"/>
              <a:t>p</a:t>
            </a:r>
            <a:r>
              <a:rPr lang="en-US" altLang="ko-KR" sz="1600" b="1" i="1" dirty="0"/>
              <a:t> </a:t>
            </a:r>
            <a:endParaRPr lang="en-US" altLang="ko-KR" sz="16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en-US" altLang="ko-KR" sz="1000" b="1" dirty="0"/>
              <a:t>pull-down(</a:t>
            </a:r>
            <a:r>
              <a:rPr lang="ko-KR" altLang="en-US" sz="1000" b="1" dirty="0"/>
              <a:t>방전</a:t>
            </a:r>
            <a:r>
              <a:rPr lang="en-US" altLang="ko-KR" sz="1000" b="1" dirty="0"/>
              <a:t>) </a:t>
            </a:r>
            <a:r>
              <a:rPr lang="ko-KR" altLang="en-US" sz="1000" b="1" dirty="0"/>
              <a:t>동작을 하는 </a:t>
            </a:r>
            <a:r>
              <a:rPr lang="en-US" altLang="ko-KR" sz="1000" b="1" dirty="0"/>
              <a:t>NMOS</a:t>
            </a:r>
            <a:r>
              <a:rPr lang="ko-KR" altLang="en-US" sz="1000" b="1" dirty="0"/>
              <a:t>가 </a:t>
            </a:r>
            <a:endParaRPr lang="en-US" altLang="ko-KR" sz="1000" b="1" dirty="0"/>
          </a:p>
          <a:p>
            <a:r>
              <a:rPr lang="en-US" altLang="ko-KR" sz="1000" b="1" dirty="0"/>
              <a:t>pull-up(</a:t>
            </a:r>
            <a:r>
              <a:rPr lang="ko-KR" altLang="en-US" sz="1000" b="1" dirty="0"/>
              <a:t>충전</a:t>
            </a:r>
            <a:r>
              <a:rPr lang="en-US" altLang="ko-KR" sz="1000" b="1" dirty="0"/>
              <a:t>) </a:t>
            </a:r>
            <a:r>
              <a:rPr lang="ko-KR" altLang="en-US" sz="1000" b="1" dirty="0"/>
              <a:t>동작을 하는 </a:t>
            </a:r>
            <a:r>
              <a:rPr lang="en-US" altLang="ko-KR" sz="1000" b="1" dirty="0"/>
              <a:t>PMOS</a:t>
            </a:r>
            <a:r>
              <a:rPr lang="ko-KR" altLang="en-US" sz="1000" b="1" dirty="0"/>
              <a:t>보다 더 빠른 동작</a:t>
            </a:r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br>
              <a:rPr lang="en-US" altLang="ko-KR" sz="1000" dirty="0"/>
            </a:br>
            <a:br>
              <a:rPr lang="en-US" altLang="ko-KR" sz="1000" dirty="0"/>
            </a:br>
            <a:endParaRPr lang="ko-KR" altLang="en-US" sz="10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95D8151-1B42-4B6D-AA12-F2FECAA8154B}"/>
              </a:ext>
            </a:extLst>
          </p:cNvPr>
          <p:cNvGrpSpPr/>
          <p:nvPr/>
        </p:nvGrpSpPr>
        <p:grpSpPr>
          <a:xfrm>
            <a:off x="1883299" y="2054406"/>
            <a:ext cx="6442725" cy="4648490"/>
            <a:chOff x="1031321" y="1674633"/>
            <a:chExt cx="7385539" cy="506262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CBE2D39-3EF1-4011-BB2F-8973775BE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1321" y="1951506"/>
              <a:ext cx="7385539" cy="4785747"/>
            </a:xfrm>
            <a:prstGeom prst="rect">
              <a:avLst/>
            </a:prstGeom>
          </p:spPr>
        </p:pic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2DE98B24-4E3F-4240-9630-65CBA909761D}"/>
                </a:ext>
              </a:extLst>
            </p:cNvPr>
            <p:cNvSpPr/>
            <p:nvPr/>
          </p:nvSpPr>
          <p:spPr>
            <a:xfrm>
              <a:off x="2761647" y="2336888"/>
              <a:ext cx="942536" cy="395302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AFFC4CA-9B33-48FF-9A91-1DD1DAA3AE3C}"/>
                </a:ext>
              </a:extLst>
            </p:cNvPr>
            <p:cNvSpPr/>
            <p:nvPr/>
          </p:nvSpPr>
          <p:spPr>
            <a:xfrm>
              <a:off x="6501308" y="2367868"/>
              <a:ext cx="942536" cy="395302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84DFA0D0-C927-48E4-91C9-B8BA65F8AD65}"/>
                </a:ext>
              </a:extLst>
            </p:cNvPr>
            <p:cNvCxnSpPr/>
            <p:nvPr/>
          </p:nvCxnSpPr>
          <p:spPr>
            <a:xfrm flipV="1">
              <a:off x="3465032" y="1674633"/>
              <a:ext cx="1744394" cy="69323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0FFD040B-B222-45E6-93AD-59C31818CBAE}"/>
                </a:ext>
              </a:extLst>
            </p:cNvPr>
            <p:cNvCxnSpPr>
              <a:stCxn id="22" idx="0"/>
            </p:cNvCxnSpPr>
            <p:nvPr/>
          </p:nvCxnSpPr>
          <p:spPr>
            <a:xfrm flipH="1" flipV="1">
              <a:off x="5209426" y="1674633"/>
              <a:ext cx="1763150" cy="69323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A8841F0-C2DF-4DE7-8974-C076715564FA}"/>
              </a:ext>
            </a:extLst>
          </p:cNvPr>
          <p:cNvSpPr txBox="1"/>
          <p:nvPr/>
        </p:nvSpPr>
        <p:spPr>
          <a:xfrm>
            <a:off x="4295918" y="1797117"/>
            <a:ext cx="25747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Rise time Fall time </a:t>
            </a:r>
            <a:r>
              <a:rPr lang="ko-KR" altLang="en-US" dirty="0"/>
              <a:t>다른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879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03. Rising &amp; Falling Time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571" y="1351889"/>
            <a:ext cx="3579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Rising &amp; Falling Time(scale down) </a:t>
            </a:r>
            <a:endParaRPr lang="ko-KR" altLang="en-US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193DF9E-FB41-4C87-ADAB-EA36F1C67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688" y="20221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D94E903-D78F-467B-803B-79A1C33120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929797" y="1874140"/>
          <a:ext cx="4648200" cy="4785750"/>
        </p:xfrm>
        <a:graphic>
          <a:graphicData uri="http://schemas.openxmlformats.org/drawingml/2006/table">
            <a:tbl>
              <a:tblPr/>
              <a:tblGrid>
                <a:gridCol w="1162050">
                  <a:extLst>
                    <a:ext uri="{9D8B030D-6E8A-4147-A177-3AD203B41FA5}">
                      <a16:colId xmlns:a16="http://schemas.microsoft.com/office/drawing/2014/main" val="3883940805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830696335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3229191429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788997503"/>
                    </a:ext>
                  </a:extLst>
                </a:gridCol>
              </a:tblGrid>
              <a:tr h="330740">
                <a:tc rowSpan="2"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NN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72137"/>
                  </a:ext>
                </a:extLst>
              </a:tr>
              <a:tr h="445501">
                <a:tc gridSpan="2"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RISE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FALL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628938"/>
                  </a:ext>
                </a:extLst>
              </a:tr>
              <a:tr h="445501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  <a:endParaRPr lang="en-US" sz="11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50.70p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54.30p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995204"/>
                  </a:ext>
                </a:extLst>
              </a:tr>
              <a:tr h="445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73.50p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82.70p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011228"/>
                  </a:ext>
                </a:extLst>
              </a:tr>
              <a:tr h="445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111.39p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137.88p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692456"/>
                  </a:ext>
                </a:extLst>
              </a:tr>
              <a:tr h="445501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  <a:endParaRPr lang="en-US" sz="11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10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21.25p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23.80p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700861"/>
                  </a:ext>
                </a:extLst>
              </a:tr>
              <a:tr h="445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30.63p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36.76p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743311"/>
                  </a:ext>
                </a:extLst>
              </a:tr>
              <a:tr h="445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49.28p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63.13p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251160"/>
                  </a:ext>
                </a:extLst>
              </a:tr>
              <a:tr h="445501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en-US" sz="11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(nm)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10.99p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8.98p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952518"/>
                  </a:ext>
                </a:extLst>
              </a:tr>
              <a:tr h="445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16.83p</a:t>
                      </a:r>
                      <a:endParaRPr lang="en-US" sz="130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13.96p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49273"/>
                  </a:ext>
                </a:extLst>
              </a:tr>
              <a:tr h="445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4X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27.33p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22.78p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875113"/>
                  </a:ext>
                </a:extLst>
              </a:tr>
            </a:tbl>
          </a:graphicData>
        </a:graphic>
      </p:graphicFrame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7AB7C06-FF8F-4255-AFA9-E463F77EC95F}"/>
              </a:ext>
            </a:extLst>
          </p:cNvPr>
          <p:cNvSpPr/>
          <p:nvPr/>
        </p:nvSpPr>
        <p:spPr>
          <a:xfrm>
            <a:off x="5143092" y="2735001"/>
            <a:ext cx="562708" cy="211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0F2BD2C-A99D-454B-A900-A0E675FA1E30}"/>
              </a:ext>
            </a:extLst>
          </p:cNvPr>
          <p:cNvSpPr/>
          <p:nvPr/>
        </p:nvSpPr>
        <p:spPr>
          <a:xfrm>
            <a:off x="5143092" y="4055999"/>
            <a:ext cx="562708" cy="211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62027719-1DF4-4AC7-A930-37F2D0B8FFF8}"/>
              </a:ext>
            </a:extLst>
          </p:cNvPr>
          <p:cNvSpPr/>
          <p:nvPr/>
        </p:nvSpPr>
        <p:spPr>
          <a:xfrm>
            <a:off x="5143092" y="5457100"/>
            <a:ext cx="562708" cy="211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9C3D51-FBC1-496D-BCBF-7ABEBBD722BB}"/>
              </a:ext>
            </a:extLst>
          </p:cNvPr>
          <p:cNvSpPr txBox="1"/>
          <p:nvPr/>
        </p:nvSpPr>
        <p:spPr>
          <a:xfrm>
            <a:off x="5143091" y="2865914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3.7p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9F3E30-F96E-4D4B-BFE4-ADE9C595A765}"/>
              </a:ext>
            </a:extLst>
          </p:cNvPr>
          <p:cNvSpPr txBox="1"/>
          <p:nvPr/>
        </p:nvSpPr>
        <p:spPr>
          <a:xfrm>
            <a:off x="5108494" y="416150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2.55p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829F32-F8EE-4EF9-A38F-D980467F7A8E}"/>
              </a:ext>
            </a:extLst>
          </p:cNvPr>
          <p:cNvSpPr txBox="1"/>
          <p:nvPr/>
        </p:nvSpPr>
        <p:spPr>
          <a:xfrm>
            <a:off x="5113436" y="5560574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-2.01p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E7173A-A6F8-4238-B93D-27323D2799CB}"/>
              </a:ext>
            </a:extLst>
          </p:cNvPr>
          <p:cNvSpPr/>
          <p:nvPr/>
        </p:nvSpPr>
        <p:spPr>
          <a:xfrm>
            <a:off x="7597176" y="1874140"/>
            <a:ext cx="3435327" cy="47857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en-US" altLang="ko-KR" b="1" spc="129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E</a:t>
            </a:r>
            <a:r>
              <a:rPr lang="en-US" altLang="ko-KR" b="1" spc="129" baseline="-25000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lat</a:t>
            </a:r>
            <a:r>
              <a:rPr lang="en-US" altLang="ko-KR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 = </a:t>
            </a:r>
            <a:r>
              <a:rPr lang="en-US" altLang="ko-KR" b="1" spc="129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V</a:t>
            </a:r>
            <a:r>
              <a:rPr lang="en-US" altLang="ko-KR" b="1" spc="129" baseline="-25000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ds</a:t>
            </a:r>
            <a:r>
              <a:rPr lang="en-US" altLang="ko-KR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/L</a:t>
            </a:r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 </a:t>
            </a:r>
            <a:r>
              <a:rPr lang="en-US" altLang="ko-KR" sz="8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(L = </a:t>
            </a:r>
            <a:r>
              <a:rPr lang="ko-KR" altLang="en-US" sz="8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공정길이</a:t>
            </a:r>
            <a:r>
              <a:rPr lang="en-US" altLang="ko-KR" sz="8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)(</a:t>
            </a:r>
            <a:r>
              <a:rPr lang="ko-KR" altLang="en-US" sz="800" b="1" spc="129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횡전계</a:t>
            </a:r>
            <a:r>
              <a:rPr lang="en-US" altLang="ko-KR" sz="8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)</a:t>
            </a:r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en-US" altLang="ko-KR" sz="1000" b="1" spc="129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E</a:t>
            </a:r>
            <a:r>
              <a:rPr lang="en-US" altLang="ko-KR" sz="1000" b="1" spc="129" baseline="-25000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sat.n</a:t>
            </a:r>
            <a:r>
              <a:rPr lang="en-US" altLang="ko-KR" sz="1000" b="1" spc="129" baseline="-25000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 </a:t>
            </a:r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&lt; </a:t>
            </a:r>
            <a:r>
              <a:rPr lang="en-US" altLang="ko-KR" sz="1000" b="1" spc="129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E</a:t>
            </a:r>
            <a:r>
              <a:rPr lang="en-US" altLang="ko-KR" sz="1000" b="1" spc="129" baseline="-25000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sat.p</a:t>
            </a:r>
            <a:endParaRPr lang="en-US" altLang="ko-KR" sz="1000" b="1" spc="129" baseline="-25000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en-US" altLang="ko-KR" sz="1000" b="1" spc="129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E</a:t>
            </a:r>
            <a:r>
              <a:rPr lang="en-US" altLang="ko-KR" sz="1000" b="1" spc="129" baseline="-25000" dirty="0" err="1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lat</a:t>
            </a:r>
            <a:r>
              <a:rPr lang="ko-KR" altLang="en-US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이 증가하면 </a:t>
            </a:r>
            <a:r>
              <a:rPr lang="el-GR" altLang="ko-KR" b="1" i="1" dirty="0"/>
              <a:t>μ</a:t>
            </a:r>
            <a:r>
              <a:rPr lang="en-US" altLang="ko-KR" b="1" i="1" baseline="-25000" dirty="0"/>
              <a:t>n</a:t>
            </a:r>
            <a:r>
              <a:rPr lang="en-US" altLang="ko-KR" b="1" i="1" dirty="0"/>
              <a:t> </a:t>
            </a:r>
            <a:r>
              <a:rPr lang="ko-KR" altLang="en-US" sz="1000" b="1" i="1" dirty="0" err="1"/>
              <a:t>저하폭</a:t>
            </a:r>
            <a:r>
              <a:rPr lang="ko-KR" altLang="en-US" b="1" i="1" dirty="0"/>
              <a:t> </a:t>
            </a:r>
            <a:r>
              <a:rPr lang="en-US" altLang="ko-KR" b="1" i="1" dirty="0"/>
              <a:t>&lt;</a:t>
            </a:r>
            <a:r>
              <a:rPr lang="el-GR" altLang="ko-KR" b="1" i="1" dirty="0"/>
              <a:t>μ</a:t>
            </a:r>
            <a:r>
              <a:rPr lang="en-US" altLang="ko-KR" b="1" i="1" baseline="-25000" dirty="0"/>
              <a:t>p</a:t>
            </a:r>
            <a:r>
              <a:rPr lang="en-US" altLang="ko-KR" b="1" i="1" dirty="0"/>
              <a:t> </a:t>
            </a:r>
            <a:r>
              <a:rPr lang="ko-KR" altLang="en-US" sz="1000" b="1" i="1" dirty="0" err="1"/>
              <a:t>저하폭</a:t>
            </a:r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-&gt; pull –down </a:t>
            </a:r>
            <a:r>
              <a:rPr lang="ko-KR" altLang="en-US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성능 ↑ 우위 강화</a:t>
            </a:r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en-US" altLang="ko-KR" b="1" i="1" dirty="0" err="1"/>
              <a:t>R</a:t>
            </a:r>
            <a:r>
              <a:rPr lang="en-US" altLang="ko-KR" b="1" i="1" baseline="-25000" dirty="0" err="1"/>
              <a:t>on</a:t>
            </a:r>
            <a:r>
              <a:rPr lang="en-US" altLang="ko-KR" b="1" baseline="-25000" dirty="0" err="1"/>
              <a:t>,</a:t>
            </a:r>
            <a:r>
              <a:rPr lang="en-US" altLang="ko-KR" b="1" i="1" baseline="-25000" dirty="0" err="1"/>
              <a:t>n</a:t>
            </a:r>
            <a:r>
              <a:rPr lang="en-US" altLang="ko-KR" b="1" i="1" dirty="0"/>
              <a:t> =  1/</a:t>
            </a:r>
            <a:r>
              <a:rPr lang="el-GR" altLang="ko-KR" b="1" i="1" dirty="0"/>
              <a:t>μ</a:t>
            </a:r>
            <a:r>
              <a:rPr lang="en-US" altLang="ko-KR" b="1" baseline="-25000" dirty="0" err="1"/>
              <a:t>eff</a:t>
            </a:r>
            <a:r>
              <a:rPr lang="en-US" altLang="ko-KR" b="1" dirty="0" err="1"/>
              <a:t>,</a:t>
            </a:r>
            <a:r>
              <a:rPr lang="en-US" altLang="ko-KR" b="1" i="1" baseline="-25000" dirty="0" err="1"/>
              <a:t>n</a:t>
            </a:r>
            <a:r>
              <a:rPr lang="en-US" altLang="ko-KR" b="1" i="1" dirty="0" err="1"/>
              <a:t>C</a:t>
            </a:r>
            <a:r>
              <a:rPr lang="en-US" altLang="ko-KR" b="1" i="1" baseline="-25000" dirty="0" err="1"/>
              <a:t>ox</a:t>
            </a:r>
            <a:r>
              <a:rPr lang="en-US" altLang="ko-KR" b="1" i="1" dirty="0" err="1"/>
              <a:t>W</a:t>
            </a:r>
            <a:r>
              <a:rPr lang="en-US" altLang="ko-KR" b="1" i="1" baseline="-25000" dirty="0" err="1"/>
              <a:t>n</a:t>
            </a:r>
            <a:r>
              <a:rPr lang="en-US" altLang="ko-KR" b="1" dirty="0"/>
              <a:t>(</a:t>
            </a:r>
            <a:r>
              <a:rPr lang="en-US" altLang="ko-KR" b="1" i="1" dirty="0"/>
              <a:t>V</a:t>
            </a:r>
            <a:r>
              <a:rPr lang="en-US" altLang="ko-KR" b="1" i="1" baseline="-25000" dirty="0"/>
              <a:t>GS</a:t>
            </a:r>
            <a:r>
              <a:rPr lang="en-US" altLang="ko-KR" b="1" dirty="0"/>
              <a:t>−</a:t>
            </a:r>
            <a:r>
              <a:rPr lang="en-US" altLang="ko-KR" b="1" i="1" dirty="0" err="1"/>
              <a:t>V</a:t>
            </a:r>
            <a:r>
              <a:rPr lang="en-US" altLang="ko-KR" b="1" i="1" baseline="-25000" dirty="0" err="1"/>
              <a:t>T</a:t>
            </a:r>
            <a:r>
              <a:rPr lang="en-US" altLang="ko-KR" b="1" baseline="-25000" dirty="0" err="1"/>
              <a:t>,</a:t>
            </a:r>
            <a:r>
              <a:rPr lang="en-US" altLang="ko-KR" b="1" i="1" baseline="-25000" dirty="0" err="1"/>
              <a:t>n</a:t>
            </a:r>
            <a:r>
              <a:rPr lang="en-US" altLang="ko-KR" b="1" dirty="0"/>
              <a:t>)  </a:t>
            </a:r>
            <a:r>
              <a:rPr lang="ko-KR" altLang="en-US" b="1" dirty="0">
                <a:solidFill>
                  <a:srgbClr val="FF0000"/>
                </a:solidFill>
              </a:rPr>
              <a:t>↓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br>
              <a:rPr lang="en-US" altLang="ko-KR" dirty="0"/>
            </a:br>
            <a:br>
              <a:rPr lang="en-US" altLang="ko-KR" sz="1000" dirty="0"/>
            </a:br>
            <a:r>
              <a:rPr lang="en-US" altLang="ko-KR" sz="1200" b="1" dirty="0" err="1"/>
              <a:t>t</a:t>
            </a:r>
            <a:r>
              <a:rPr lang="en-US" altLang="ko-KR" sz="1200" b="1" baseline="-25000" dirty="0" err="1"/>
              <a:t>f</a:t>
            </a:r>
            <a:r>
              <a:rPr lang="en-US" altLang="ko-KR" sz="1200" b="1" dirty="0"/>
              <a:t> = 2.2R</a:t>
            </a:r>
            <a:r>
              <a:rPr lang="en-US" altLang="ko-KR" sz="1200" b="1" baseline="-25000" dirty="0"/>
              <a:t>on.n</a:t>
            </a:r>
            <a:r>
              <a:rPr lang="en-US" altLang="ko-KR" sz="1200" b="1" dirty="0"/>
              <a:t>C</a:t>
            </a:r>
            <a:r>
              <a:rPr lang="en-US" altLang="ko-KR" sz="1200" b="1" baseline="-25000" dirty="0"/>
              <a:t>L    </a:t>
            </a:r>
            <a:r>
              <a:rPr lang="ko-KR" altLang="en-US" sz="1200" b="1" baseline="-25000" dirty="0">
                <a:solidFill>
                  <a:srgbClr val="FF0000"/>
                </a:solidFill>
              </a:rPr>
              <a:t>짧아진다</a:t>
            </a:r>
            <a:r>
              <a:rPr lang="en-US" altLang="ko-KR" sz="1200" b="1" baseline="-25000" dirty="0">
                <a:solidFill>
                  <a:srgbClr val="FF0000"/>
                </a:solidFill>
              </a:rPr>
              <a:t>.</a:t>
            </a:r>
            <a:endParaRPr lang="en-US" altLang="ko-KR" sz="900" b="1" dirty="0">
              <a:solidFill>
                <a:srgbClr val="FF0000"/>
              </a:solidFill>
            </a:endParaRPr>
          </a:p>
          <a:p>
            <a:endParaRPr lang="en-US" altLang="ko-KR" sz="12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Rise time &amp; Fall time </a:t>
            </a:r>
            <a:r>
              <a:rPr lang="ko-KR" altLang="en-US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공정 </a:t>
            </a:r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Scale</a:t>
            </a:r>
            <a:r>
              <a:rPr lang="ko-KR" altLang="en-US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이 작아질 수 록 </a:t>
            </a:r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Fall time </a:t>
            </a:r>
            <a:r>
              <a:rPr lang="ko-KR" altLang="en-US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이 </a:t>
            </a:r>
            <a:r>
              <a:rPr lang="en-US" altLang="ko-KR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Rise time</a:t>
            </a:r>
            <a:r>
              <a:rPr lang="ko-KR" altLang="en-US" sz="1000" b="1" spc="129" dirty="0">
                <a:ea typeface="Calibri" panose="020F0502020204030204" pitchFamily="34" charset="0"/>
                <a:cs typeface="Calibri" panose="020F0502020204030204" pitchFamily="34" charset="0"/>
                <a:sym typeface="Source Han Sans KR Bold"/>
              </a:rPr>
              <a:t>보다 짧아짐</a:t>
            </a:r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10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900" b="1" spc="129" dirty="0">
              <a:ea typeface="Calibri" panose="020F0502020204030204" pitchFamily="34" charset="0"/>
              <a:cs typeface="Calibri" panose="020F0502020204030204" pitchFamily="34" charset="0"/>
              <a:sym typeface="Source Han Sans KR Bold"/>
            </a:endParaRPr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br>
              <a:rPr lang="en-US" altLang="ko-KR" sz="800" dirty="0"/>
            </a:br>
            <a:br>
              <a:rPr lang="en-US" altLang="ko-KR" sz="800" dirty="0"/>
            </a:br>
            <a:endParaRPr lang="ko-KR" altLang="en-US" sz="8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E6DB737-83B3-4EF4-9432-12BFE642E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423" y="2212590"/>
            <a:ext cx="1648055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70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03. Rising &amp; Falling Time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571" y="1351889"/>
            <a:ext cx="2794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Rising &amp; Falling Time </a:t>
            </a:r>
            <a:endParaRPr lang="ko-KR" altLang="en-US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193DF9E-FB41-4C87-ADAB-EA36F1C67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688" y="20221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E006764-2E26-4CCD-A2E9-1B028A2DA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460993"/>
              </p:ext>
            </p:extLst>
          </p:nvPr>
        </p:nvGraphicFramePr>
        <p:xfrm>
          <a:off x="2003571" y="2018254"/>
          <a:ext cx="6919713" cy="1881083"/>
        </p:xfrm>
        <a:graphic>
          <a:graphicData uri="http://schemas.openxmlformats.org/drawingml/2006/table">
            <a:tbl>
              <a:tblPr/>
              <a:tblGrid>
                <a:gridCol w="2306571">
                  <a:extLst>
                    <a:ext uri="{9D8B030D-6E8A-4147-A177-3AD203B41FA5}">
                      <a16:colId xmlns:a16="http://schemas.microsoft.com/office/drawing/2014/main" val="654769296"/>
                    </a:ext>
                  </a:extLst>
                </a:gridCol>
                <a:gridCol w="2306571">
                  <a:extLst>
                    <a:ext uri="{9D8B030D-6E8A-4147-A177-3AD203B41FA5}">
                      <a16:colId xmlns:a16="http://schemas.microsoft.com/office/drawing/2014/main" val="2576429253"/>
                    </a:ext>
                  </a:extLst>
                </a:gridCol>
                <a:gridCol w="2306571">
                  <a:extLst>
                    <a:ext uri="{9D8B030D-6E8A-4147-A177-3AD203B41FA5}">
                      <a16:colId xmlns:a16="http://schemas.microsoft.com/office/drawing/2014/main" val="2384880243"/>
                    </a:ext>
                  </a:extLst>
                </a:gridCol>
              </a:tblGrid>
              <a:tr h="72399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Scale 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(180nm</a:t>
                      </a:r>
                      <a:r>
                        <a:rPr lang="ko-KR" altLang="en-US" sz="1300" dirty="0">
                          <a:effectLst/>
                        </a:rPr>
                        <a:t> </a:t>
                      </a:r>
                      <a:r>
                        <a:rPr lang="en-US" altLang="ko-KR" sz="1300" dirty="0">
                          <a:effectLst/>
                        </a:rPr>
                        <a:t>-&gt;</a:t>
                      </a:r>
                      <a:r>
                        <a:rPr lang="ko-KR" altLang="en-US" sz="1300" dirty="0">
                          <a:effectLst/>
                        </a:rPr>
                        <a:t> </a:t>
                      </a:r>
                      <a:r>
                        <a:rPr lang="en-US" altLang="ko-KR" sz="1300" dirty="0">
                          <a:effectLst/>
                        </a:rPr>
                        <a:t>90nm</a:t>
                      </a:r>
                      <a:r>
                        <a:rPr lang="ko-KR" altLang="en-US" sz="1300" dirty="0">
                          <a:effectLst/>
                        </a:rPr>
                        <a:t> </a:t>
                      </a:r>
                      <a:r>
                        <a:rPr lang="en-US" altLang="ko-KR" sz="1300" dirty="0">
                          <a:effectLst/>
                        </a:rPr>
                        <a:t>–&gt; 45nm</a:t>
                      </a:r>
                      <a:r>
                        <a:rPr lang="en-US" sz="1300" dirty="0">
                          <a:effectLst/>
                        </a:rPr>
                        <a:t>)</a:t>
                      </a: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Load 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(1X -&gt; 2X -&gt; 4X)</a:t>
                      </a: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496149"/>
                  </a:ext>
                </a:extLst>
              </a:tr>
              <a:tr h="57854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Same Load</a:t>
                      </a: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effectLst/>
                        </a:rPr>
                        <a:t>감소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-</a:t>
                      </a: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77804"/>
                  </a:ext>
                </a:extLst>
              </a:tr>
              <a:tr h="57854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Multi Load</a:t>
                      </a: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effectLst/>
                        </a:rPr>
                        <a:t>감소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effectLst/>
                        </a:rPr>
                        <a:t>증가</a:t>
                      </a:r>
                      <a:endParaRPr lang="en-US" sz="1300" dirty="0">
                        <a:effectLst/>
                      </a:endParaRPr>
                    </a:p>
                  </a:txBody>
                  <a:tcPr marL="54665" marR="54665" marT="54665" marB="54665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260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898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2649415" y="3240230"/>
            <a:ext cx="8129954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6000"/>
              <a:buFont typeface="Arial"/>
              <a:buNone/>
            </a:pPr>
            <a:r>
              <a:rPr lang="en-US" sz="6000" b="1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r>
              <a:rPr lang="en-US" sz="6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 Propagation Delay</a:t>
            </a:r>
            <a:endParaRPr sz="6000" b="1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887745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03. Timing Analysis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571" y="1351889"/>
            <a:ext cx="2794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Rising &amp; Falling Time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6893E4-8593-4B78-82B8-22C653079AF2}"/>
                  </a:ext>
                </a:extLst>
              </p:cNvPr>
              <p:cNvSpPr txBox="1"/>
              <p:nvPr/>
            </p:nvSpPr>
            <p:spPr>
              <a:xfrm>
                <a:off x="2003571" y="1929740"/>
                <a:ext cx="8235538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Rising Time(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출력전압이 </a:t>
                </a:r>
                <a:r>
                  <a:rPr lang="en-US" altLang="ko-KR" dirty="0"/>
                  <a:t>10%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90%</a:t>
                </a:r>
                <a:r>
                  <a:rPr lang="ko-KR" altLang="en-US" dirty="0"/>
                  <a:t>까지 상승할 때 소요 시간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6893E4-8593-4B78-82B8-22C653079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1929740"/>
                <a:ext cx="8235538" cy="374526"/>
              </a:xfrm>
              <a:prstGeom prst="rect">
                <a:avLst/>
              </a:prstGeom>
              <a:blipFill>
                <a:blip r:embed="rId2"/>
                <a:stretch>
                  <a:fillRect l="-666" t="-9836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146331-4D6C-4067-81B7-FD141F75B99E}"/>
                  </a:ext>
                </a:extLst>
              </p:cNvPr>
              <p:cNvSpPr txBox="1"/>
              <p:nvPr/>
            </p:nvSpPr>
            <p:spPr>
              <a:xfrm>
                <a:off x="2003571" y="2400315"/>
                <a:ext cx="8235538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Falling Time(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dirty="0"/>
                  <a:t>) : </a:t>
                </a:r>
                <a:r>
                  <a:rPr lang="ko-KR" altLang="en-US" dirty="0"/>
                  <a:t>출력전압이 </a:t>
                </a:r>
                <a:r>
                  <a:rPr lang="en-US" altLang="ko-KR" dirty="0"/>
                  <a:t>90%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10%</a:t>
                </a:r>
                <a:r>
                  <a:rPr lang="ko-KR" altLang="en-US" dirty="0"/>
                  <a:t>까지 하강할 때 소요 시간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146331-4D6C-4067-81B7-FD141F75B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1" y="2400315"/>
                <a:ext cx="8235538" cy="391582"/>
              </a:xfrm>
              <a:prstGeom prst="rect">
                <a:avLst/>
              </a:prstGeom>
              <a:blipFill>
                <a:blip r:embed="rId3"/>
                <a:stretch>
                  <a:fillRect l="-666"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cdn.gophotonics.com/community/1_637937276193917318.jpg">
            <a:extLst>
              <a:ext uri="{FF2B5EF4-FFF2-40B4-BE49-F238E27FC236}">
                <a16:creationId xmlns:a16="http://schemas.microsoft.com/office/drawing/2014/main" id="{AAC0D9CD-A837-4036-A19C-67444ACB5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571" y="3077751"/>
            <a:ext cx="5091935" cy="316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943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04. Propagation Delay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318" y="1232899"/>
            <a:ext cx="2794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Propagation Delay (Same Load)</a:t>
            </a:r>
            <a:endParaRPr lang="ko-KR" altLang="en-US" b="1" dirty="0"/>
          </a:p>
        </p:txBody>
      </p:sp>
      <p:graphicFrame>
        <p:nvGraphicFramePr>
          <p:cNvPr id="10" name="Google Shape;66;p3">
            <a:extLst>
              <a:ext uri="{FF2B5EF4-FFF2-40B4-BE49-F238E27FC236}">
                <a16:creationId xmlns:a16="http://schemas.microsoft.com/office/drawing/2014/main" id="{08146E56-D6D7-4AF6-AA79-5624889E91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383802"/>
              </p:ext>
            </p:extLst>
          </p:nvPr>
        </p:nvGraphicFramePr>
        <p:xfrm>
          <a:off x="2003318" y="2052081"/>
          <a:ext cx="8527312" cy="45061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73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3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1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1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058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b="1" u="none" strike="noStrike" cap="none" dirty="0">
                          <a:solidFill>
                            <a:schemeClr val="dk1"/>
                          </a:solidFill>
                        </a:rPr>
                        <a:t>FF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b="1" u="none" strike="noStrike" cap="none">
                          <a:solidFill>
                            <a:schemeClr val="dk1"/>
                          </a:solidFill>
                        </a:rPr>
                        <a:t>NN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b="1" u="none" strike="noStrike" cap="none">
                          <a:solidFill>
                            <a:schemeClr val="dk1"/>
                          </a:solidFill>
                        </a:rPr>
                        <a:t>SS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058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pLH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pHL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pLH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pHL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pLH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pHL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180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(nm)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/>
                        <a:t>23.98p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/>
                        <a:t>29.79p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30.92p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38.51p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41.07p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51.87p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2X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23.98p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>
                          <a:solidFill>
                            <a:schemeClr val="dk1"/>
                          </a:solidFill>
                        </a:rPr>
                        <a:t>29.79p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30.92p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38.51p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41.07p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51.87p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4X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23.98p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>
                          <a:solidFill>
                            <a:schemeClr val="dk1"/>
                          </a:solidFill>
                        </a:rPr>
                        <a:t>29.79p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30.92p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38.51p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41.07p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51.87p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90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(nm)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8.73p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8.35p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13.48p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11.97p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23.61p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19.84p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2X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8.73p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8.35p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13.48p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11.97p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>
                          <a:solidFill>
                            <a:schemeClr val="dk1"/>
                          </a:solidFill>
                        </a:rPr>
                        <a:t>23.61p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19.84p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4X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8.73p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8.35p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13.48p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11.97p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>
                          <a:solidFill>
                            <a:schemeClr val="dk1"/>
                          </a:solidFill>
                        </a:rPr>
                        <a:t>23.61p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19.84p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45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(nm)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5.87p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5.26p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8.23p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7.84p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/>
                        <a:t>11.99p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12.14p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2X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5.87p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5.26p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8.23p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7.84p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>
                          <a:solidFill>
                            <a:schemeClr val="dk1"/>
                          </a:solidFill>
                        </a:rPr>
                        <a:t>11.99p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12.14p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4X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5.87p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>
                          <a:solidFill>
                            <a:schemeClr val="dk1"/>
                          </a:solidFill>
                        </a:rPr>
                        <a:t>5.26p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8.23p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7.84p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>
                          <a:solidFill>
                            <a:schemeClr val="dk1"/>
                          </a:solidFill>
                        </a:rPr>
                        <a:t>11.99p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>
                          <a:solidFill>
                            <a:schemeClr val="dk1"/>
                          </a:solidFill>
                        </a:rPr>
                        <a:t>12.14p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4BE141D3-3C73-4201-81B1-BDF3ED717691}"/>
              </a:ext>
            </a:extLst>
          </p:cNvPr>
          <p:cNvSpPr/>
          <p:nvPr/>
        </p:nvSpPr>
        <p:spPr>
          <a:xfrm>
            <a:off x="10646735" y="2863702"/>
            <a:ext cx="552893" cy="1155405"/>
          </a:xfrm>
          <a:prstGeom prst="rightBrac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1AA4D4BE-B68E-4C2D-B0FA-906F0885AC2E}"/>
              </a:ext>
            </a:extLst>
          </p:cNvPr>
          <p:cNvSpPr/>
          <p:nvPr/>
        </p:nvSpPr>
        <p:spPr>
          <a:xfrm>
            <a:off x="10646735" y="4132521"/>
            <a:ext cx="552893" cy="1155405"/>
          </a:xfrm>
          <a:prstGeom prst="rightBrac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59052712-414E-48EB-BE6F-1E761F63D417}"/>
              </a:ext>
            </a:extLst>
          </p:cNvPr>
          <p:cNvSpPr/>
          <p:nvPr/>
        </p:nvSpPr>
        <p:spPr>
          <a:xfrm>
            <a:off x="10646734" y="5401340"/>
            <a:ext cx="552893" cy="1155405"/>
          </a:xfrm>
          <a:prstGeom prst="rightBrace">
            <a:avLst/>
          </a:prstGeom>
          <a:ln w="222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AAB53-96A5-4CC5-B2F1-C5DAA4494563}"/>
              </a:ext>
            </a:extLst>
          </p:cNvPr>
          <p:cNvSpPr txBox="1"/>
          <p:nvPr/>
        </p:nvSpPr>
        <p:spPr>
          <a:xfrm>
            <a:off x="10570838" y="2892056"/>
            <a:ext cx="461665" cy="10986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/>
              <a:t>Same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AD1458-D3C9-43E3-B7BE-E5B24D9D0050}"/>
              </a:ext>
            </a:extLst>
          </p:cNvPr>
          <p:cNvSpPr txBox="1"/>
          <p:nvPr/>
        </p:nvSpPr>
        <p:spPr>
          <a:xfrm>
            <a:off x="10570838" y="4160874"/>
            <a:ext cx="461665" cy="10986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/>
              <a:t>Same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ECC158-2B2D-4C42-90F9-5402FA581222}"/>
              </a:ext>
            </a:extLst>
          </p:cNvPr>
          <p:cNvSpPr txBox="1"/>
          <p:nvPr/>
        </p:nvSpPr>
        <p:spPr>
          <a:xfrm>
            <a:off x="10557974" y="5429693"/>
            <a:ext cx="461665" cy="10986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/>
              <a:t>Same</a:t>
            </a:r>
            <a:endParaRPr lang="ko-KR" altLang="en-US" dirty="0"/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EA5524B3-0501-4951-BB38-42952FFBDE6F}"/>
              </a:ext>
            </a:extLst>
          </p:cNvPr>
          <p:cNvSpPr/>
          <p:nvPr/>
        </p:nvSpPr>
        <p:spPr>
          <a:xfrm>
            <a:off x="11315731" y="2603625"/>
            <a:ext cx="552893" cy="387025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딜레이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감소</a:t>
            </a:r>
          </a:p>
        </p:txBody>
      </p:sp>
    </p:spTree>
    <p:extLst>
      <p:ext uri="{BB962C8B-B14F-4D97-AF65-F5344CB8AC3E}">
        <p14:creationId xmlns:p14="http://schemas.microsoft.com/office/powerpoint/2010/main" val="563590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9E66C13A-B11A-4DE4-968C-B9FA5AE2F3D4}"/>
              </a:ext>
            </a:extLst>
          </p:cNvPr>
          <p:cNvSpPr/>
          <p:nvPr/>
        </p:nvSpPr>
        <p:spPr>
          <a:xfrm>
            <a:off x="10610250" y="2835348"/>
            <a:ext cx="552893" cy="124046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04. Propagation Delay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318" y="1232899"/>
            <a:ext cx="4551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Propagation Delay (Multi Load)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AAB53-96A5-4CC5-B2F1-C5DAA4494563}"/>
              </a:ext>
            </a:extLst>
          </p:cNvPr>
          <p:cNvSpPr txBox="1"/>
          <p:nvPr/>
        </p:nvSpPr>
        <p:spPr>
          <a:xfrm>
            <a:off x="10655863" y="2879651"/>
            <a:ext cx="461665" cy="10986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ko-KR" altLang="en-US" dirty="0"/>
              <a:t>증가</a:t>
            </a: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EA5524B3-0501-4951-BB38-42952FFBDE6F}"/>
              </a:ext>
            </a:extLst>
          </p:cNvPr>
          <p:cNvSpPr/>
          <p:nvPr/>
        </p:nvSpPr>
        <p:spPr>
          <a:xfrm>
            <a:off x="11315731" y="2603625"/>
            <a:ext cx="552893" cy="387025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딜레이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감소</a:t>
            </a:r>
          </a:p>
        </p:txBody>
      </p:sp>
      <p:graphicFrame>
        <p:nvGraphicFramePr>
          <p:cNvPr id="14" name="Google Shape;72;p4">
            <a:extLst>
              <a:ext uri="{FF2B5EF4-FFF2-40B4-BE49-F238E27FC236}">
                <a16:creationId xmlns:a16="http://schemas.microsoft.com/office/drawing/2014/main" id="{02701D6C-8238-4FB0-BB98-7131163F6A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276000"/>
              </p:ext>
            </p:extLst>
          </p:nvPr>
        </p:nvGraphicFramePr>
        <p:xfrm>
          <a:off x="2003318" y="2017591"/>
          <a:ext cx="8554656" cy="454245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77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73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7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2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b="1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FF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b="1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NN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b="1" u="none" strike="noStrike" cap="none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SS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2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pLH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pHL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pLH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pHL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pLH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t</a:t>
                      </a:r>
                      <a:r>
                        <a:rPr lang="en-US" sz="1400" baseline="-25000" dirty="0" err="1"/>
                        <a:t>pHL</a:t>
                      </a:r>
                      <a:endParaRPr sz="1400" baseline="-250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4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180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(nm)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29.76p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 dirty="0"/>
                        <a:t>24.0p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30.95p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38.47p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51.83p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41.0p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2X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39.24p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 dirty="0"/>
                        <a:t>31.74p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40.90p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50.00p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65.98p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53.88p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4X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57.27p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47.23p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60.65p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71.70p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92.22p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79.26p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4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90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(nm)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8.68p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8.34p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13.48p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11.95p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23.93p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19.64p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2X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12.39p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11.66p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18.99p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16.63p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33.67p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26.99p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4X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19.65p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18.25p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29.76p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25.70p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 dirty="0"/>
                        <a:t>53.38p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40.52p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45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(nm)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1X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5.25p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5.88p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7.83p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8.23p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/>
                        <a:t>12.14p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11.99p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2X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6.55p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7.89p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9.57p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10.34p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/>
                        <a:t>14.56p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/>
                        <a:t>14.72p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/>
                        <a:t>4X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9.02p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400"/>
                        <a:t>10.95p</a:t>
                      </a:r>
                      <a:endParaRPr sz="14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12.85p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u="none" strike="noStrike" cap="none" dirty="0"/>
                        <a:t>14.47p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/>
                        <a:t>19.18p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" sz="1400" dirty="0"/>
                        <a:t>19.98p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3522AD95-9CB8-4000-82ED-0ECF1A176D43}"/>
              </a:ext>
            </a:extLst>
          </p:cNvPr>
          <p:cNvSpPr/>
          <p:nvPr/>
        </p:nvSpPr>
        <p:spPr>
          <a:xfrm>
            <a:off x="10610250" y="4120116"/>
            <a:ext cx="552893" cy="124046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BB16BD-613B-4046-9524-A38B0CF797E5}"/>
              </a:ext>
            </a:extLst>
          </p:cNvPr>
          <p:cNvSpPr txBox="1"/>
          <p:nvPr/>
        </p:nvSpPr>
        <p:spPr>
          <a:xfrm>
            <a:off x="10655863" y="4164419"/>
            <a:ext cx="461665" cy="10986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ko-KR" altLang="en-US" dirty="0"/>
              <a:t>증가</a:t>
            </a:r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86E19BBA-3ABB-414C-8D25-47E4106B539F}"/>
              </a:ext>
            </a:extLst>
          </p:cNvPr>
          <p:cNvSpPr/>
          <p:nvPr/>
        </p:nvSpPr>
        <p:spPr>
          <a:xfrm>
            <a:off x="10610250" y="5404884"/>
            <a:ext cx="552893" cy="124046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463E6F-92DE-42D7-823C-619AF8F06AFD}"/>
              </a:ext>
            </a:extLst>
          </p:cNvPr>
          <p:cNvSpPr txBox="1"/>
          <p:nvPr/>
        </p:nvSpPr>
        <p:spPr>
          <a:xfrm>
            <a:off x="10655863" y="5449187"/>
            <a:ext cx="461665" cy="10986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ko-KR" altLang="en-US" dirty="0"/>
              <a:t>증가</a:t>
            </a:r>
          </a:p>
        </p:txBody>
      </p:sp>
    </p:spTree>
    <p:extLst>
      <p:ext uri="{BB962C8B-B14F-4D97-AF65-F5344CB8AC3E}">
        <p14:creationId xmlns:p14="http://schemas.microsoft.com/office/powerpoint/2010/main" val="111434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04. Propagation Delay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318" y="1232899"/>
            <a:ext cx="6502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Discussion(1): Same Load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188B1-0358-48F7-A709-68883C9F25E2}"/>
              </a:ext>
            </a:extLst>
          </p:cNvPr>
          <p:cNvSpPr txBox="1"/>
          <p:nvPr/>
        </p:nvSpPr>
        <p:spPr>
          <a:xfrm>
            <a:off x="2003318" y="1710047"/>
            <a:ext cx="8746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Scale-down </a:t>
            </a:r>
            <a:r>
              <a:rPr lang="ko-KR" altLang="en-US" b="1" dirty="0"/>
              <a:t>될수록 </a:t>
            </a:r>
            <a:r>
              <a:rPr lang="en-US" altLang="ko-KR" b="1" dirty="0"/>
              <a:t>Delay </a:t>
            </a:r>
            <a:r>
              <a:rPr lang="ko-KR" altLang="en-US" b="1" dirty="0"/>
              <a:t>감소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0DC4FD-7C51-41E6-B6C9-1CF6E5B08676}"/>
                  </a:ext>
                </a:extLst>
              </p:cNvPr>
              <p:cNvSpPr txBox="1"/>
              <p:nvPr/>
            </p:nvSpPr>
            <p:spPr>
              <a:xfrm>
                <a:off x="2003318" y="2187195"/>
                <a:ext cx="9345880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𝑡𝑝𝐿𝐻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69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0DC4FD-7C51-41E6-B6C9-1CF6E5B08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18" y="2187195"/>
                <a:ext cx="9345880" cy="390748"/>
              </a:xfrm>
              <a:prstGeom prst="rect">
                <a:avLst/>
              </a:prstGeom>
              <a:blipFill>
                <a:blip r:embed="rId2"/>
                <a:stretch>
                  <a:fillRect l="-196" b="-7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06092E-2F25-4B6A-AB47-4FE5E5A26299}"/>
                  </a:ext>
                </a:extLst>
              </p:cNvPr>
              <p:cNvSpPr txBox="1"/>
              <p:nvPr/>
            </p:nvSpPr>
            <p:spPr>
              <a:xfrm>
                <a:off x="2003318" y="2534003"/>
                <a:ext cx="9345880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𝑡𝑝𝐻𝐿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69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06092E-2F25-4B6A-AB47-4FE5E5A26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18" y="2534003"/>
                <a:ext cx="9345880" cy="390748"/>
              </a:xfrm>
              <a:prstGeom prst="rect">
                <a:avLst/>
              </a:prstGeom>
              <a:blipFill>
                <a:blip r:embed="rId3"/>
                <a:stretch>
                  <a:fillRect l="-196" b="-7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1446F40-4FBA-431D-BBD1-6D62385202AB}"/>
                  </a:ext>
                </a:extLst>
              </p:cNvPr>
              <p:cNvSpPr/>
              <p:nvPr/>
            </p:nvSpPr>
            <p:spPr>
              <a:xfrm>
                <a:off x="2003318" y="2924751"/>
                <a:ext cx="2912913" cy="8326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𝑔𝑠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1446F40-4FBA-431D-BBD1-6D62385202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18" y="2924751"/>
                <a:ext cx="2912913" cy="832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FE4974-2FFF-4A7E-B101-79DD10B708AF}"/>
                  </a:ext>
                </a:extLst>
              </p:cNvPr>
              <p:cNvSpPr txBox="1"/>
              <p:nvPr/>
            </p:nvSpPr>
            <p:spPr>
              <a:xfrm>
                <a:off x="4922259" y="3064052"/>
                <a:ext cx="17188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FE4974-2FFF-4A7E-B101-79DD10B70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259" y="3064052"/>
                <a:ext cx="1718804" cy="276999"/>
              </a:xfrm>
              <a:prstGeom prst="rect">
                <a:avLst/>
              </a:prstGeom>
              <a:blipFill>
                <a:blip r:embed="rId5"/>
                <a:stretch>
                  <a:fillRect r="-177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BE3C85A-A03D-47C8-B32A-B81BBCC1BF1D}"/>
              </a:ext>
            </a:extLst>
          </p:cNvPr>
          <p:cNvCxnSpPr/>
          <p:nvPr/>
        </p:nvCxnSpPr>
        <p:spPr>
          <a:xfrm>
            <a:off x="6810499" y="3202551"/>
            <a:ext cx="6650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CF153A-E673-495C-8783-A9D3F76B5E92}"/>
                  </a:ext>
                </a:extLst>
              </p:cNvPr>
              <p:cNvSpPr txBox="1"/>
              <p:nvPr/>
            </p:nvSpPr>
            <p:spPr>
              <a:xfrm>
                <a:off x="7738344" y="3037121"/>
                <a:ext cx="794769" cy="303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CF153A-E673-495C-8783-A9D3F76B5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344" y="3037121"/>
                <a:ext cx="794769" cy="303929"/>
              </a:xfrm>
              <a:prstGeom prst="rect">
                <a:avLst/>
              </a:prstGeom>
              <a:blipFill>
                <a:blip r:embed="rId6"/>
                <a:stretch>
                  <a:fillRect l="-3817" r="-76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03DC0E08-7E9C-44C9-A68E-57D5361C76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2052" y="4202498"/>
            <a:ext cx="3366319" cy="202337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B003EE5-3348-4D4D-BDD3-1C8FA4AC2C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022" y="4202498"/>
            <a:ext cx="3366031" cy="20232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A3E043C-A23F-44EA-B626-520B5D4425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7370" y="4202498"/>
            <a:ext cx="3366031" cy="2023200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B54DB622-21F6-4680-AF03-A8D1FA6210A7}"/>
              </a:ext>
            </a:extLst>
          </p:cNvPr>
          <p:cNvSpPr/>
          <p:nvPr/>
        </p:nvSpPr>
        <p:spPr>
          <a:xfrm>
            <a:off x="10564670" y="4624176"/>
            <a:ext cx="467833" cy="12050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B30A835-7970-4C0D-BA61-64D4ADCAF61D}"/>
              </a:ext>
            </a:extLst>
          </p:cNvPr>
          <p:cNvSpPr/>
          <p:nvPr/>
        </p:nvSpPr>
        <p:spPr>
          <a:xfrm>
            <a:off x="7143008" y="4662406"/>
            <a:ext cx="467833" cy="12050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E856115-0E49-4B6F-9314-72FD2E2768B8}"/>
              </a:ext>
            </a:extLst>
          </p:cNvPr>
          <p:cNvSpPr/>
          <p:nvPr/>
        </p:nvSpPr>
        <p:spPr>
          <a:xfrm>
            <a:off x="3692422" y="4684428"/>
            <a:ext cx="467833" cy="12050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54E89C5-B53A-4588-84FE-2779502D4789}"/>
              </a:ext>
            </a:extLst>
          </p:cNvPr>
          <p:cNvCxnSpPr/>
          <p:nvPr/>
        </p:nvCxnSpPr>
        <p:spPr>
          <a:xfrm>
            <a:off x="3402281" y="4085112"/>
            <a:ext cx="6644244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4897B44-3D68-44E2-A06D-8BDB7D4EB86C}"/>
              </a:ext>
            </a:extLst>
          </p:cNvPr>
          <p:cNvSpPr txBox="1"/>
          <p:nvPr/>
        </p:nvSpPr>
        <p:spPr>
          <a:xfrm>
            <a:off x="6162051" y="3754754"/>
            <a:ext cx="1448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기울기 증가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4C2C9E-09BA-4F0A-A063-5947312D5306}"/>
                  </a:ext>
                </a:extLst>
              </p:cNvPr>
              <p:cNvSpPr txBox="1"/>
              <p:nvPr/>
            </p:nvSpPr>
            <p:spPr>
              <a:xfrm>
                <a:off x="4160255" y="6395811"/>
                <a:ext cx="5397335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1400" dirty="0"/>
                  <a:t>값</a:t>
                </a:r>
                <a:r>
                  <a:rPr lang="en-US" altLang="ko-KR" sz="1400" dirty="0"/>
                  <a:t>(Carrier Mobility)</a:t>
                </a:r>
                <a:r>
                  <a:rPr lang="ko-KR" altLang="en-US" sz="1400" dirty="0"/>
                  <a:t> 증가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4C2C9E-09BA-4F0A-A063-5947312D5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255" y="6395811"/>
                <a:ext cx="5397335" cy="311817"/>
              </a:xfrm>
              <a:prstGeom prst="rect">
                <a:avLst/>
              </a:prstGeom>
              <a:blipFill>
                <a:blip r:embed="rId10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B551963-E054-423E-B02F-C96FCF698D83}"/>
              </a:ext>
            </a:extLst>
          </p:cNvPr>
          <p:cNvCxnSpPr>
            <a:cxnSpLocks/>
          </p:cNvCxnSpPr>
          <p:nvPr/>
        </p:nvCxnSpPr>
        <p:spPr>
          <a:xfrm flipH="1" flipV="1">
            <a:off x="3459774" y="6360751"/>
            <a:ext cx="65867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920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04. Propagation Delay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318" y="1232899"/>
            <a:ext cx="6502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Discussion(1): Same Load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188B1-0358-48F7-A709-68883C9F25E2}"/>
              </a:ext>
            </a:extLst>
          </p:cNvPr>
          <p:cNvSpPr txBox="1"/>
          <p:nvPr/>
        </p:nvSpPr>
        <p:spPr>
          <a:xfrm>
            <a:off x="2003318" y="1710047"/>
            <a:ext cx="8746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Multi </a:t>
            </a:r>
            <a:r>
              <a:rPr lang="ko-KR" altLang="en-US" b="1" dirty="0"/>
              <a:t>값과 관계없이 </a:t>
            </a:r>
            <a:r>
              <a:rPr lang="en-US" altLang="ko-KR" b="1" dirty="0"/>
              <a:t>Delay </a:t>
            </a:r>
            <a:r>
              <a:rPr lang="ko-KR" altLang="en-US" b="1" dirty="0"/>
              <a:t>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0DC4FD-7C51-41E6-B6C9-1CF6E5B08676}"/>
                  </a:ext>
                </a:extLst>
              </p:cNvPr>
              <p:cNvSpPr txBox="1"/>
              <p:nvPr/>
            </p:nvSpPr>
            <p:spPr>
              <a:xfrm>
                <a:off x="2052409" y="2187195"/>
                <a:ext cx="9345880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0" dirty="0"/>
                  <a:t>1X: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0DC4FD-7C51-41E6-B6C9-1CF6E5B08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9" y="2187195"/>
                <a:ext cx="9345880" cy="391902"/>
              </a:xfrm>
              <a:prstGeom prst="rect">
                <a:avLst/>
              </a:prstGeom>
              <a:blipFill>
                <a:blip r:embed="rId2"/>
                <a:stretch>
                  <a:fillRect l="-587"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6A26F7-D850-4651-BD52-72AE2AB4A908}"/>
                  </a:ext>
                </a:extLst>
              </p:cNvPr>
              <p:cNvSpPr txBox="1"/>
              <p:nvPr/>
            </p:nvSpPr>
            <p:spPr>
              <a:xfrm>
                <a:off x="2052409" y="2686913"/>
                <a:ext cx="9345880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2</a:t>
                </a:r>
                <a:r>
                  <a:rPr lang="en-US" altLang="ko-KR" b="0" dirty="0"/>
                  <a:t>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6A26F7-D850-4651-BD52-72AE2AB4A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9" y="2686913"/>
                <a:ext cx="9345880" cy="391902"/>
              </a:xfrm>
              <a:prstGeom prst="rect">
                <a:avLst/>
              </a:prstGeom>
              <a:blipFill>
                <a:blip r:embed="rId3"/>
                <a:stretch>
                  <a:fillRect l="-587"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A6E470-1B87-4614-9CE9-DB003FF6BE88}"/>
                  </a:ext>
                </a:extLst>
              </p:cNvPr>
              <p:cNvSpPr txBox="1"/>
              <p:nvPr/>
            </p:nvSpPr>
            <p:spPr>
              <a:xfrm>
                <a:off x="2052409" y="3186631"/>
                <a:ext cx="9345880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4</a:t>
                </a:r>
                <a:r>
                  <a:rPr lang="en-US" altLang="ko-KR" b="0" dirty="0"/>
                  <a:t>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=8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A6E470-1B87-4614-9CE9-DB003FF6B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9" y="3186631"/>
                <a:ext cx="9345880" cy="391902"/>
              </a:xfrm>
              <a:prstGeom prst="rect">
                <a:avLst/>
              </a:prstGeom>
              <a:blipFill>
                <a:blip r:embed="rId4"/>
                <a:stretch>
                  <a:fillRect l="-587"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867473-CC79-4699-AC6E-C51672194F54}"/>
                  </a:ext>
                </a:extLst>
              </p:cNvPr>
              <p:cNvSpPr txBox="1"/>
              <p:nvPr/>
            </p:nvSpPr>
            <p:spPr>
              <a:xfrm>
                <a:off x="2052409" y="3851380"/>
                <a:ext cx="8429436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Width</a:t>
                </a:r>
                <a:r>
                  <a:rPr lang="ko-KR" altLang="en-US" dirty="0"/>
                  <a:t>에 비례하게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값</m:t>
                    </m:r>
                  </m:oMath>
                </a14:m>
                <a:r>
                  <a:rPr lang="ko-KR" altLang="en-US" dirty="0"/>
                  <a:t> 증가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감</m:t>
                    </m:r>
                  </m:oMath>
                </a14:m>
                <a:r>
                  <a:rPr lang="ko-KR" altLang="en-US" dirty="0"/>
                  <a:t>소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867473-CC79-4699-AC6E-C51672194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9" y="3851380"/>
                <a:ext cx="8429436" cy="374526"/>
              </a:xfrm>
              <a:prstGeom prst="rect">
                <a:avLst/>
              </a:prstGeom>
              <a:blipFill>
                <a:blip r:embed="rId5"/>
                <a:stretch>
                  <a:fillRect l="-651"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4E073A1-BA63-4D78-A003-54BB83D85051}"/>
              </a:ext>
            </a:extLst>
          </p:cNvPr>
          <p:cNvSpPr txBox="1"/>
          <p:nvPr/>
        </p:nvSpPr>
        <p:spPr>
          <a:xfrm>
            <a:off x="2052409" y="4311490"/>
            <a:ext cx="8429436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</a:rPr>
              <a:t>∴ </a:t>
            </a:r>
            <a:r>
              <a:rPr lang="en-US" altLang="ko-KR" dirty="0"/>
              <a:t>Multi </a:t>
            </a:r>
            <a:r>
              <a:rPr lang="ko-KR" altLang="en-US" dirty="0"/>
              <a:t>값에 무관하게 </a:t>
            </a:r>
            <a:r>
              <a:rPr lang="en-US" altLang="ko-KR" dirty="0"/>
              <a:t>Delay </a:t>
            </a:r>
            <a:r>
              <a:rPr lang="ko-KR" altLang="en-US" dirty="0"/>
              <a:t>일정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64EC1D6-EAF2-4C84-B157-F6D6E75FBE55}"/>
                  </a:ext>
                </a:extLst>
              </p:cNvPr>
              <p:cNvSpPr/>
              <p:nvPr/>
            </p:nvSpPr>
            <p:spPr>
              <a:xfrm>
                <a:off x="7665332" y="2933196"/>
                <a:ext cx="2912913" cy="8326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𝑔𝑠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𝑡h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64EC1D6-EAF2-4C84-B157-F6D6E75FBE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332" y="2933196"/>
                <a:ext cx="2912913" cy="832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18509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E07189-7A53-4279-8EE0-02923C2F208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AA15BA-BE45-40F9-BD69-0E035AF0E784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C8E79E0-9242-4B7E-B056-F6D829405C90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4000" dirty="0">
                <a:solidFill>
                  <a:srgbClr val="09644C"/>
                </a:solidFill>
                <a:latin typeface="Arial Black" panose="020B0A04020102020204" pitchFamily="34" charset="0"/>
                <a:ea typeface="KoPubWorld돋움체 Bold" panose="00000800000000000000" pitchFamily="2" charset="-127"/>
                <a:cs typeface="Arial" panose="020B0604020202020204" pitchFamily="34" charset="0"/>
              </a:rPr>
              <a:t>04. Propagation Delay</a:t>
            </a:r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D9F9-4CF8-47F2-9F45-5332B80847F6}"/>
              </a:ext>
            </a:extLst>
          </p:cNvPr>
          <p:cNvSpPr txBox="1"/>
          <p:nvPr/>
        </p:nvSpPr>
        <p:spPr>
          <a:xfrm>
            <a:off x="2003318" y="1232899"/>
            <a:ext cx="6502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9644C"/>
                </a:solidFill>
                <a:ea typeface="KoPubWorld돋움체 Bold" panose="00000800000000000000" pitchFamily="2" charset="-127"/>
                <a:cs typeface="Arial" panose="020B0604020202020204" pitchFamily="34" charset="0"/>
              </a:rPr>
              <a:t>Discussion(2): Multi Load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188B1-0358-48F7-A709-68883C9F25E2}"/>
              </a:ext>
            </a:extLst>
          </p:cNvPr>
          <p:cNvSpPr txBox="1"/>
          <p:nvPr/>
        </p:nvSpPr>
        <p:spPr>
          <a:xfrm>
            <a:off x="2003318" y="1710047"/>
            <a:ext cx="8746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Scale-down </a:t>
            </a:r>
            <a:r>
              <a:rPr lang="ko-KR" altLang="en-US" b="1" dirty="0"/>
              <a:t>될수록 </a:t>
            </a:r>
            <a:r>
              <a:rPr lang="en-US" altLang="ko-KR" b="1" dirty="0"/>
              <a:t>Delay </a:t>
            </a:r>
            <a:r>
              <a:rPr lang="ko-KR" altLang="en-US" b="1" dirty="0"/>
              <a:t>감소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867473-CC79-4699-AC6E-C51672194F54}"/>
              </a:ext>
            </a:extLst>
          </p:cNvPr>
          <p:cNvSpPr txBox="1"/>
          <p:nvPr/>
        </p:nvSpPr>
        <p:spPr>
          <a:xfrm>
            <a:off x="2003318" y="2799605"/>
            <a:ext cx="8429436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Multi</a:t>
            </a:r>
            <a:r>
              <a:rPr lang="ko-KR" altLang="en-US" b="1" dirty="0"/>
              <a:t> 커질수록 </a:t>
            </a:r>
            <a:r>
              <a:rPr lang="en-US" altLang="ko-KR" b="1" dirty="0"/>
              <a:t>Delay </a:t>
            </a:r>
            <a:r>
              <a:rPr lang="ko-KR" altLang="en-US" b="1" dirty="0"/>
              <a:t>증가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3328AE-7EA6-4D3E-8BE4-E9989587343A}"/>
              </a:ext>
            </a:extLst>
          </p:cNvPr>
          <p:cNvSpPr txBox="1"/>
          <p:nvPr/>
        </p:nvSpPr>
        <p:spPr>
          <a:xfrm>
            <a:off x="2052409" y="2252229"/>
            <a:ext cx="8429436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Same Load</a:t>
            </a:r>
            <a:r>
              <a:rPr lang="ko-KR" altLang="en-US" dirty="0"/>
              <a:t>에서와 동일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C8F755-E154-4CA4-B3F4-23022D978C27}"/>
                  </a:ext>
                </a:extLst>
              </p:cNvPr>
              <p:cNvSpPr txBox="1"/>
              <p:nvPr/>
            </p:nvSpPr>
            <p:spPr>
              <a:xfrm>
                <a:off x="2052409" y="3389139"/>
                <a:ext cx="9345880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0" dirty="0"/>
                  <a:t>1X: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C8F755-E154-4CA4-B3F4-23022D978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9" y="3389139"/>
                <a:ext cx="9345880" cy="391902"/>
              </a:xfrm>
              <a:prstGeom prst="rect">
                <a:avLst/>
              </a:prstGeom>
              <a:blipFill>
                <a:blip r:embed="rId2"/>
                <a:stretch>
                  <a:fillRect l="-587"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AAC93D-7FBC-402D-8689-D3DCFC90BE2E}"/>
                  </a:ext>
                </a:extLst>
              </p:cNvPr>
              <p:cNvSpPr txBox="1"/>
              <p:nvPr/>
            </p:nvSpPr>
            <p:spPr>
              <a:xfrm>
                <a:off x="2052409" y="3888857"/>
                <a:ext cx="9345880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2</a:t>
                </a:r>
                <a:r>
                  <a:rPr lang="en-US" altLang="ko-KR" b="0" dirty="0"/>
                  <a:t>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AAC93D-7FBC-402D-8689-D3DCFC90B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9" y="3888857"/>
                <a:ext cx="9345880" cy="391902"/>
              </a:xfrm>
              <a:prstGeom prst="rect">
                <a:avLst/>
              </a:prstGeom>
              <a:blipFill>
                <a:blip r:embed="rId3"/>
                <a:stretch>
                  <a:fillRect l="-587"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FD24B9-153E-46B7-A344-6DBC2EFB319F}"/>
                  </a:ext>
                </a:extLst>
              </p:cNvPr>
              <p:cNvSpPr txBox="1"/>
              <p:nvPr/>
            </p:nvSpPr>
            <p:spPr>
              <a:xfrm>
                <a:off x="2052409" y="4388575"/>
                <a:ext cx="9345880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4</a:t>
                </a:r>
                <a:r>
                  <a:rPr lang="en-US" altLang="ko-KR" b="0" dirty="0"/>
                  <a:t>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20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FD24B9-153E-46B7-A344-6DBC2EFB3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409" y="4388575"/>
                <a:ext cx="9345880" cy="391902"/>
              </a:xfrm>
              <a:prstGeom prst="rect">
                <a:avLst/>
              </a:prstGeom>
              <a:blipFill>
                <a:blip r:embed="rId4"/>
                <a:stretch>
                  <a:fillRect l="-587" t="-10938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8227E7E-28B4-4CB6-BDCD-646BBB64EB1D}"/>
              </a:ext>
            </a:extLst>
          </p:cNvPr>
          <p:cNvCxnSpPr/>
          <p:nvPr/>
        </p:nvCxnSpPr>
        <p:spPr>
          <a:xfrm>
            <a:off x="2185060" y="5147954"/>
            <a:ext cx="237506" cy="0"/>
          </a:xfrm>
          <a:prstGeom prst="straightConnector1">
            <a:avLst/>
          </a:prstGeom>
          <a:ln w="28575">
            <a:solidFill>
              <a:srgbClr val="6452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357328-BC93-4681-AE81-4D654CF793B4}"/>
                  </a:ext>
                </a:extLst>
              </p:cNvPr>
              <p:cNvSpPr txBox="1"/>
              <p:nvPr/>
            </p:nvSpPr>
            <p:spPr>
              <a:xfrm>
                <a:off x="2464129" y="4960690"/>
                <a:ext cx="6650182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/>
                  <a:t> 증가 정도가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/>
                  <a:t> 증가 정도보다 큼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357328-BC93-4681-AE81-4D654CF79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129" y="4960690"/>
                <a:ext cx="6650182" cy="374526"/>
              </a:xfrm>
              <a:prstGeom prst="rect">
                <a:avLst/>
              </a:prstGeom>
              <a:blipFill>
                <a:blip r:embed="rId5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9AFD44E-2C5D-477C-A4A8-6AA0C5BA46FD}"/>
              </a:ext>
            </a:extLst>
          </p:cNvPr>
          <p:cNvCxnSpPr/>
          <p:nvPr/>
        </p:nvCxnSpPr>
        <p:spPr>
          <a:xfrm>
            <a:off x="2185060" y="5639789"/>
            <a:ext cx="237506" cy="0"/>
          </a:xfrm>
          <a:prstGeom prst="straightConnector1">
            <a:avLst/>
          </a:prstGeom>
          <a:ln w="28575">
            <a:solidFill>
              <a:srgbClr val="6452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21F1448-307C-47B1-B007-538BFDA98412}"/>
              </a:ext>
            </a:extLst>
          </p:cNvPr>
          <p:cNvSpPr txBox="1"/>
          <p:nvPr/>
        </p:nvSpPr>
        <p:spPr>
          <a:xfrm>
            <a:off x="2464129" y="5452525"/>
            <a:ext cx="6650182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Delay </a:t>
            </a:r>
            <a:r>
              <a:rPr lang="ko-KR" altLang="en-US" dirty="0"/>
              <a:t>증가</a:t>
            </a:r>
          </a:p>
        </p:txBody>
      </p:sp>
    </p:spTree>
    <p:extLst>
      <p:ext uri="{BB962C8B-B14F-4D97-AF65-F5344CB8AC3E}">
        <p14:creationId xmlns:p14="http://schemas.microsoft.com/office/powerpoint/2010/main" val="2557412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2649415" y="3240230"/>
            <a:ext cx="8129954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6000"/>
              <a:buFont typeface="Arial"/>
              <a:buNone/>
            </a:pPr>
            <a:r>
              <a:rPr lang="en-US" sz="6000" b="1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r>
              <a:rPr lang="en-US" sz="6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 Duty Cycle</a:t>
            </a:r>
            <a:endParaRPr sz="6000" b="1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60854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2003572" y="682510"/>
            <a:ext cx="8963365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05. Duty Cycle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77;p14">
                <a:extLst>
                  <a:ext uri="{FF2B5EF4-FFF2-40B4-BE49-F238E27FC236}">
                    <a16:creationId xmlns:a16="http://schemas.microsoft.com/office/drawing/2014/main" id="{7D397150-99BD-4738-B89F-F99A0F3B08AF}"/>
                  </a:ext>
                </a:extLst>
              </p:cNvPr>
              <p:cNvSpPr txBox="1"/>
              <p:nvPr/>
            </p:nvSpPr>
            <p:spPr>
              <a:xfrm>
                <a:off x="2921744" y="4836855"/>
                <a:ext cx="3563510" cy="1255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Duty High</a:t>
                </a:r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sym typeface="Malgun Gothic"/>
                  </a:rPr>
                  <a:t>출력이 </a:t>
                </a: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sym typeface="Malgun Gothic"/>
                  </a:rPr>
                  <a:t>High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sym typeface="Malgun Gothic"/>
                  </a:rPr>
                  <a:t>로 유지된 시간 비율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7" name="Google Shape;177;p14">
                <a:extLst>
                  <a:ext uri="{FF2B5EF4-FFF2-40B4-BE49-F238E27FC236}">
                    <a16:creationId xmlns:a16="http://schemas.microsoft.com/office/drawing/2014/main" id="{7D397150-99BD-4738-B89F-F99A0F3B0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744" y="4836855"/>
                <a:ext cx="3563510" cy="1255432"/>
              </a:xfrm>
              <a:prstGeom prst="rect">
                <a:avLst/>
              </a:prstGeom>
              <a:blipFill>
                <a:blip r:embed="rId3"/>
                <a:stretch>
                  <a:fillRect l="-5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77;p14">
                <a:extLst>
                  <a:ext uri="{FF2B5EF4-FFF2-40B4-BE49-F238E27FC236}">
                    <a16:creationId xmlns:a16="http://schemas.microsoft.com/office/drawing/2014/main" id="{88389722-8544-40CE-B172-67FA1225EE39}"/>
                  </a:ext>
                </a:extLst>
              </p:cNvPr>
              <p:cNvSpPr txBox="1"/>
              <p:nvPr/>
            </p:nvSpPr>
            <p:spPr>
              <a:xfrm>
                <a:off x="7403427" y="4836855"/>
                <a:ext cx="3563510" cy="1255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Duty Low</a:t>
                </a:r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sym typeface="Malgun Gothic"/>
                  </a:rPr>
                  <a:t>출력이 </a:t>
                </a: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sym typeface="Malgun Gothic"/>
                  </a:rPr>
                  <a:t>Low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sym typeface="Malgun Gothic"/>
                  </a:rPr>
                  <a:t>로 유지된 시간 비율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8" name="Google Shape;177;p14">
                <a:extLst>
                  <a:ext uri="{FF2B5EF4-FFF2-40B4-BE49-F238E27FC236}">
                    <a16:creationId xmlns:a16="http://schemas.microsoft.com/office/drawing/2014/main" id="{88389722-8544-40CE-B172-67FA1225E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27" y="4836855"/>
                <a:ext cx="3563510" cy="1255432"/>
              </a:xfrm>
              <a:prstGeom prst="rect">
                <a:avLst/>
              </a:prstGeom>
              <a:blipFill>
                <a:blip r:embed="rId4"/>
                <a:stretch>
                  <a:fillRect l="-5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BEE060-425F-45D9-8A2F-C07340A8E409}"/>
                  </a:ext>
                </a:extLst>
              </p:cNvPr>
              <p:cNvSpPr txBox="1"/>
              <p:nvPr/>
            </p:nvSpPr>
            <p:spPr>
              <a:xfrm>
                <a:off x="8720419" y="6175490"/>
                <a:ext cx="1869999" cy="434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accent6">
                        <a:lumMod val="50000"/>
                      </a:schemeClr>
                    </a:solidFill>
                    <a:latin typeface="+mj-ea"/>
                    <a:ea typeface="+mj-ea"/>
                  </a:rPr>
                  <a:t>항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상</m:t>
                    </m:r>
                    <m:r>
                      <a:rPr lang="en-US" altLang="ko-KR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𝐷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𝐻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𝐷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1 </m:t>
                    </m:r>
                  </m:oMath>
                </a14:m>
                <a:r>
                  <a:rPr lang="ko-KR" altLang="en-US" dirty="0">
                    <a:solidFill>
                      <a:schemeClr val="accent6">
                        <a:lumMod val="50000"/>
                      </a:schemeClr>
                    </a:solidFill>
                    <a:latin typeface="+mj-ea"/>
                    <a:ea typeface="+mj-ea"/>
                  </a:rPr>
                  <a:t>이다</a:t>
                </a:r>
                <a:r>
                  <a:rPr lang="en-US" altLang="ko-KR" dirty="0">
                    <a:solidFill>
                      <a:schemeClr val="accent6">
                        <a:lumMod val="50000"/>
                      </a:schemeClr>
                    </a:solidFill>
                    <a:latin typeface="+mj-ea"/>
                    <a:ea typeface="+mj-ea"/>
                  </a:rPr>
                  <a:t>.</a:t>
                </a:r>
                <a:r>
                  <a:rPr lang="ko-KR" altLang="en-US" dirty="0">
                    <a:solidFill>
                      <a:schemeClr val="accent6">
                        <a:lumMod val="50000"/>
                      </a:schemeClr>
                    </a:solidFill>
                    <a:latin typeface="+mj-ea"/>
                    <a:ea typeface="+mj-ea"/>
                  </a:rPr>
                  <a:t> </a:t>
                </a:r>
                <a:endParaRPr lang="en-US" altLang="ko-KR" dirty="0">
                  <a:solidFill>
                    <a:schemeClr val="accent6">
                      <a:lumMod val="50000"/>
                    </a:schemeClr>
                  </a:solidFill>
                  <a:latin typeface="+mj-ea"/>
                  <a:ea typeface="+mj-ea"/>
                </a:endParaRPr>
              </a:p>
              <a:p>
                <a:r>
                  <a:rPr lang="en-US" altLang="ko-KR" dirty="0">
                    <a:solidFill>
                      <a:schemeClr val="accent6">
                        <a:lumMod val="50000"/>
                      </a:schemeClr>
                    </a:solidFill>
                    <a:latin typeface="+mj-ea"/>
                    <a:ea typeface="+mj-ea"/>
                  </a:rPr>
                  <a:t> ( </a:t>
                </a:r>
                <a:r>
                  <a:rPr lang="ko-KR" altLang="en-US" dirty="0">
                    <a:solidFill>
                      <a:schemeClr val="accent6">
                        <a:lumMod val="50000"/>
                      </a:schemeClr>
                    </a:solidFill>
                    <a:latin typeface="+mj-ea"/>
                    <a:ea typeface="+mj-ea"/>
                  </a:rPr>
                  <a:t>즉</a:t>
                </a:r>
                <a:r>
                  <a:rPr lang="en-US" altLang="ko-KR" dirty="0">
                    <a:solidFill>
                      <a:schemeClr val="accent6">
                        <a:lumMod val="50000"/>
                      </a:schemeClr>
                    </a:solidFill>
                    <a:latin typeface="+mj-ea"/>
                    <a:ea typeface="+mj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𝑇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𝐻</m:t>
                        </m:r>
                      </m:sub>
                    </m:sSub>
                    <m:r>
                      <a:rPr lang="en-US" altLang="ko-KR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𝑇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</m:sub>
                    </m:sSub>
                    <m:r>
                      <a:rPr lang="en-US" altLang="ko-KR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𝑇</m:t>
                    </m:r>
                    <m:r>
                      <a:rPr lang="en-US" altLang="ko-KR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)</m:t>
                    </m:r>
                  </m:oMath>
                </a14:m>
                <a:r>
                  <a:rPr lang="ko-KR" altLang="en-US" dirty="0">
                    <a:solidFill>
                      <a:schemeClr val="accent6">
                        <a:lumMod val="50000"/>
                      </a:schemeClr>
                    </a:solidFill>
                    <a:latin typeface="+mj-ea"/>
                    <a:ea typeface="+mj-ea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BEE060-425F-45D9-8A2F-C07340A8E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419" y="6175490"/>
                <a:ext cx="1869999" cy="434927"/>
              </a:xfrm>
              <a:prstGeom prst="rect">
                <a:avLst/>
              </a:prstGeom>
              <a:blipFill>
                <a:blip r:embed="rId5"/>
                <a:stretch>
                  <a:fillRect l="-5882" t="-12676" r="-1634" b="-239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3BBC68F-F610-416D-9C94-E8EBD7CD58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460" y="1400388"/>
            <a:ext cx="6723717" cy="3270135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2DC88A0-DAA2-41A3-9F8D-061C352B4EE4}"/>
              </a:ext>
            </a:extLst>
          </p:cNvPr>
          <p:cNvCxnSpPr/>
          <p:nvPr/>
        </p:nvCxnSpPr>
        <p:spPr>
          <a:xfrm>
            <a:off x="5231080" y="2612571"/>
            <a:ext cx="52845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54A05F0-1420-4E82-9992-0A35F635CD0B}"/>
              </a:ext>
            </a:extLst>
          </p:cNvPr>
          <p:cNvCxnSpPr/>
          <p:nvPr/>
        </p:nvCxnSpPr>
        <p:spPr>
          <a:xfrm>
            <a:off x="5956803" y="2887014"/>
            <a:ext cx="52845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091E40-17ED-4BD5-9653-321EE5CA2AEA}"/>
              </a:ext>
            </a:extLst>
          </p:cNvPr>
          <p:cNvSpPr txBox="1"/>
          <p:nvPr/>
        </p:nvSpPr>
        <p:spPr>
          <a:xfrm>
            <a:off x="5168133" y="2242681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Duty H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9953F-4DA8-4C46-A97B-CA325DCA95A3}"/>
              </a:ext>
            </a:extLst>
          </p:cNvPr>
          <p:cNvSpPr txBox="1"/>
          <p:nvPr/>
        </p:nvSpPr>
        <p:spPr>
          <a:xfrm>
            <a:off x="5906679" y="2527510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Duty L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140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2003572" y="682510"/>
            <a:ext cx="8963365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05. Duty Cycle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A601E2-9686-4EEB-8E07-118343078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571" y="1870364"/>
            <a:ext cx="5150372" cy="4127024"/>
          </a:xfrm>
          <a:prstGeom prst="rect">
            <a:avLst/>
          </a:prstGeom>
        </p:spPr>
      </p:pic>
      <p:sp>
        <p:nvSpPr>
          <p:cNvPr id="10" name="Google Shape;176;p14">
            <a:extLst>
              <a:ext uri="{FF2B5EF4-FFF2-40B4-BE49-F238E27FC236}">
                <a16:creationId xmlns:a16="http://schemas.microsoft.com/office/drawing/2014/main" id="{4D5F4094-170B-4EBD-A6C6-1C2EE30C3734}"/>
              </a:ext>
            </a:extLst>
          </p:cNvPr>
          <p:cNvSpPr txBox="1"/>
          <p:nvPr/>
        </p:nvSpPr>
        <p:spPr>
          <a:xfrm>
            <a:off x="2003571" y="1351889"/>
            <a:ext cx="2794059" cy="374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9644C"/>
                </a:solidFill>
                <a:latin typeface="Malgun Gothic"/>
                <a:ea typeface="Malgun Gothic"/>
                <a:cs typeface="Malgun Gothic"/>
                <a:sym typeface="Malgun Gothic"/>
              </a:rPr>
              <a:t>Same Load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F2410-F779-48B8-8C5B-66CD7FBEA2A9}"/>
                  </a:ext>
                </a:extLst>
              </p:cNvPr>
              <p:cNvSpPr txBox="1"/>
              <p:nvPr/>
            </p:nvSpPr>
            <p:spPr>
              <a:xfrm>
                <a:off x="7394372" y="1351889"/>
                <a:ext cx="4410636" cy="2627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bPr>
                        <m:e>
                          <m:r>
                            <a:rPr lang="en-US" altLang="ko-KR" b="1" i="0" smtClean="0">
                              <a:latin typeface="Cambria Math" panose="02040503050406030204" pitchFamily="18" charset="0"/>
                              <a:ea typeface="+mj-ea"/>
                            </a:rPr>
                            <m:t>𝐃</m:t>
                          </m:r>
                        </m:e>
                        <m:sub>
                          <m:r>
                            <a:rPr lang="en-US" altLang="ko-KR" b="1" i="0" smtClean="0">
                              <a:latin typeface="Cambria Math" panose="02040503050406030204" pitchFamily="18" charset="0"/>
                              <a:ea typeface="+mj-ea"/>
                            </a:rPr>
                            <m:t>𝐨𝐮𝐭</m:t>
                          </m:r>
                        </m:sub>
                      </m:sSub>
                      <m:r>
                        <a:rPr lang="en-US" altLang="ko-KR" b="1" i="0" smtClean="0">
                          <a:latin typeface="Cambria Math" panose="02040503050406030204" pitchFamily="18" charset="0"/>
                          <a:ea typeface="+mj-ea"/>
                        </a:rPr>
                        <m:t>&gt;</m:t>
                      </m:r>
                      <m:r>
                        <a:rPr lang="en-US" altLang="ko-KR" b="1" i="0" smtClean="0">
                          <a:latin typeface="Cambria Math" panose="02040503050406030204" pitchFamily="18" charset="0"/>
                          <a:ea typeface="+mj-ea"/>
                        </a:rPr>
                        <m:t>𝟓𝟎</m:t>
                      </m:r>
                      <m:r>
                        <a:rPr lang="en-US" altLang="ko-KR" b="1" i="0" smtClean="0">
                          <a:latin typeface="Cambria Math" panose="02040503050406030204" pitchFamily="18" charset="0"/>
                          <a:ea typeface="+mj-ea"/>
                        </a:rPr>
                        <m:t>%</m:t>
                      </m:r>
                    </m:oMath>
                  </m:oMathPara>
                </a14:m>
                <a:endParaRPr lang="en-US" altLang="ko-KR" b="1" dirty="0"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+mj-ea"/>
                    <a:ea typeface="+mj-ea"/>
                  </a:rPr>
                  <a:t>→ </a:t>
                </a:r>
                <a:r>
                  <a:rPr lang="en-US" altLang="ko-KR" dirty="0">
                    <a:latin typeface="+mj-ea"/>
                    <a:ea typeface="+mj-ea"/>
                  </a:rPr>
                  <a:t>High</a:t>
                </a:r>
                <a:r>
                  <a:rPr lang="ko-KR" altLang="en-US" dirty="0">
                    <a:latin typeface="+mj-ea"/>
                    <a:ea typeface="+mj-ea"/>
                  </a:rPr>
                  <a:t>가 </a:t>
                </a:r>
                <a:r>
                  <a:rPr lang="en-US" altLang="ko-KR" dirty="0">
                    <a:latin typeface="+mj-ea"/>
                    <a:ea typeface="+mj-ea"/>
                  </a:rPr>
                  <a:t> </a:t>
                </a:r>
                <a:r>
                  <a:rPr lang="ko-KR" altLang="en-US" dirty="0">
                    <a:latin typeface="+mj-ea"/>
                    <a:ea typeface="+mj-ea"/>
                  </a:rPr>
                  <a:t>길다</a:t>
                </a:r>
                <a:endParaRPr lang="en-US" altLang="ko-KR" b="1" dirty="0"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i="1" dirty="0">
                    <a:latin typeface="+mj-ea"/>
                    <a:ea typeface="+mj-ea"/>
                  </a:rPr>
                  <a:t>→</a:t>
                </a:r>
                <a:r>
                  <a:rPr lang="en-US" altLang="ko-KR" dirty="0">
                    <a:latin typeface="+mj-ea"/>
                    <a:ea typeface="+mj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+mj-ea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+mj-ea"/>
                          </a:rPr>
                          <m:t>pHL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+mj-ea"/>
                      </a:rPr>
                      <m:t>&gt;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+mj-ea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+mj-ea"/>
                          </a:rPr>
                          <m:t>pLH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j-ea"/>
                    <a:ea typeface="+mj-ea"/>
                  </a:rPr>
                  <a:t>   ( NMOS</a:t>
                </a:r>
                <a:r>
                  <a:rPr lang="ko-KR" altLang="en-US" dirty="0">
                    <a:latin typeface="+mj-ea"/>
                    <a:ea typeface="+mj-ea"/>
                  </a:rPr>
                  <a:t>가 상대적으로 느림 </a:t>
                </a:r>
                <a:r>
                  <a:rPr lang="en-US" altLang="ko-KR" dirty="0">
                    <a:latin typeface="+mj-ea"/>
                    <a:ea typeface="+mj-ea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dirty="0"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b>
                          <m:r>
                            <a:rPr lang="en-US" altLang="ko-KR" b="1">
                              <a:latin typeface="Cambria Math" panose="02040503050406030204" pitchFamily="18" charset="0"/>
                            </a:rPr>
                            <m:t>𝐨𝐮𝐭</m:t>
                          </m:r>
                        </m:sub>
                      </m:sSub>
                      <m:r>
                        <a:rPr lang="en-US" altLang="ko-KR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ko-KR" b="1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altLang="ko-KR" b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altLang="ko-KR" b="1" dirty="0"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+mj-ea"/>
                  </a:rPr>
                  <a:t>→ </a:t>
                </a:r>
                <a:r>
                  <a:rPr lang="en-US" altLang="ko-KR" dirty="0">
                    <a:latin typeface="+mj-ea"/>
                  </a:rPr>
                  <a:t>High</a:t>
                </a:r>
                <a:r>
                  <a:rPr lang="ko-KR" altLang="en-US" dirty="0">
                    <a:latin typeface="+mj-ea"/>
                  </a:rPr>
                  <a:t>가 </a:t>
                </a:r>
                <a:r>
                  <a:rPr lang="en-US" altLang="ko-KR" dirty="0">
                    <a:latin typeface="+mj-ea"/>
                  </a:rPr>
                  <a:t> </a:t>
                </a:r>
                <a:r>
                  <a:rPr lang="ko-KR" altLang="en-US" dirty="0">
                    <a:latin typeface="+mj-ea"/>
                  </a:rPr>
                  <a:t>짧다</a:t>
                </a:r>
                <a:endParaRPr lang="en-US" altLang="ko-KR" b="1" dirty="0"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i="1" dirty="0">
                    <a:latin typeface="+mj-ea"/>
                  </a:rPr>
                  <a:t>→</a:t>
                </a:r>
                <a:r>
                  <a:rPr lang="en-US" altLang="ko-KR" dirty="0">
                    <a:latin typeface="+mj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pHL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pLH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j-ea"/>
                  </a:rPr>
                  <a:t>   ( NMOS</a:t>
                </a:r>
                <a:r>
                  <a:rPr lang="ko-KR" altLang="en-US" dirty="0">
                    <a:latin typeface="+mj-ea"/>
                  </a:rPr>
                  <a:t>가 상대적으로 빠름</a:t>
                </a:r>
                <a:r>
                  <a:rPr lang="en-US" altLang="ko-KR" dirty="0">
                    <a:latin typeface="+mj-ea"/>
                  </a:rPr>
                  <a:t> )</a:t>
                </a:r>
                <a:r>
                  <a:rPr lang="ko-KR" altLang="en-US" dirty="0">
                    <a:latin typeface="+mj-ea"/>
                    <a:ea typeface="+mj-ea"/>
                  </a:rPr>
                  <a:t> </a:t>
                </a:r>
                <a:endParaRPr lang="en-US" altLang="ko-KR" i="1" dirty="0">
                  <a:latin typeface="+mj-ea"/>
                  <a:ea typeface="+mj-ea"/>
                </a:endParaRPr>
              </a:p>
              <a:p>
                <a:endParaRPr lang="en-US" altLang="ko-K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F2410-F779-48B8-8C5B-66CD7FBEA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72" y="1351889"/>
                <a:ext cx="4410636" cy="2627707"/>
              </a:xfrm>
              <a:prstGeom prst="rect">
                <a:avLst/>
              </a:prstGeom>
              <a:blipFill>
                <a:blip r:embed="rId4"/>
                <a:stretch>
                  <a:fillRect l="-4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36911A-D792-40C5-92AA-04C0CED6C3C3}"/>
                  </a:ext>
                </a:extLst>
              </p:cNvPr>
              <p:cNvSpPr txBox="1"/>
              <p:nvPr/>
            </p:nvSpPr>
            <p:spPr>
              <a:xfrm>
                <a:off x="7394372" y="3892138"/>
                <a:ext cx="4681087" cy="196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b="1" dirty="0"/>
                  <a:t>Corner </a:t>
                </a:r>
                <a:r>
                  <a:rPr lang="ko-KR" altLang="en-US" b="1" dirty="0"/>
                  <a:t>변화에 따른 </a:t>
                </a:r>
                <a:r>
                  <a:rPr lang="en-US" altLang="ko-KR" b="1" dirty="0"/>
                  <a:t>Duty cycle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SS &gt; NN &gt; FF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i="1" dirty="0">
                    <a:latin typeface="+mj-ea"/>
                  </a:rPr>
                  <a:t>→ </a:t>
                </a:r>
                <a:r>
                  <a:rPr lang="ko-KR" altLang="en-US" dirty="0"/>
                  <a:t>코너가 빠를 수록 </a:t>
                </a:r>
                <a:r>
                  <a:rPr lang="en-US" altLang="ko-KR" dirty="0"/>
                  <a:t>(FF) </a:t>
                </a:r>
                <a:r>
                  <a:rPr lang="ko-KR" altLang="en-US" dirty="0"/>
                  <a:t>출력 </a:t>
                </a:r>
                <a:r>
                  <a:rPr lang="en-US" altLang="ko-KR" dirty="0"/>
                  <a:t>High</a:t>
                </a:r>
                <a:r>
                  <a:rPr lang="ko-KR" altLang="en-US" dirty="0"/>
                  <a:t>가 더 짧아지고 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</a:t>
                </a:r>
                <a:r>
                  <a:rPr lang="ko-KR" altLang="en-US" dirty="0"/>
                  <a:t>느릴수록</a:t>
                </a:r>
                <a:r>
                  <a:rPr lang="en-US" altLang="ko-KR" dirty="0"/>
                  <a:t>(SS) </a:t>
                </a:r>
                <a:r>
                  <a:rPr lang="ko-KR" altLang="en-US" dirty="0"/>
                  <a:t>출력 </a:t>
                </a:r>
                <a:r>
                  <a:rPr lang="en-US" altLang="ko-KR" dirty="0"/>
                  <a:t>High</a:t>
                </a:r>
                <a:r>
                  <a:rPr lang="ko-KR" altLang="en-US" dirty="0"/>
                  <a:t>가 </a:t>
                </a:r>
                <a:r>
                  <a:rPr lang="ko-KR" altLang="en-US" dirty="0" err="1"/>
                  <a:t>길어짐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( </a:t>
                </a:r>
                <a:r>
                  <a:rPr lang="ko-KR" altLang="en-US" dirty="0" err="1"/>
                  <a:t>구동력</a:t>
                </a:r>
                <a:r>
                  <a:rPr lang="ko-KR" altLang="en-US" dirty="0"/>
                  <a:t> ↑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pLH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상대적으로 커져 </a:t>
                </a:r>
                <a:r>
                  <a:rPr lang="en-US" altLang="ko-KR" dirty="0"/>
                  <a:t>Duty High </a:t>
                </a:r>
                <a:r>
                  <a:rPr lang="ko-KR" altLang="en-US" dirty="0"/>
                  <a:t>비율 ↓ </a:t>
                </a:r>
                <a:r>
                  <a:rPr lang="en-US" altLang="ko-KR" dirty="0"/>
                  <a:t>) 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36911A-D792-40C5-92AA-04C0CED6C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72" y="3892138"/>
                <a:ext cx="4681087" cy="1965859"/>
              </a:xfrm>
              <a:prstGeom prst="rect">
                <a:avLst/>
              </a:prstGeom>
              <a:blipFill>
                <a:blip r:embed="rId5"/>
                <a:stretch>
                  <a:fillRect l="-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8DF54F4-8D9C-4BBF-9806-C4B4300C9E9F}"/>
              </a:ext>
            </a:extLst>
          </p:cNvPr>
          <p:cNvSpPr txBox="1"/>
          <p:nvPr/>
        </p:nvSpPr>
        <p:spPr>
          <a:xfrm>
            <a:off x="7394372" y="5824578"/>
            <a:ext cx="4634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즉</a:t>
            </a:r>
            <a:r>
              <a:rPr lang="en-US" altLang="ko-KR" dirty="0"/>
              <a:t>, FF</a:t>
            </a:r>
            <a:r>
              <a:rPr lang="ko-KR" altLang="en-US" i="1" dirty="0">
                <a:latin typeface="+mj-ea"/>
              </a:rPr>
              <a:t>→ </a:t>
            </a:r>
            <a:r>
              <a:rPr lang="en-US" altLang="ko-KR" dirty="0"/>
              <a:t>SS </a:t>
            </a:r>
            <a:r>
              <a:rPr lang="ko-KR" altLang="en-US" dirty="0"/>
              <a:t>로 갈수록 </a:t>
            </a:r>
            <a:r>
              <a:rPr lang="en-US" altLang="ko-KR" dirty="0"/>
              <a:t>Duty high </a:t>
            </a:r>
            <a:r>
              <a:rPr lang="ko-KR" altLang="en-US" dirty="0"/>
              <a:t>증가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793F80-B65D-4E7A-8933-E8037ABE4386}"/>
              </a:ext>
            </a:extLst>
          </p:cNvPr>
          <p:cNvSpPr/>
          <p:nvPr/>
        </p:nvSpPr>
        <p:spPr>
          <a:xfrm>
            <a:off x="7220197" y="1229096"/>
            <a:ext cx="4808928" cy="5171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557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2003572" y="682510"/>
            <a:ext cx="8963365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05. Duty Cycle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A601E2-9686-4EEB-8E07-118343078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073" y="1870364"/>
            <a:ext cx="5029193" cy="4043548"/>
          </a:xfrm>
          <a:prstGeom prst="rect">
            <a:avLst/>
          </a:prstGeom>
        </p:spPr>
      </p:pic>
      <p:sp>
        <p:nvSpPr>
          <p:cNvPr id="10" name="Google Shape;176;p14">
            <a:extLst>
              <a:ext uri="{FF2B5EF4-FFF2-40B4-BE49-F238E27FC236}">
                <a16:creationId xmlns:a16="http://schemas.microsoft.com/office/drawing/2014/main" id="{4D5F4094-170B-4EBD-A6C6-1C2EE30C3734}"/>
              </a:ext>
            </a:extLst>
          </p:cNvPr>
          <p:cNvSpPr txBox="1"/>
          <p:nvPr/>
        </p:nvSpPr>
        <p:spPr>
          <a:xfrm>
            <a:off x="2003571" y="1351889"/>
            <a:ext cx="2794059" cy="374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9644C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 Load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DE5DB-6677-4C13-A5CD-47A764465C84}"/>
              </a:ext>
            </a:extLst>
          </p:cNvPr>
          <p:cNvSpPr txBox="1"/>
          <p:nvPr/>
        </p:nvSpPr>
        <p:spPr>
          <a:xfrm>
            <a:off x="7394372" y="1351889"/>
            <a:ext cx="457351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Multi Load</a:t>
            </a:r>
            <a:r>
              <a:rPr lang="ko-KR" altLang="en-US" dirty="0">
                <a:latin typeface="+mj-ea"/>
                <a:ea typeface="+mj-ea"/>
              </a:rPr>
              <a:t>에서는 크기 </a:t>
            </a:r>
            <a:r>
              <a:rPr lang="en-US" altLang="ko-KR" dirty="0">
                <a:latin typeface="+mj-ea"/>
                <a:ea typeface="+mj-ea"/>
              </a:rPr>
              <a:t>(1x4x) </a:t>
            </a:r>
            <a:r>
              <a:rPr lang="ko-KR" altLang="en-US" dirty="0">
                <a:latin typeface="+mj-ea"/>
                <a:ea typeface="+mj-ea"/>
              </a:rPr>
              <a:t>가 </a:t>
            </a:r>
            <a:r>
              <a:rPr lang="en-US" altLang="ko-KR" dirty="0">
                <a:latin typeface="+mj-ea"/>
                <a:ea typeface="+mj-ea"/>
              </a:rPr>
              <a:t>Duty</a:t>
            </a:r>
            <a:r>
              <a:rPr lang="ko-KR" altLang="en-US" dirty="0">
                <a:latin typeface="+mj-ea"/>
                <a:ea typeface="+mj-ea"/>
              </a:rPr>
              <a:t>에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영향을 줌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+mj-ea"/>
                <a:ea typeface="+mj-ea"/>
              </a:rPr>
              <a:t>    배선 </a:t>
            </a:r>
            <a:r>
              <a:rPr lang="en-US" altLang="ko-KR" dirty="0">
                <a:latin typeface="+mj-ea"/>
                <a:ea typeface="+mj-ea"/>
              </a:rPr>
              <a:t>Fan-out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RC</a:t>
            </a:r>
            <a:r>
              <a:rPr lang="ko-KR" altLang="en-US" dirty="0">
                <a:latin typeface="+mj-ea"/>
                <a:ea typeface="+mj-ea"/>
              </a:rPr>
              <a:t>에 의해 상승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하강 경로의 유효 </a:t>
            </a:r>
            <a:r>
              <a:rPr lang="en-US" altLang="ko-KR" dirty="0">
                <a:latin typeface="+mj-ea"/>
                <a:ea typeface="+mj-ea"/>
              </a:rPr>
              <a:t>RC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   </a:t>
            </a:r>
            <a:r>
              <a:rPr lang="ko-KR" altLang="en-US" dirty="0">
                <a:latin typeface="+mj-ea"/>
              </a:rPr>
              <a:t> 다르게 스케일 됨</a:t>
            </a:r>
            <a:endParaRPr lang="en-US" altLang="ko-KR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Corner</a:t>
            </a:r>
            <a:r>
              <a:rPr lang="ko-KR" altLang="en-US" dirty="0">
                <a:latin typeface="+mj-ea"/>
                <a:ea typeface="+mj-ea"/>
              </a:rPr>
              <a:t> 변화에 따른 </a:t>
            </a:r>
            <a:r>
              <a:rPr lang="en-US" altLang="ko-KR" dirty="0">
                <a:latin typeface="+mj-ea"/>
                <a:ea typeface="+mj-ea"/>
              </a:rPr>
              <a:t>Duty cycle</a:t>
            </a:r>
            <a:r>
              <a:rPr lang="ko-KR" altLang="en-US" dirty="0">
                <a:latin typeface="+mj-ea"/>
                <a:ea typeface="+mj-ea"/>
              </a:rPr>
              <a:t>은 </a:t>
            </a:r>
            <a:r>
              <a:rPr lang="en-US" altLang="ko-KR" dirty="0">
                <a:latin typeface="+mj-ea"/>
                <a:ea typeface="+mj-ea"/>
              </a:rPr>
              <a:t>SS &gt; NN &gt; FF </a:t>
            </a:r>
            <a:r>
              <a:rPr lang="ko-KR" altLang="en-US" dirty="0">
                <a:latin typeface="+mj-ea"/>
                <a:ea typeface="+mj-ea"/>
              </a:rPr>
              <a:t>동일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     ( </a:t>
            </a:r>
            <a:r>
              <a:rPr lang="ko-KR" altLang="en-US" dirty="0">
                <a:latin typeface="+mj-ea"/>
                <a:ea typeface="+mj-ea"/>
              </a:rPr>
              <a:t>코너가 느릴수록 출력 </a:t>
            </a:r>
            <a:r>
              <a:rPr lang="en-US" altLang="ko-KR" dirty="0">
                <a:latin typeface="+mj-ea"/>
                <a:ea typeface="+mj-ea"/>
              </a:rPr>
              <a:t>High</a:t>
            </a:r>
            <a:r>
              <a:rPr lang="ko-KR" altLang="en-US" dirty="0">
                <a:latin typeface="+mj-ea"/>
                <a:ea typeface="+mj-ea"/>
              </a:rPr>
              <a:t>가 </a:t>
            </a:r>
            <a:r>
              <a:rPr lang="ko-KR" altLang="en-US" dirty="0" err="1">
                <a:latin typeface="+mj-ea"/>
                <a:ea typeface="+mj-ea"/>
              </a:rPr>
              <a:t>길어짐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86239-FD49-4296-A503-1FF7779D023F}"/>
              </a:ext>
            </a:extLst>
          </p:cNvPr>
          <p:cNvSpPr txBox="1"/>
          <p:nvPr/>
        </p:nvSpPr>
        <p:spPr>
          <a:xfrm>
            <a:off x="7694908" y="3892138"/>
            <a:ext cx="3886200" cy="2636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  <a:ea typeface="+mn-ea"/>
              </a:rPr>
              <a:t>180nm</a:t>
            </a:r>
            <a:r>
              <a:rPr lang="en-US" altLang="ko-KR" dirty="0">
                <a:latin typeface="+mn-ea"/>
                <a:ea typeface="+mn-ea"/>
              </a:rPr>
              <a:t> : Same load </a:t>
            </a:r>
            <a:r>
              <a:rPr lang="ko-KR" altLang="en-US" dirty="0">
                <a:latin typeface="+mn-ea"/>
                <a:ea typeface="+mn-ea"/>
              </a:rPr>
              <a:t>대비 최대 </a:t>
            </a:r>
            <a:r>
              <a:rPr lang="en-US" altLang="ko-KR" dirty="0">
                <a:latin typeface="+mn-ea"/>
                <a:ea typeface="+mn-ea"/>
              </a:rPr>
              <a:t>+0.76%,    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  <a:ea typeface="+mn-ea"/>
              </a:rPr>
              <a:t>            </a:t>
            </a:r>
            <a:r>
              <a:rPr lang="ko-KR" altLang="en-US" dirty="0">
                <a:latin typeface="+mn-ea"/>
              </a:rPr>
              <a:t>대부분 </a:t>
            </a:r>
            <a:r>
              <a:rPr lang="en-US" altLang="ko-KR" dirty="0">
                <a:latin typeface="+mn-ea"/>
              </a:rPr>
              <a:t>High</a:t>
            </a:r>
            <a:r>
              <a:rPr lang="ko-KR" altLang="en-US" dirty="0">
                <a:latin typeface="+mn-ea"/>
              </a:rPr>
              <a:t>가 </a:t>
            </a:r>
            <a:r>
              <a:rPr lang="ko-KR" altLang="en-US" dirty="0" err="1">
                <a:latin typeface="+mn-ea"/>
              </a:rPr>
              <a:t>길어짐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  <a:ea typeface="+mn-ea"/>
              </a:rPr>
              <a:t>90nm </a:t>
            </a:r>
            <a:r>
              <a:rPr lang="en-US" altLang="ko-KR" dirty="0">
                <a:latin typeface="+mn-ea"/>
                <a:ea typeface="+mn-ea"/>
              </a:rPr>
              <a:t>: Same load </a:t>
            </a:r>
            <a:r>
              <a:rPr lang="ko-KR" altLang="en-US" dirty="0">
                <a:latin typeface="+mn-ea"/>
                <a:ea typeface="+mn-ea"/>
              </a:rPr>
              <a:t>대비 최대 </a:t>
            </a:r>
            <a:r>
              <a:rPr lang="en-US" altLang="ko-KR" dirty="0">
                <a:latin typeface="+mn-ea"/>
                <a:ea typeface="+mn-ea"/>
              </a:rPr>
              <a:t>+0.51%,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  <a:ea typeface="+mn-ea"/>
              </a:rPr>
              <a:t>          corner/size </a:t>
            </a:r>
            <a:r>
              <a:rPr lang="ko-KR" altLang="en-US" dirty="0">
                <a:latin typeface="+mn-ea"/>
                <a:ea typeface="+mn-ea"/>
              </a:rPr>
              <a:t>의존도 가장 큼</a:t>
            </a:r>
            <a:endParaRPr lang="en-US" altLang="ko-KR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  <a:ea typeface="+mn-ea"/>
              </a:rPr>
              <a:t>45nm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거의 </a:t>
            </a:r>
            <a:r>
              <a:rPr lang="en-US" altLang="ko-KR" dirty="0">
                <a:latin typeface="+mn-ea"/>
                <a:ea typeface="+mn-ea"/>
              </a:rPr>
              <a:t>50% </a:t>
            </a:r>
            <a:r>
              <a:rPr lang="ko-KR" altLang="en-US" dirty="0">
                <a:latin typeface="+mn-ea"/>
                <a:ea typeface="+mn-ea"/>
              </a:rPr>
              <a:t>부근</a:t>
            </a:r>
            <a:r>
              <a:rPr lang="en-US" altLang="ko-KR" dirty="0">
                <a:latin typeface="+mn-ea"/>
                <a:ea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  <a:ea typeface="+mn-ea"/>
              </a:rPr>
              <a:t>          </a:t>
            </a:r>
            <a:r>
              <a:rPr lang="ko-KR" altLang="en-US" dirty="0">
                <a:latin typeface="+mn-ea"/>
                <a:ea typeface="+mn-ea"/>
              </a:rPr>
              <a:t>사이즈 증가 시 약간의 </a:t>
            </a:r>
            <a:r>
              <a:rPr lang="en-US" altLang="ko-KR" dirty="0">
                <a:latin typeface="+mn-ea"/>
                <a:ea typeface="+mn-ea"/>
              </a:rPr>
              <a:t>High </a:t>
            </a:r>
            <a:r>
              <a:rPr lang="ko-KR" altLang="en-US" dirty="0">
                <a:latin typeface="+mn-ea"/>
                <a:ea typeface="+mn-ea"/>
              </a:rPr>
              <a:t>비율 ↓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6F12A8-28E7-4C6F-9677-1551C573D621}"/>
              </a:ext>
            </a:extLst>
          </p:cNvPr>
          <p:cNvSpPr/>
          <p:nvPr/>
        </p:nvSpPr>
        <p:spPr>
          <a:xfrm>
            <a:off x="7220197" y="1229096"/>
            <a:ext cx="4808928" cy="54448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61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2649415" y="3240230"/>
            <a:ext cx="8129954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6000"/>
              <a:buFont typeface="Arial"/>
              <a:buNone/>
            </a:pPr>
            <a:r>
              <a:rPr lang="en-US" sz="6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06. Power Analysis</a:t>
            </a:r>
            <a:endParaRPr sz="6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2003572" y="682510"/>
            <a:ext cx="8963365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06. Power Analysis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2003571" y="1351889"/>
            <a:ext cx="3940029" cy="374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9644C"/>
                </a:solidFill>
                <a:latin typeface="Malgun Gothic"/>
                <a:ea typeface="Malgun Gothic"/>
                <a:cs typeface="Malgun Gothic"/>
                <a:sym typeface="Malgun Gothic"/>
              </a:rPr>
              <a:t>Power Consumption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0" name="Google Shape;210;p17"/>
          <p:cNvGrpSpPr/>
          <p:nvPr/>
        </p:nvGrpSpPr>
        <p:grpSpPr>
          <a:xfrm>
            <a:off x="2003571" y="1534925"/>
            <a:ext cx="6107276" cy="2078741"/>
            <a:chOff x="2003571" y="1534925"/>
            <a:chExt cx="6793466" cy="2319071"/>
          </a:xfrm>
        </p:grpSpPr>
        <p:sp>
          <p:nvSpPr>
            <p:cNvPr id="211" name="Google Shape;211;p17"/>
            <p:cNvSpPr/>
            <p:nvPr/>
          </p:nvSpPr>
          <p:spPr>
            <a:xfrm>
              <a:off x="2003571" y="2357705"/>
              <a:ext cx="2853437" cy="736270"/>
            </a:xfrm>
            <a:prstGeom prst="roundRect">
              <a:avLst>
                <a:gd name="adj" fmla="val 16667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212" name="Google Shape;212;p17"/>
            <p:cNvCxnSpPr>
              <a:stCxn id="211" idx="3"/>
            </p:cNvCxnSpPr>
            <p:nvPr/>
          </p:nvCxnSpPr>
          <p:spPr>
            <a:xfrm rot="10800000" flipH="1">
              <a:off x="4857008" y="1917940"/>
              <a:ext cx="1086600" cy="8079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3" name="Google Shape;213;p17"/>
            <p:cNvCxnSpPr>
              <a:stCxn id="211" idx="3"/>
            </p:cNvCxnSpPr>
            <p:nvPr/>
          </p:nvCxnSpPr>
          <p:spPr>
            <a:xfrm>
              <a:off x="4857008" y="2725840"/>
              <a:ext cx="1086600" cy="7536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14" name="Google Shape;214;p17"/>
            <p:cNvSpPr/>
            <p:nvPr/>
          </p:nvSpPr>
          <p:spPr>
            <a:xfrm>
              <a:off x="5943600" y="1534925"/>
              <a:ext cx="2853437" cy="736270"/>
            </a:xfrm>
            <a:prstGeom prst="roundRect">
              <a:avLst>
                <a:gd name="adj" fmla="val 16667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5943600" y="3117726"/>
              <a:ext cx="2853437" cy="736270"/>
            </a:xfrm>
            <a:prstGeom prst="roundRect">
              <a:avLst>
                <a:gd name="adj" fmla="val 16667"/>
              </a:avLst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sp>
        <p:nvSpPr>
          <p:cNvPr id="216" name="Google Shape;216;p17"/>
          <p:cNvSpPr txBox="1"/>
          <p:nvPr/>
        </p:nvSpPr>
        <p:spPr>
          <a:xfrm>
            <a:off x="7091248" y="2267017"/>
            <a:ext cx="55814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sz="44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8312726" y="1708903"/>
            <a:ext cx="29569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Switching + Short circuit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8312726" y="3120498"/>
            <a:ext cx="29569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Leakage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2364306" y="5416072"/>
            <a:ext cx="1683281" cy="2610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811" b="-348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2003571" y="4191991"/>
            <a:ext cx="2357252" cy="230975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2154804" y="4284524"/>
            <a:ext cx="2102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Switching Power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2258540" y="4749703"/>
            <a:ext cx="189481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신호가 변경될 때 소비되는 전력</a:t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2319100" y="5834505"/>
            <a:ext cx="1548501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t="-2172" b="-1304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2298381" y="6079291"/>
            <a:ext cx="1498936" cy="33855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t="-5356" b="-2142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5419962" y="4186999"/>
            <a:ext cx="2357252" cy="230975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5343886" y="4276584"/>
            <a:ext cx="2509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Short-Circuit Power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5474514" y="4693743"/>
            <a:ext cx="224814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Inverter가 전환될 때 NMOS, PMOS가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동시에 켜지며 짧게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Short-circuit이 발생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8836353" y="4186999"/>
            <a:ext cx="2357252" cy="230975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8760277" y="4276584"/>
            <a:ext cx="2509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Leakage Power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8888299" y="4656846"/>
            <a:ext cx="224814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Off 상태에서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누설되는 전력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Subthreshold 전류,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Gate Oxide 누설 등으로 인해 발생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8996262" y="5894625"/>
            <a:ext cx="203222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6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233" name="Google Shape;233;p17"/>
          <p:cNvCxnSpPr/>
          <p:nvPr/>
        </p:nvCxnSpPr>
        <p:spPr>
          <a:xfrm rot="10800000" flipH="1">
            <a:off x="4257087" y="4001332"/>
            <a:ext cx="442804" cy="28319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4" name="Google Shape;234;p17"/>
          <p:cNvCxnSpPr/>
          <p:nvPr/>
        </p:nvCxnSpPr>
        <p:spPr>
          <a:xfrm rot="10800000">
            <a:off x="5004818" y="4001332"/>
            <a:ext cx="445565" cy="32710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5" name="Google Shape;235;p17"/>
          <p:cNvSpPr/>
          <p:nvPr/>
        </p:nvSpPr>
        <p:spPr>
          <a:xfrm>
            <a:off x="4325683" y="3621345"/>
            <a:ext cx="1086662" cy="369332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4303955" y="3589577"/>
            <a:ext cx="1130117" cy="39126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781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237" name="Google Shape;237;p17"/>
          <p:cNvCxnSpPr>
            <a:stCxn id="229" idx="0"/>
          </p:cNvCxnSpPr>
          <p:nvPr/>
        </p:nvCxnSpPr>
        <p:spPr>
          <a:xfrm rot="10800000" flipH="1">
            <a:off x="10014979" y="3859399"/>
            <a:ext cx="1800" cy="32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8" name="Google Shape;238;p17"/>
          <p:cNvSpPr/>
          <p:nvPr/>
        </p:nvSpPr>
        <p:spPr>
          <a:xfrm>
            <a:off x="9607138" y="3459052"/>
            <a:ext cx="849085" cy="400429"/>
          </a:xfrm>
          <a:prstGeom prst="rect">
            <a:avLst/>
          </a:prstGeom>
          <a:noFill/>
          <a:ln w="12700" cap="flat" cmpd="sng">
            <a:solidFill>
              <a:srgbClr val="9CC2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9592457" y="3436278"/>
            <a:ext cx="878446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Google Shape;249;g3801a7e8453_1_15">
                <a:extLst>
                  <a:ext uri="{FF2B5EF4-FFF2-40B4-BE49-F238E27FC236}">
                    <a16:creationId xmlns:a16="http://schemas.microsoft.com/office/drawing/2014/main" id="{FC0B2256-E7D1-43C3-B6D2-7548BD78E47B}"/>
                  </a:ext>
                </a:extLst>
              </p:cNvPr>
              <p:cNvSpPr txBox="1"/>
              <p:nvPr/>
            </p:nvSpPr>
            <p:spPr>
              <a:xfrm>
                <a:off x="5427121" y="5884075"/>
                <a:ext cx="3346940" cy="324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𝑷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𝒔𝒉𝒐𝒓𝒕</m:t>
                        </m:r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−</m:t>
                        </m:r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𝒄𝒊𝒓𝒄𝒖𝒊𝒕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𝑻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𝒔𝒄</m:t>
                        </m:r>
                      </m:sub>
                    </m:sSub>
                    <m:sSub>
                      <m:sSubPr>
                        <m:ctrlP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𝑽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𝑫𝑫</m:t>
                        </m:r>
                      </m:sub>
                    </m:sSub>
                    <m:sSub>
                      <m:sSubPr>
                        <m:ctrlP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𝑰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𝒑𝒆𝒂𝒌</m:t>
                        </m:r>
                      </m:sub>
                    </m:sSub>
                  </m:oMath>
                </a14:m>
                <a:endParaRPr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36" name="Google Shape;249;g3801a7e8453_1_15">
                <a:extLst>
                  <a:ext uri="{FF2B5EF4-FFF2-40B4-BE49-F238E27FC236}">
                    <a16:creationId xmlns:a16="http://schemas.microsoft.com/office/drawing/2014/main" id="{FC0B2256-E7D1-43C3-B6D2-7548BD78E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121" y="5884075"/>
                <a:ext cx="3346940" cy="324344"/>
              </a:xfrm>
              <a:prstGeom prst="rect">
                <a:avLst/>
              </a:prstGeom>
              <a:blipFill>
                <a:blip r:embed="rId12"/>
                <a:stretch>
                  <a:fillRect t="-5660" b="-132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01a7e8453_1_15"/>
          <p:cNvSpPr/>
          <p:nvPr/>
        </p:nvSpPr>
        <p:spPr>
          <a:xfrm>
            <a:off x="0" y="0"/>
            <a:ext cx="1075800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g3801a7e8453_1_15"/>
          <p:cNvSpPr/>
          <p:nvPr/>
        </p:nvSpPr>
        <p:spPr>
          <a:xfrm>
            <a:off x="1159497" y="0"/>
            <a:ext cx="273300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g3801a7e8453_1_15"/>
          <p:cNvSpPr txBox="1"/>
          <p:nvPr/>
        </p:nvSpPr>
        <p:spPr>
          <a:xfrm>
            <a:off x="2003572" y="682510"/>
            <a:ext cx="89634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06. Power Analysis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48" name="Google Shape;248;g3801a7e8453_1_15"/>
          <p:cNvPicPr preferRelativeResize="0"/>
          <p:nvPr/>
        </p:nvPicPr>
        <p:blipFill rotWithShape="1">
          <a:blip r:embed="rId3">
            <a:alphaModFix/>
          </a:blip>
          <a:srcRect t="52978"/>
          <a:stretch/>
        </p:blipFill>
        <p:spPr>
          <a:xfrm>
            <a:off x="7657195" y="4985202"/>
            <a:ext cx="2360100" cy="155799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Google Shape;249;g3801a7e8453_1_15"/>
              <p:cNvSpPr txBox="1"/>
              <p:nvPr/>
            </p:nvSpPr>
            <p:spPr>
              <a:xfrm>
                <a:off x="10114205" y="5050634"/>
                <a:ext cx="1569600" cy="1369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Discharge</a:t>
                </a:r>
                <a:endParaRPr sz="18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endParaRPr lang="en-US" sz="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V</a:t>
                </a:r>
                <a:r>
                  <a:rPr lang="en-US" sz="105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in</a:t>
                </a: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= V</a:t>
                </a:r>
                <a:r>
                  <a:rPr lang="en-US" sz="8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DD </a:t>
                </a: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, </a:t>
                </a:r>
                <a:endParaRPr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NMOS ON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되며</a:t>
                </a: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  <m:r>
                      <a:rPr lang="en-US" altLang="ko-K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sym typeface="Malgun Gothic"/>
                      </a:rPr>
                      <m:t> </m:t>
                    </m:r>
                    <m:r>
                      <a:rPr lang="ko-KR" altLang="en-US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sym typeface="Malgun Gothic"/>
                      </a:rPr>
                      <m:t>방</m:t>
                    </m:r>
                  </m:oMath>
                </a14:m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</a:t>
                </a:r>
                <a:endParaRPr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249" name="Google Shape;249;g3801a7e8453_1_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4205" y="5050634"/>
                <a:ext cx="1569600" cy="1369565"/>
              </a:xfrm>
              <a:prstGeom prst="rect">
                <a:avLst/>
              </a:prstGeom>
              <a:blipFill>
                <a:blip r:embed="rId4"/>
                <a:stretch>
                  <a:fillRect l="-3101" t="-26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0" name="Google Shape;250;g3801a7e8453_1_15"/>
          <p:cNvPicPr preferRelativeResize="0"/>
          <p:nvPr/>
        </p:nvPicPr>
        <p:blipFill rotWithShape="1">
          <a:blip r:embed="rId3">
            <a:alphaModFix/>
          </a:blip>
          <a:srcRect b="48008"/>
          <a:stretch/>
        </p:blipFill>
        <p:spPr>
          <a:xfrm>
            <a:off x="7736291" y="3003129"/>
            <a:ext cx="2360100" cy="17227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Google Shape;251;g3801a7e8453_1_15"/>
              <p:cNvSpPr txBox="1"/>
              <p:nvPr/>
            </p:nvSpPr>
            <p:spPr>
              <a:xfrm>
                <a:off x="10114205" y="3167095"/>
                <a:ext cx="1569600" cy="1299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2675" tIns="41325" rIns="82675" bIns="41325" anchor="t" anchorCtr="0">
                <a:spAutoFit/>
              </a:bodyPr>
              <a:lstStyle/>
              <a:p>
                <a:pPr lvl="0"/>
                <a:r>
                  <a:rPr lang="en-US" altLang="ko-KR" sz="1800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Charge</a:t>
                </a:r>
              </a:p>
              <a:p>
                <a:pPr lvl="0">
                  <a:buClr>
                    <a:schemeClr val="dk1"/>
                  </a:buClr>
                </a:pPr>
                <a:endParaRPr lang="en-US" altLang="ko-KR" sz="5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</a:pP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V</a:t>
                </a:r>
                <a:r>
                  <a:rPr lang="en-US" altLang="ko-KR" sz="105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in</a:t>
                </a: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&gt; V</a:t>
                </a:r>
                <a:r>
                  <a:rPr lang="en-US" altLang="ko-KR" sz="8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DD </a:t>
                </a: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, </a:t>
                </a:r>
              </a:p>
              <a:p>
                <a:pPr lvl="0">
                  <a:buClr>
                    <a:schemeClr val="dk1"/>
                  </a:buClr>
                </a:pP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PMOS ON 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되며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𝐶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sym typeface="Malgun Gothic"/>
                      </a:rPr>
                      <m:t> </m:t>
                    </m:r>
                    <m:r>
                      <a:rPr lang="ko-KR" altLang="en-US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sym typeface="Malgun Gothic"/>
                      </a:rPr>
                      <m:t>충</m:t>
                    </m:r>
                  </m:oMath>
                </a14:m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 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251" name="Google Shape;251;g3801a7e8453_1_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4205" y="3167095"/>
                <a:ext cx="1569600" cy="1299175"/>
              </a:xfrm>
              <a:prstGeom prst="rect">
                <a:avLst/>
              </a:prstGeom>
              <a:blipFill>
                <a:blip r:embed="rId5"/>
                <a:stretch>
                  <a:fillRect l="-3876" t="-3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Google Shape;256;g3801a7e8453_1_15"/>
          <p:cNvSpPr txBox="1"/>
          <p:nvPr/>
        </p:nvSpPr>
        <p:spPr>
          <a:xfrm>
            <a:off x="1887341" y="1488911"/>
            <a:ext cx="39399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800" b="1" dirty="0">
                <a:solidFill>
                  <a:srgbClr val="09644C"/>
                </a:solidFill>
                <a:latin typeface="Malgun Gothic"/>
                <a:ea typeface="Malgun Gothic"/>
                <a:cs typeface="Malgun Gothic"/>
                <a:sym typeface="Malgun Gothic"/>
              </a:rPr>
              <a:t>Switching Power</a:t>
            </a:r>
            <a:endParaRPr lang="en-US" altLang="ko-KR"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04712B-BD8C-4C68-B3A4-751B7EFA8DD0}"/>
              </a:ext>
            </a:extLst>
          </p:cNvPr>
          <p:cNvSpPr/>
          <p:nvPr/>
        </p:nvSpPr>
        <p:spPr>
          <a:xfrm>
            <a:off x="8083805" y="1757548"/>
            <a:ext cx="3945320" cy="4934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22795F5-ABD1-46DF-882F-4A5A1FCAC3BD}"/>
              </a:ext>
            </a:extLst>
          </p:cNvPr>
          <p:cNvGrpSpPr/>
          <p:nvPr/>
        </p:nvGrpSpPr>
        <p:grpSpPr>
          <a:xfrm>
            <a:off x="1703760" y="2187781"/>
            <a:ext cx="6023048" cy="4230722"/>
            <a:chOff x="5030762" y="-96211"/>
            <a:chExt cx="6023048" cy="423072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F1B341B-1D41-4050-ADE8-0CF8D687DC22}"/>
                </a:ext>
              </a:extLst>
            </p:cNvPr>
            <p:cNvGrpSpPr/>
            <p:nvPr/>
          </p:nvGrpSpPr>
          <p:grpSpPr>
            <a:xfrm>
              <a:off x="5030762" y="-96211"/>
              <a:ext cx="6023048" cy="4230722"/>
              <a:chOff x="5030762" y="-96211"/>
              <a:chExt cx="6023048" cy="4230722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F629688F-7FB2-43FC-883F-4E9BF082E1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30762" y="-96211"/>
                <a:ext cx="6023048" cy="4067976"/>
              </a:xfrm>
              <a:prstGeom prst="rect">
                <a:avLst/>
              </a:prstGeom>
            </p:spPr>
          </p:pic>
          <p:sp>
            <p:nvSpPr>
              <p:cNvPr id="16" name="Google Shape;254;g3801a7e8453_1_15">
                <a:extLst>
                  <a:ext uri="{FF2B5EF4-FFF2-40B4-BE49-F238E27FC236}">
                    <a16:creationId xmlns:a16="http://schemas.microsoft.com/office/drawing/2014/main" id="{CD23906B-CE08-42BE-99BC-9B9A3879C728}"/>
                  </a:ext>
                </a:extLst>
              </p:cNvPr>
              <p:cNvSpPr/>
              <p:nvPr/>
            </p:nvSpPr>
            <p:spPr>
              <a:xfrm>
                <a:off x="6204088" y="3046020"/>
                <a:ext cx="400915" cy="859365"/>
              </a:xfrm>
              <a:prstGeom prst="rect">
                <a:avLst/>
              </a:prstGeom>
              <a:noFill/>
              <a:ln w="36225" cap="flat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6875" tIns="86875" rIns="86875" bIns="8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30"/>
              </a:p>
            </p:txBody>
          </p:sp>
          <p:sp>
            <p:nvSpPr>
              <p:cNvPr id="17" name="Google Shape;255;g3801a7e8453_1_15">
                <a:extLst>
                  <a:ext uri="{FF2B5EF4-FFF2-40B4-BE49-F238E27FC236}">
                    <a16:creationId xmlns:a16="http://schemas.microsoft.com/office/drawing/2014/main" id="{FA0D89AA-2D37-4003-9268-DA3D409EFFEB}"/>
                  </a:ext>
                </a:extLst>
              </p:cNvPr>
              <p:cNvSpPr txBox="1"/>
              <p:nvPr/>
            </p:nvSpPr>
            <p:spPr>
              <a:xfrm>
                <a:off x="6575306" y="3615926"/>
                <a:ext cx="1649419" cy="518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6875" tIns="43425" rIns="86875" bIns="43425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rgbClr val="0000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Discharge</a:t>
                </a:r>
                <a:endParaRPr dirty="0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9" name="Google Shape;254;g3801a7e8453_1_15">
              <a:extLst>
                <a:ext uri="{FF2B5EF4-FFF2-40B4-BE49-F238E27FC236}">
                  <a16:creationId xmlns:a16="http://schemas.microsoft.com/office/drawing/2014/main" id="{9219FF70-AEE4-4997-ADF4-231E6506AC2B}"/>
                </a:ext>
              </a:extLst>
            </p:cNvPr>
            <p:cNvSpPr/>
            <p:nvPr/>
          </p:nvSpPr>
          <p:spPr>
            <a:xfrm>
              <a:off x="7199557" y="1933362"/>
              <a:ext cx="400915" cy="859365"/>
            </a:xfrm>
            <a:prstGeom prst="rect">
              <a:avLst/>
            </a:prstGeom>
            <a:noFill/>
            <a:ln w="36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875" tIns="86875" rIns="86875" bIns="86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30"/>
            </a:p>
          </p:txBody>
        </p:sp>
        <p:sp>
          <p:nvSpPr>
            <p:cNvPr id="20" name="Google Shape;255;g3801a7e8453_1_15">
              <a:extLst>
                <a:ext uri="{FF2B5EF4-FFF2-40B4-BE49-F238E27FC236}">
                  <a16:creationId xmlns:a16="http://schemas.microsoft.com/office/drawing/2014/main" id="{D93D064D-33FC-4FC7-B19C-B46462AB58A5}"/>
                </a:ext>
              </a:extLst>
            </p:cNvPr>
            <p:cNvSpPr txBox="1"/>
            <p:nvPr/>
          </p:nvSpPr>
          <p:spPr>
            <a:xfrm>
              <a:off x="7577405" y="2551055"/>
              <a:ext cx="1649419" cy="518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875" tIns="43425" rIns="86875" bIns="4342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Charge</a:t>
              </a:r>
              <a:endParaRPr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Google Shape;249;g3801a7e8453_1_15">
                <a:extLst>
                  <a:ext uri="{FF2B5EF4-FFF2-40B4-BE49-F238E27FC236}">
                    <a16:creationId xmlns:a16="http://schemas.microsoft.com/office/drawing/2014/main" id="{DC08CB3A-4C48-4975-932B-7D35A2A3D9C6}"/>
                  </a:ext>
                </a:extLst>
              </p:cNvPr>
              <p:cNvSpPr txBox="1"/>
              <p:nvPr/>
            </p:nvSpPr>
            <p:spPr>
              <a:xfrm>
                <a:off x="8378431" y="2073889"/>
                <a:ext cx="3346940" cy="391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𝑑𝑦𝑛𝑎𝑚𝑖𝑐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𝑓𝐶</m:t>
                        </m:r>
                      </m:e>
                      <m:sub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  <m:sSup>
                      <m:sSupPr>
                        <m:ctrlPr>
                          <a:rPr lang="en-US" altLang="ko-KR" sz="18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8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  <m:t>𝐷𝐷</m:t>
                            </m:r>
                          </m:sub>
                        </m:sSub>
                      </m:e>
                      <m:sup>
                        <m:r>
                          <a:rPr lang="en-US" altLang="ko-KR" sz="18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2</m:t>
                        </m:r>
                      </m:sup>
                    </m:sSup>
                  </m:oMath>
                </a14:m>
                <a:endParaRPr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23" name="Google Shape;249;g3801a7e8453_1_15">
                <a:extLst>
                  <a:ext uri="{FF2B5EF4-FFF2-40B4-BE49-F238E27FC236}">
                    <a16:creationId xmlns:a16="http://schemas.microsoft.com/office/drawing/2014/main" id="{DC08CB3A-4C48-4975-932B-7D35A2A3D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431" y="2073889"/>
                <a:ext cx="3346940" cy="391221"/>
              </a:xfrm>
              <a:prstGeom prst="rect">
                <a:avLst/>
              </a:prstGeom>
              <a:blipFill>
                <a:blip r:embed="rId7"/>
                <a:stretch>
                  <a:fillRect t="-7813" b="-1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1a785ae79_0_27"/>
          <p:cNvSpPr/>
          <p:nvPr/>
        </p:nvSpPr>
        <p:spPr>
          <a:xfrm>
            <a:off x="0" y="0"/>
            <a:ext cx="1075800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g381a785ae79_0_27"/>
          <p:cNvSpPr/>
          <p:nvPr/>
        </p:nvSpPr>
        <p:spPr>
          <a:xfrm>
            <a:off x="1159497" y="0"/>
            <a:ext cx="273300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g381a785ae79_0_27"/>
          <p:cNvSpPr txBox="1"/>
          <p:nvPr/>
        </p:nvSpPr>
        <p:spPr>
          <a:xfrm>
            <a:off x="2003572" y="682510"/>
            <a:ext cx="89634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06. Power Analysis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70" name="Google Shape;270;g381a785ae79_0_27"/>
          <p:cNvGrpSpPr/>
          <p:nvPr/>
        </p:nvGrpSpPr>
        <p:grpSpPr>
          <a:xfrm>
            <a:off x="13116348" y="3428999"/>
            <a:ext cx="5769330" cy="2208286"/>
            <a:chOff x="198071" y="3950271"/>
            <a:chExt cx="6713988" cy="2626099"/>
          </a:xfrm>
        </p:grpSpPr>
        <p:grpSp>
          <p:nvGrpSpPr>
            <p:cNvPr id="271" name="Google Shape;271;g381a785ae79_0_27"/>
            <p:cNvGrpSpPr/>
            <p:nvPr/>
          </p:nvGrpSpPr>
          <p:grpSpPr>
            <a:xfrm>
              <a:off x="198071" y="4184561"/>
              <a:ext cx="6713988" cy="2391809"/>
              <a:chOff x="358095" y="3439898"/>
              <a:chExt cx="7284353" cy="3088596"/>
            </a:xfrm>
          </p:grpSpPr>
          <p:sp>
            <p:nvSpPr>
              <p:cNvPr id="272" name="Google Shape;272;g381a785ae79_0_27"/>
              <p:cNvSpPr/>
              <p:nvPr/>
            </p:nvSpPr>
            <p:spPr>
              <a:xfrm>
                <a:off x="363004" y="4777094"/>
                <a:ext cx="7196700" cy="1751400"/>
              </a:xfrm>
              <a:prstGeom prst="rect">
                <a:avLst/>
              </a:prstGeom>
              <a:gradFill>
                <a:gsLst>
                  <a:gs pos="0">
                    <a:srgbClr val="F8C6A0"/>
                  </a:gs>
                  <a:gs pos="50000">
                    <a:srgbClr val="F5BC91"/>
                  </a:gs>
                  <a:gs pos="100000">
                    <a:srgbClr val="F9B37C"/>
                  </a:gs>
                </a:gsLst>
                <a:lin ang="5400012" scaled="0"/>
              </a:gradFill>
              <a:ln w="8325" cap="flat" cmpd="sng">
                <a:solidFill>
                  <a:srgbClr val="EF952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24"/>
                  <a:buFont typeface="Malgun Gothic"/>
                  <a:buNone/>
                </a:pPr>
                <a:endParaRPr sz="12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1"/>
                  <a:buFont typeface="Malgun Gothic"/>
                  <a:buNone/>
                </a:pPr>
                <a:endParaRPr sz="1311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1"/>
                  <a:buFont typeface="Malgun Gothic"/>
                  <a:buNone/>
                </a:pPr>
                <a:endParaRPr sz="1311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1"/>
                  <a:buFont typeface="Malgun Gothic"/>
                  <a:buNone/>
                </a:pPr>
                <a:endParaRPr sz="1311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1"/>
                  <a:buFont typeface="Malgun Gothic"/>
                  <a:buNone/>
                </a:pPr>
                <a:endParaRPr sz="1311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1"/>
                  <a:buFont typeface="Calibri"/>
                  <a:buNone/>
                </a:pPr>
                <a:r>
                  <a:rPr lang="en-US" sz="1311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P-Sub</a:t>
                </a:r>
                <a:endParaRPr sz="1311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g381a785ae79_0_27"/>
              <p:cNvSpPr/>
              <p:nvPr/>
            </p:nvSpPr>
            <p:spPr>
              <a:xfrm>
                <a:off x="2372248" y="4317785"/>
                <a:ext cx="323100" cy="397500"/>
              </a:xfrm>
              <a:prstGeom prst="rect">
                <a:avLst/>
              </a:prstGeom>
              <a:gradFill>
                <a:gsLst>
                  <a:gs pos="0">
                    <a:srgbClr val="C1DDA7"/>
                  </a:gs>
                  <a:gs pos="50000">
                    <a:srgbClr val="B7D799"/>
                  </a:gs>
                  <a:gs pos="100000">
                    <a:srgbClr val="ADD587"/>
                  </a:gs>
                </a:gsLst>
                <a:lin ang="5400012" scaled="0"/>
              </a:gradFill>
              <a:ln w="8325" cap="flat" cmpd="sng">
                <a:solidFill>
                  <a:srgbClr val="8BC24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4"/>
                  <a:buFont typeface="Calibri"/>
                  <a:buNone/>
                </a:pPr>
                <a:r>
                  <a:rPr lang="en-US" sz="874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Poly</a:t>
                </a:r>
                <a:endParaRPr sz="1223"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4"/>
                  <a:buFont typeface="Calibri"/>
                  <a:buNone/>
                </a:pPr>
                <a:r>
                  <a:rPr lang="en-US" sz="874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Gate</a:t>
                </a:r>
                <a:endParaRPr sz="874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g381a785ae79_0_27"/>
              <p:cNvSpPr/>
              <p:nvPr/>
            </p:nvSpPr>
            <p:spPr>
              <a:xfrm>
                <a:off x="1832042" y="4777391"/>
                <a:ext cx="551400" cy="299100"/>
              </a:xfrm>
              <a:prstGeom prst="rect">
                <a:avLst/>
              </a:prstGeom>
              <a:solidFill>
                <a:srgbClr val="FFFF00"/>
              </a:solidFill>
              <a:ln w="83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73"/>
                  <a:buFont typeface="Arial"/>
                  <a:buNone/>
                </a:pPr>
                <a:r>
                  <a:rPr lang="en-US" sz="874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n+</a:t>
                </a:r>
                <a:endParaRPr sz="874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g381a785ae79_0_27"/>
              <p:cNvSpPr/>
              <p:nvPr/>
            </p:nvSpPr>
            <p:spPr>
              <a:xfrm>
                <a:off x="363001" y="4777094"/>
                <a:ext cx="603300" cy="321000"/>
              </a:xfrm>
              <a:prstGeom prst="rect">
                <a:avLst/>
              </a:prstGeom>
              <a:solidFill>
                <a:srgbClr val="ED423D"/>
              </a:solidFill>
              <a:ln>
                <a:noFill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874"/>
                  <a:buFont typeface="Calibri"/>
                  <a:buNone/>
                </a:pPr>
                <a:r>
                  <a:rPr lang="en-US" sz="874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p+</a:t>
                </a:r>
                <a:endParaRPr sz="874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g381a785ae79_0_27"/>
              <p:cNvSpPr/>
              <p:nvPr/>
            </p:nvSpPr>
            <p:spPr>
              <a:xfrm>
                <a:off x="963068" y="4777094"/>
                <a:ext cx="869100" cy="715200"/>
              </a:xfrm>
              <a:prstGeom prst="rect">
                <a:avLst/>
              </a:prstGeom>
              <a:gradFill>
                <a:gsLst>
                  <a:gs pos="0">
                    <a:srgbClr val="F6A7A6"/>
                  </a:gs>
                  <a:gs pos="50000">
                    <a:srgbClr val="F49897"/>
                  </a:gs>
                  <a:gs pos="100000">
                    <a:srgbClr val="F78583"/>
                  </a:gs>
                </a:gsLst>
                <a:lin ang="5400012" scaled="0"/>
              </a:gradFill>
              <a:ln w="8325" cap="flat" cmpd="sng">
                <a:solidFill>
                  <a:srgbClr val="ED423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24"/>
                  <a:buFont typeface="Calibri"/>
                  <a:buNone/>
                </a:pPr>
                <a:r>
                  <a:rPr lang="en-US" sz="1223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STI</a:t>
                </a:r>
                <a:endParaRPr sz="12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g381a785ae79_0_27"/>
              <p:cNvSpPr/>
              <p:nvPr/>
            </p:nvSpPr>
            <p:spPr>
              <a:xfrm>
                <a:off x="2711345" y="4775151"/>
                <a:ext cx="551400" cy="299100"/>
              </a:xfrm>
              <a:prstGeom prst="rect">
                <a:avLst/>
              </a:prstGeom>
              <a:solidFill>
                <a:srgbClr val="FFFF00"/>
              </a:solidFill>
              <a:ln w="83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73"/>
                  <a:buFont typeface="Arial"/>
                  <a:buNone/>
                </a:pPr>
                <a:r>
                  <a:rPr lang="en-US" sz="874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n+</a:t>
                </a:r>
                <a:endParaRPr sz="874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g381a785ae79_0_27"/>
              <p:cNvSpPr/>
              <p:nvPr/>
            </p:nvSpPr>
            <p:spPr>
              <a:xfrm>
                <a:off x="3641928" y="4780631"/>
                <a:ext cx="3917700" cy="1233600"/>
              </a:xfrm>
              <a:prstGeom prst="rect">
                <a:avLst/>
              </a:prstGeom>
              <a:solidFill>
                <a:srgbClr val="CCCCFF"/>
              </a:solidFill>
              <a:ln w="11075" cap="flat" cmpd="sng">
                <a:solidFill>
                  <a:srgbClr val="9999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73"/>
                  <a:buFont typeface="Malgun Gothic"/>
                  <a:buNone/>
                </a:pPr>
                <a:endParaRPr sz="157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1"/>
                  <a:buFont typeface="Malgun Gothic"/>
                  <a:buNone/>
                </a:pPr>
                <a:endParaRPr sz="1311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1"/>
                  <a:buFont typeface="Calibri"/>
                  <a:buNone/>
                </a:pPr>
                <a:r>
                  <a:rPr lang="en-US" sz="1311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 well</a:t>
                </a:r>
                <a:endParaRPr sz="1311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g381a785ae79_0_27"/>
              <p:cNvSpPr/>
              <p:nvPr/>
            </p:nvSpPr>
            <p:spPr>
              <a:xfrm>
                <a:off x="4130123" y="4777094"/>
                <a:ext cx="603300" cy="321000"/>
              </a:xfrm>
              <a:prstGeom prst="rect">
                <a:avLst/>
              </a:prstGeom>
              <a:solidFill>
                <a:srgbClr val="ED423D"/>
              </a:solidFill>
              <a:ln>
                <a:noFill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874"/>
                  <a:buFont typeface="Calibri"/>
                  <a:buNone/>
                </a:pPr>
                <a:r>
                  <a:rPr lang="en-US" sz="874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p+</a:t>
                </a:r>
                <a:endParaRPr sz="874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g381a785ae79_0_27"/>
              <p:cNvSpPr/>
              <p:nvPr/>
            </p:nvSpPr>
            <p:spPr>
              <a:xfrm>
                <a:off x="5060707" y="4777094"/>
                <a:ext cx="603300" cy="321000"/>
              </a:xfrm>
              <a:prstGeom prst="rect">
                <a:avLst/>
              </a:prstGeom>
              <a:solidFill>
                <a:srgbClr val="ED423D"/>
              </a:solidFill>
              <a:ln>
                <a:noFill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874"/>
                  <a:buFont typeface="Calibri"/>
                  <a:buNone/>
                </a:pPr>
                <a:r>
                  <a:rPr lang="en-US" sz="874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p+</a:t>
                </a:r>
                <a:endParaRPr sz="874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g381a785ae79_0_27"/>
              <p:cNvSpPr/>
              <p:nvPr/>
            </p:nvSpPr>
            <p:spPr>
              <a:xfrm>
                <a:off x="5663933" y="4781858"/>
                <a:ext cx="1527600" cy="715200"/>
              </a:xfrm>
              <a:prstGeom prst="rect">
                <a:avLst/>
              </a:prstGeom>
              <a:gradFill>
                <a:gsLst>
                  <a:gs pos="0">
                    <a:srgbClr val="F6A7A6"/>
                  </a:gs>
                  <a:gs pos="50000">
                    <a:srgbClr val="F49897"/>
                  </a:gs>
                  <a:gs pos="100000">
                    <a:srgbClr val="F78583"/>
                  </a:gs>
                </a:gsLst>
                <a:lin ang="5400012" scaled="0"/>
              </a:gradFill>
              <a:ln w="8325" cap="flat" cmpd="sng">
                <a:solidFill>
                  <a:srgbClr val="ED423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24"/>
                  <a:buFont typeface="Calibri"/>
                  <a:buNone/>
                </a:pPr>
                <a:r>
                  <a:rPr lang="en-US" sz="1223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STI</a:t>
                </a:r>
                <a:endParaRPr sz="12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g381a785ae79_0_27"/>
              <p:cNvSpPr/>
              <p:nvPr/>
            </p:nvSpPr>
            <p:spPr>
              <a:xfrm>
                <a:off x="7185219" y="4783608"/>
                <a:ext cx="374400" cy="299100"/>
              </a:xfrm>
              <a:prstGeom prst="rect">
                <a:avLst/>
              </a:prstGeom>
              <a:solidFill>
                <a:srgbClr val="FFFF00"/>
              </a:solidFill>
              <a:ln w="83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73"/>
                  <a:buFont typeface="Arial"/>
                  <a:buNone/>
                </a:pPr>
                <a:r>
                  <a:rPr lang="en-US" sz="874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n+</a:t>
                </a:r>
                <a:endParaRPr sz="874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g381a785ae79_0_27"/>
              <p:cNvSpPr/>
              <p:nvPr/>
            </p:nvSpPr>
            <p:spPr>
              <a:xfrm>
                <a:off x="4736788" y="4328979"/>
                <a:ext cx="323100" cy="397500"/>
              </a:xfrm>
              <a:prstGeom prst="rect">
                <a:avLst/>
              </a:prstGeom>
              <a:gradFill>
                <a:gsLst>
                  <a:gs pos="0">
                    <a:srgbClr val="C1DDA7"/>
                  </a:gs>
                  <a:gs pos="50000">
                    <a:srgbClr val="B7D799"/>
                  </a:gs>
                  <a:gs pos="100000">
                    <a:srgbClr val="ADD587"/>
                  </a:gs>
                </a:gsLst>
                <a:lin ang="5400012" scaled="0"/>
              </a:gradFill>
              <a:ln w="8325" cap="flat" cmpd="sng">
                <a:solidFill>
                  <a:srgbClr val="8BC24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4"/>
                  <a:buFont typeface="Calibri"/>
                  <a:buNone/>
                </a:pPr>
                <a:r>
                  <a:rPr lang="en-US" sz="874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Poly</a:t>
                </a:r>
                <a:endParaRPr sz="1223"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74"/>
                  <a:buFont typeface="Calibri"/>
                  <a:buNone/>
                </a:pPr>
                <a:r>
                  <a:rPr lang="en-US" sz="874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Gate</a:t>
                </a:r>
                <a:endParaRPr sz="874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g381a785ae79_0_27"/>
              <p:cNvSpPr/>
              <p:nvPr/>
            </p:nvSpPr>
            <p:spPr>
              <a:xfrm>
                <a:off x="359554" y="4736083"/>
                <a:ext cx="598800" cy="78300"/>
              </a:xfrm>
              <a:prstGeom prst="rect">
                <a:avLst/>
              </a:prstGeom>
              <a:solidFill>
                <a:srgbClr val="FADCDC"/>
              </a:solidFill>
              <a:ln w="11075" cap="flat" cmpd="sng">
                <a:solidFill>
                  <a:srgbClr val="F3B9B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61"/>
                  <a:buFont typeface="Arial"/>
                  <a:buNone/>
                </a:pPr>
                <a:r>
                  <a:rPr lang="en-US" sz="349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Oxide</a:t>
                </a:r>
                <a:endParaRPr sz="349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g381a785ae79_0_27"/>
              <p:cNvSpPr/>
              <p:nvPr/>
            </p:nvSpPr>
            <p:spPr>
              <a:xfrm>
                <a:off x="1828595" y="4738006"/>
                <a:ext cx="1425300" cy="91200"/>
              </a:xfrm>
              <a:prstGeom prst="rect">
                <a:avLst/>
              </a:prstGeom>
              <a:solidFill>
                <a:srgbClr val="FADCDC"/>
              </a:solidFill>
              <a:ln w="11075" cap="flat" cmpd="sng">
                <a:solidFill>
                  <a:srgbClr val="F3B9B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61"/>
                  <a:buFont typeface="Arial"/>
                  <a:buNone/>
                </a:pPr>
                <a:r>
                  <a:rPr lang="en-US" sz="349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Oxide</a:t>
                </a:r>
                <a:endParaRPr sz="349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g381a785ae79_0_27"/>
              <p:cNvSpPr/>
              <p:nvPr/>
            </p:nvSpPr>
            <p:spPr>
              <a:xfrm>
                <a:off x="4133194" y="4731468"/>
                <a:ext cx="1527600" cy="82800"/>
              </a:xfrm>
              <a:prstGeom prst="rect">
                <a:avLst/>
              </a:prstGeom>
              <a:solidFill>
                <a:srgbClr val="FADCDC"/>
              </a:solidFill>
              <a:ln w="11075" cap="flat" cmpd="sng">
                <a:solidFill>
                  <a:srgbClr val="F3B9B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61"/>
                  <a:buFont typeface="Arial"/>
                  <a:buNone/>
                </a:pPr>
                <a:r>
                  <a:rPr lang="en-US" sz="349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Oxide</a:t>
                </a:r>
                <a:endParaRPr sz="349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g381a785ae79_0_27"/>
              <p:cNvSpPr/>
              <p:nvPr/>
            </p:nvSpPr>
            <p:spPr>
              <a:xfrm>
                <a:off x="7185219" y="4692619"/>
                <a:ext cx="374400" cy="82800"/>
              </a:xfrm>
              <a:prstGeom prst="rect">
                <a:avLst/>
              </a:prstGeom>
              <a:solidFill>
                <a:srgbClr val="FADCDC"/>
              </a:solidFill>
              <a:ln w="11075" cap="flat" cmpd="sng">
                <a:solidFill>
                  <a:srgbClr val="F3B9B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61"/>
                  <a:buFont typeface="Arial"/>
                  <a:buNone/>
                </a:pPr>
                <a:r>
                  <a:rPr lang="en-US" sz="349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Oxide</a:t>
                </a:r>
                <a:endParaRPr sz="349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g381a785ae79_0_27"/>
              <p:cNvSpPr/>
              <p:nvPr/>
            </p:nvSpPr>
            <p:spPr>
              <a:xfrm>
                <a:off x="3264308" y="4778083"/>
                <a:ext cx="869100" cy="715200"/>
              </a:xfrm>
              <a:prstGeom prst="rect">
                <a:avLst/>
              </a:prstGeom>
              <a:gradFill>
                <a:gsLst>
                  <a:gs pos="0">
                    <a:srgbClr val="F6A7A6"/>
                  </a:gs>
                  <a:gs pos="50000">
                    <a:srgbClr val="F49897"/>
                  </a:gs>
                  <a:gs pos="100000">
                    <a:srgbClr val="F78583"/>
                  </a:gs>
                </a:gsLst>
                <a:lin ang="5400012" scaled="0"/>
              </a:gradFill>
              <a:ln w="8325" cap="flat" cmpd="sng">
                <a:solidFill>
                  <a:srgbClr val="ED423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900" tIns="39925" rIns="79900" bIns="399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24"/>
                  <a:buFont typeface="Calibri"/>
                  <a:buNone/>
                </a:pPr>
                <a:r>
                  <a:rPr lang="en-US" sz="1223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STI</a:t>
                </a:r>
                <a:endParaRPr sz="1223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9" name="Google Shape;289;g381a785ae79_0_27"/>
              <p:cNvCxnSpPr/>
              <p:nvPr/>
            </p:nvCxnSpPr>
            <p:spPr>
              <a:xfrm>
                <a:off x="659002" y="3919347"/>
                <a:ext cx="0" cy="819300"/>
              </a:xfrm>
              <a:prstGeom prst="straightConnector1">
                <a:avLst/>
              </a:prstGeom>
              <a:noFill/>
              <a:ln w="8325" cap="flat" cmpd="sng">
                <a:solidFill>
                  <a:srgbClr val="54BE7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90" name="Google Shape;290;g381a785ae79_0_27"/>
              <p:cNvSpPr txBox="1"/>
              <p:nvPr/>
            </p:nvSpPr>
            <p:spPr>
              <a:xfrm>
                <a:off x="358095" y="3456104"/>
                <a:ext cx="823800" cy="49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900" tIns="39925" rIns="79900" bIns="39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4BE71"/>
                  </a:buClr>
                  <a:buSzPts val="1573"/>
                  <a:buFont typeface="Calibri"/>
                  <a:buNone/>
                </a:pPr>
                <a:r>
                  <a:rPr lang="en-US" sz="1573" b="1" i="0" u="none" strike="noStrike" cap="none">
                    <a:solidFill>
                      <a:srgbClr val="54BE7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GND</a:t>
                </a:r>
                <a:endParaRPr sz="1573" b="1" i="0" u="none" strike="noStrike" cap="none">
                  <a:solidFill>
                    <a:srgbClr val="54BE7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g381a785ae79_0_27"/>
              <p:cNvSpPr txBox="1"/>
              <p:nvPr/>
            </p:nvSpPr>
            <p:spPr>
              <a:xfrm>
                <a:off x="3331695" y="3864588"/>
                <a:ext cx="941100" cy="49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900" tIns="39925" rIns="79900" bIns="39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4BE71"/>
                  </a:buClr>
                  <a:buSzPts val="1573"/>
                  <a:buFont typeface="Calibri"/>
                  <a:buNone/>
                </a:pPr>
                <a:r>
                  <a:rPr lang="en-US" sz="1573" b="1" i="0" u="none" strike="noStrike" cap="none">
                    <a:solidFill>
                      <a:srgbClr val="54BE7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VOUT</a:t>
                </a:r>
                <a:endParaRPr sz="1573" b="1" i="0" u="none" strike="noStrike" cap="none">
                  <a:solidFill>
                    <a:srgbClr val="54BE7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g381a785ae79_0_27"/>
              <p:cNvSpPr txBox="1"/>
              <p:nvPr/>
            </p:nvSpPr>
            <p:spPr>
              <a:xfrm>
                <a:off x="6927848" y="3439898"/>
                <a:ext cx="714600" cy="49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900" tIns="39925" rIns="79900" bIns="399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4BE71"/>
                  </a:buClr>
                  <a:buSzPts val="1573"/>
                  <a:buFont typeface="Calibri"/>
                  <a:buNone/>
                </a:pPr>
                <a:r>
                  <a:rPr lang="en-US" sz="1573" b="1" i="0" u="none" strike="noStrike" cap="none">
                    <a:solidFill>
                      <a:srgbClr val="54BE7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VDD</a:t>
                </a:r>
                <a:endParaRPr sz="1573" b="1" i="0" u="none" strike="noStrike" cap="none">
                  <a:solidFill>
                    <a:srgbClr val="54BE7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3" name="Google Shape;293;g381a785ae79_0_27"/>
            <p:cNvCxnSpPr/>
            <p:nvPr/>
          </p:nvCxnSpPr>
          <p:spPr>
            <a:xfrm>
              <a:off x="475425" y="4776582"/>
              <a:ext cx="1335300" cy="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4" name="Google Shape;294;g381a785ae79_0_27"/>
            <p:cNvCxnSpPr/>
            <p:nvPr/>
          </p:nvCxnSpPr>
          <p:spPr>
            <a:xfrm>
              <a:off x="1810794" y="4776582"/>
              <a:ext cx="0" cy="3957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5" name="Google Shape;295;g381a785ae79_0_27"/>
            <p:cNvCxnSpPr/>
            <p:nvPr/>
          </p:nvCxnSpPr>
          <p:spPr>
            <a:xfrm>
              <a:off x="2642420" y="4553932"/>
              <a:ext cx="0" cy="6345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6" name="Google Shape;296;g381a785ae79_0_27"/>
            <p:cNvCxnSpPr/>
            <p:nvPr/>
          </p:nvCxnSpPr>
          <p:spPr>
            <a:xfrm>
              <a:off x="6665116" y="4523452"/>
              <a:ext cx="0" cy="6345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7" name="Google Shape;297;g381a785ae79_0_27"/>
            <p:cNvCxnSpPr/>
            <p:nvPr/>
          </p:nvCxnSpPr>
          <p:spPr>
            <a:xfrm>
              <a:off x="3952799" y="4553932"/>
              <a:ext cx="0" cy="6345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8" name="Google Shape;298;g381a785ae79_0_27"/>
            <p:cNvCxnSpPr/>
            <p:nvPr/>
          </p:nvCxnSpPr>
          <p:spPr>
            <a:xfrm>
              <a:off x="2210309" y="4241638"/>
              <a:ext cx="0" cy="6345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9" name="Google Shape;299;g381a785ae79_0_27"/>
            <p:cNvCxnSpPr/>
            <p:nvPr/>
          </p:nvCxnSpPr>
          <p:spPr>
            <a:xfrm>
              <a:off x="4874920" y="4812237"/>
              <a:ext cx="0" cy="3600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0" name="Google Shape;300;g381a785ae79_0_27"/>
            <p:cNvCxnSpPr/>
            <p:nvPr/>
          </p:nvCxnSpPr>
          <p:spPr>
            <a:xfrm>
              <a:off x="4874919" y="4812237"/>
              <a:ext cx="1795800" cy="75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1" name="Google Shape;301;g381a785ae79_0_27"/>
            <p:cNvCxnSpPr/>
            <p:nvPr/>
          </p:nvCxnSpPr>
          <p:spPr>
            <a:xfrm>
              <a:off x="2642420" y="4559012"/>
              <a:ext cx="1320600" cy="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2" name="Google Shape;302;g381a785ae79_0_27"/>
            <p:cNvCxnSpPr/>
            <p:nvPr/>
          </p:nvCxnSpPr>
          <p:spPr>
            <a:xfrm rot="10800000">
              <a:off x="2204671" y="4239089"/>
              <a:ext cx="2193600" cy="51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3" name="Google Shape;303;g381a785ae79_0_27"/>
            <p:cNvCxnSpPr/>
            <p:nvPr/>
          </p:nvCxnSpPr>
          <p:spPr>
            <a:xfrm rot="10800000">
              <a:off x="4398271" y="4244087"/>
              <a:ext cx="0" cy="622800"/>
            </a:xfrm>
            <a:prstGeom prst="straightConnector1">
              <a:avLst/>
            </a:prstGeom>
            <a:noFill/>
            <a:ln w="8325" cap="flat" cmpd="sng">
              <a:solidFill>
                <a:srgbClr val="54BE7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04" name="Google Shape;304;g381a785ae79_0_27"/>
            <p:cNvSpPr txBox="1"/>
            <p:nvPr/>
          </p:nvSpPr>
          <p:spPr>
            <a:xfrm>
              <a:off x="2969790" y="3950271"/>
              <a:ext cx="8673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9900" tIns="39925" rIns="79900" bIns="399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BE71"/>
                </a:buClr>
                <a:buSzPts val="1573"/>
                <a:buFont typeface="Calibri"/>
                <a:buNone/>
              </a:pPr>
              <a:r>
                <a:rPr lang="en-US" sz="1573" b="1" i="0" u="none" strike="noStrike" cap="none">
                  <a:solidFill>
                    <a:srgbClr val="54BE71"/>
                  </a:solidFill>
                  <a:latin typeface="Calibri"/>
                  <a:ea typeface="Calibri"/>
                  <a:cs typeface="Calibri"/>
                  <a:sym typeface="Calibri"/>
                </a:rPr>
                <a:t>VIN</a:t>
              </a:r>
              <a:endParaRPr sz="1573" b="1" i="0" u="none" strike="noStrike" cap="none">
                <a:solidFill>
                  <a:srgbClr val="54BE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g381a785ae79_0_27"/>
          <p:cNvGrpSpPr/>
          <p:nvPr/>
        </p:nvGrpSpPr>
        <p:grpSpPr>
          <a:xfrm>
            <a:off x="8106854" y="4774805"/>
            <a:ext cx="2079958" cy="1485143"/>
            <a:chOff x="9528930" y="1865939"/>
            <a:chExt cx="2722545" cy="1897427"/>
          </a:xfrm>
        </p:grpSpPr>
        <p:grpSp>
          <p:nvGrpSpPr>
            <p:cNvPr id="306" name="Google Shape;306;g381a785ae79_0_27"/>
            <p:cNvGrpSpPr/>
            <p:nvPr/>
          </p:nvGrpSpPr>
          <p:grpSpPr>
            <a:xfrm>
              <a:off x="9528930" y="1865939"/>
              <a:ext cx="2088292" cy="1897427"/>
              <a:chOff x="8741477" y="1989424"/>
              <a:chExt cx="2922323" cy="2655229"/>
            </a:xfrm>
          </p:grpSpPr>
          <p:pic>
            <p:nvPicPr>
              <p:cNvPr id="307" name="Google Shape;307;g381a785ae79_0_27" descr="1.4 CMOS Logic (1) CMOS Inverter(인버터), NAND Gate(낸드게이트), CMOS Logic Gates  (Pu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741477" y="1989424"/>
                <a:ext cx="2922323" cy="265522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08" name="Google Shape;308;g381a785ae79_0_27"/>
              <p:cNvCxnSpPr/>
              <p:nvPr/>
            </p:nvCxnSpPr>
            <p:spPr>
              <a:xfrm>
                <a:off x="10373064" y="2542043"/>
                <a:ext cx="0" cy="1773900"/>
              </a:xfrm>
              <a:prstGeom prst="straightConnector1">
                <a:avLst/>
              </a:prstGeom>
              <a:noFill/>
              <a:ln w="27250" cap="flat" cmpd="sng">
                <a:solidFill>
                  <a:srgbClr val="5E9EEC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309" name="Google Shape;309;g381a785ae79_0_27"/>
            <p:cNvSpPr txBox="1"/>
            <p:nvPr/>
          </p:nvSpPr>
          <p:spPr>
            <a:xfrm>
              <a:off x="10745175" y="2158025"/>
              <a:ext cx="1506300" cy="27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9350" tIns="39650" rIns="79350" bIns="3965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2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ON -&gt; OFF</a:t>
              </a:r>
              <a:endParaRPr sz="1262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0" name="Google Shape;310;g381a785ae79_0_27"/>
            <p:cNvSpPr txBox="1"/>
            <p:nvPr/>
          </p:nvSpPr>
          <p:spPr>
            <a:xfrm>
              <a:off x="10732127" y="2923688"/>
              <a:ext cx="1506300" cy="27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9350" tIns="39650" rIns="79350" bIns="3965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2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OFF -&gt; ON</a:t>
              </a:r>
              <a:endParaRPr sz="1262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60" name="Google Shape;360;g381a785ae79_0_27"/>
          <p:cNvSpPr txBox="1"/>
          <p:nvPr/>
        </p:nvSpPr>
        <p:spPr>
          <a:xfrm>
            <a:off x="10216054" y="4832715"/>
            <a:ext cx="1710581" cy="1585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Short-circuit</a:t>
            </a: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5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일시적으로</a:t>
            </a: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NMOS와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PMOS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모두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ON되는</a:t>
            </a: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</a:t>
            </a:r>
            <a:endParaRPr lang="en-US" altLang="ko-KR"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흐르는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Short-circuit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전류</a:t>
            </a:r>
            <a:endParaRPr lang="en-US"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256;g3801a7e8453_1_15">
            <a:extLst>
              <a:ext uri="{FF2B5EF4-FFF2-40B4-BE49-F238E27FC236}">
                <a16:creationId xmlns:a16="http://schemas.microsoft.com/office/drawing/2014/main" id="{07FC9F45-223D-4EDF-82BC-0D77E0F9978F}"/>
              </a:ext>
            </a:extLst>
          </p:cNvPr>
          <p:cNvSpPr txBox="1"/>
          <p:nvPr/>
        </p:nvSpPr>
        <p:spPr>
          <a:xfrm>
            <a:off x="2031403" y="1326991"/>
            <a:ext cx="39399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800" b="1" dirty="0">
                <a:solidFill>
                  <a:srgbClr val="09644C"/>
                </a:solidFill>
                <a:latin typeface="Malgun Gothic"/>
                <a:ea typeface="Malgun Gothic"/>
                <a:cs typeface="Malgun Gothic"/>
                <a:sym typeface="Malgun Gothic"/>
              </a:rPr>
              <a:t>Reverse current &amp; Short-circuit </a:t>
            </a:r>
            <a:endParaRPr lang="en-US" altLang="ko-KR"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11F639C-7818-4627-A0C8-ED2BAD839DA0}"/>
              </a:ext>
            </a:extLst>
          </p:cNvPr>
          <p:cNvGrpSpPr/>
          <p:nvPr/>
        </p:nvGrpSpPr>
        <p:grpSpPr>
          <a:xfrm>
            <a:off x="1662802" y="1920090"/>
            <a:ext cx="7232607" cy="4582798"/>
            <a:chOff x="1903681" y="1842974"/>
            <a:chExt cx="8066319" cy="4889572"/>
          </a:xfrm>
        </p:grpSpPr>
        <p:grpSp>
          <p:nvGrpSpPr>
            <p:cNvPr id="311" name="Google Shape;311;g381a785ae79_0_27"/>
            <p:cNvGrpSpPr/>
            <p:nvPr/>
          </p:nvGrpSpPr>
          <p:grpSpPr>
            <a:xfrm>
              <a:off x="2065300" y="5442740"/>
              <a:ext cx="7904700" cy="1289806"/>
              <a:chOff x="2065300" y="5403596"/>
              <a:chExt cx="7904700" cy="1289806"/>
            </a:xfrm>
          </p:grpSpPr>
          <p:sp>
            <p:nvSpPr>
              <p:cNvPr id="312" name="Google Shape;312;g381a785ae79_0_27"/>
              <p:cNvSpPr/>
              <p:nvPr/>
            </p:nvSpPr>
            <p:spPr>
              <a:xfrm>
                <a:off x="2065300" y="5657200"/>
                <a:ext cx="6433800" cy="939600"/>
              </a:xfrm>
              <a:prstGeom prst="rect">
                <a:avLst/>
              </a:pr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g381a785ae79_0_27"/>
              <p:cNvSpPr/>
              <p:nvPr/>
            </p:nvSpPr>
            <p:spPr>
              <a:xfrm>
                <a:off x="4999975" y="5657200"/>
                <a:ext cx="3499200" cy="74370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g381a785ae79_0_27"/>
              <p:cNvSpPr/>
              <p:nvPr/>
            </p:nvSpPr>
            <p:spPr>
              <a:xfrm>
                <a:off x="2596800" y="5657200"/>
                <a:ext cx="1075800" cy="4437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g381a785ae79_0_27"/>
              <p:cNvSpPr/>
              <p:nvPr/>
            </p:nvSpPr>
            <p:spPr>
              <a:xfrm>
                <a:off x="4547898" y="5657200"/>
                <a:ext cx="1075800" cy="4437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g381a785ae79_0_27"/>
              <p:cNvSpPr/>
              <p:nvPr/>
            </p:nvSpPr>
            <p:spPr>
              <a:xfrm>
                <a:off x="6788651" y="5657200"/>
                <a:ext cx="1179600" cy="4437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g381a785ae79_0_27"/>
              <p:cNvSpPr txBox="1"/>
              <p:nvPr/>
            </p:nvSpPr>
            <p:spPr>
              <a:xfrm>
                <a:off x="4716425" y="6400902"/>
                <a:ext cx="3939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P-Sub</a:t>
                </a:r>
                <a:endParaRPr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18" name="Google Shape;318;g381a785ae79_0_27"/>
              <p:cNvSpPr txBox="1"/>
              <p:nvPr/>
            </p:nvSpPr>
            <p:spPr>
              <a:xfrm>
                <a:off x="6030100" y="6100902"/>
                <a:ext cx="3939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N-well</a:t>
                </a:r>
                <a:endParaRPr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19" name="Google Shape;319;g381a785ae79_0_27"/>
              <p:cNvSpPr txBox="1"/>
              <p:nvPr/>
            </p:nvSpPr>
            <p:spPr>
              <a:xfrm>
                <a:off x="2855257" y="5719754"/>
                <a:ext cx="3939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STI</a:t>
                </a:r>
                <a:endParaRPr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20" name="Google Shape;320;g381a785ae79_0_27"/>
              <p:cNvSpPr txBox="1"/>
              <p:nvPr/>
            </p:nvSpPr>
            <p:spPr>
              <a:xfrm>
                <a:off x="4807767" y="5732804"/>
                <a:ext cx="39399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STI</a:t>
                </a:r>
                <a:endParaRPr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21" name="Google Shape;321;g381a785ae79_0_27"/>
              <p:cNvSpPr txBox="1"/>
              <p:nvPr/>
            </p:nvSpPr>
            <p:spPr>
              <a:xfrm>
                <a:off x="7105368" y="5719750"/>
                <a:ext cx="70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STI</a:t>
                </a:r>
                <a:endParaRPr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22" name="Google Shape;322;g381a785ae79_0_27"/>
              <p:cNvSpPr/>
              <p:nvPr/>
            </p:nvSpPr>
            <p:spPr>
              <a:xfrm>
                <a:off x="3672600" y="5657200"/>
                <a:ext cx="310800" cy="221700"/>
              </a:xfrm>
              <a:prstGeom prst="rect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g381a785ae79_0_27"/>
              <p:cNvSpPr/>
              <p:nvPr/>
            </p:nvSpPr>
            <p:spPr>
              <a:xfrm>
                <a:off x="4240188" y="5657200"/>
                <a:ext cx="310800" cy="221700"/>
              </a:xfrm>
              <a:prstGeom prst="rect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g381a785ae79_0_27"/>
              <p:cNvSpPr/>
              <p:nvPr/>
            </p:nvSpPr>
            <p:spPr>
              <a:xfrm>
                <a:off x="7960109" y="5657200"/>
                <a:ext cx="539100" cy="221700"/>
              </a:xfrm>
              <a:prstGeom prst="rect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g381a785ae79_0_27"/>
              <p:cNvSpPr/>
              <p:nvPr/>
            </p:nvSpPr>
            <p:spPr>
              <a:xfrm>
                <a:off x="2065308" y="5657200"/>
                <a:ext cx="539100" cy="2217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g381a785ae79_0_27"/>
              <p:cNvSpPr/>
              <p:nvPr/>
            </p:nvSpPr>
            <p:spPr>
              <a:xfrm>
                <a:off x="5623702" y="5657200"/>
                <a:ext cx="406500" cy="2217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g381a785ae79_0_27"/>
              <p:cNvSpPr/>
              <p:nvPr/>
            </p:nvSpPr>
            <p:spPr>
              <a:xfrm>
                <a:off x="6388652" y="5657200"/>
                <a:ext cx="406500" cy="221700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g381a785ae79_0_27"/>
              <p:cNvSpPr/>
              <p:nvPr/>
            </p:nvSpPr>
            <p:spPr>
              <a:xfrm>
                <a:off x="2067908" y="5591950"/>
                <a:ext cx="539100" cy="651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g381a785ae79_0_27"/>
              <p:cNvSpPr/>
              <p:nvPr/>
            </p:nvSpPr>
            <p:spPr>
              <a:xfrm>
                <a:off x="3668622" y="5626921"/>
                <a:ext cx="879300" cy="651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g381a785ae79_0_27"/>
              <p:cNvSpPr/>
              <p:nvPr/>
            </p:nvSpPr>
            <p:spPr>
              <a:xfrm>
                <a:off x="5621654" y="5622753"/>
                <a:ext cx="1179600" cy="651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g381a785ae79_0_27"/>
              <p:cNvSpPr/>
              <p:nvPr/>
            </p:nvSpPr>
            <p:spPr>
              <a:xfrm>
                <a:off x="7969693" y="5625979"/>
                <a:ext cx="539100" cy="651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g381a785ae79_0_27"/>
              <p:cNvSpPr/>
              <p:nvPr/>
            </p:nvSpPr>
            <p:spPr>
              <a:xfrm>
                <a:off x="3978971" y="5403596"/>
                <a:ext cx="273300" cy="221700"/>
              </a:xfrm>
              <a:prstGeom prst="rect">
                <a:avLst/>
              </a:prstGeom>
              <a:solidFill>
                <a:srgbClr val="8BC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g381a785ae79_0_27"/>
              <p:cNvSpPr/>
              <p:nvPr/>
            </p:nvSpPr>
            <p:spPr>
              <a:xfrm>
                <a:off x="6011529" y="5410725"/>
                <a:ext cx="406500" cy="221700"/>
              </a:xfrm>
              <a:prstGeom prst="rect">
                <a:avLst/>
              </a:prstGeom>
              <a:solidFill>
                <a:srgbClr val="8BC2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34" name="Google Shape;334;g381a785ae79_0_27"/>
            <p:cNvCxnSpPr/>
            <p:nvPr/>
          </p:nvCxnSpPr>
          <p:spPr>
            <a:xfrm flipH="1">
              <a:off x="4434925" y="5383171"/>
              <a:ext cx="5100" cy="2802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5" name="Google Shape;335;g381a785ae79_0_27"/>
            <p:cNvCxnSpPr/>
            <p:nvPr/>
          </p:nvCxnSpPr>
          <p:spPr>
            <a:xfrm flipH="1">
              <a:off x="5852979" y="5383171"/>
              <a:ext cx="5100" cy="2802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6" name="Google Shape;336;g381a785ae79_0_27"/>
            <p:cNvCxnSpPr/>
            <p:nvPr/>
          </p:nvCxnSpPr>
          <p:spPr>
            <a:xfrm>
              <a:off x="4434992" y="5383164"/>
              <a:ext cx="1424100" cy="15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37" name="Google Shape;337;g381a785ae79_0_27"/>
            <p:cNvSpPr txBox="1"/>
            <p:nvPr/>
          </p:nvSpPr>
          <p:spPr>
            <a:xfrm>
              <a:off x="4797969" y="5324825"/>
              <a:ext cx="69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VOUT</a:t>
              </a:r>
              <a:endParaRPr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38" name="Google Shape;338;g381a785ae79_0_27"/>
            <p:cNvCxnSpPr/>
            <p:nvPr/>
          </p:nvCxnSpPr>
          <p:spPr>
            <a:xfrm flipH="1">
              <a:off x="4107575" y="5162546"/>
              <a:ext cx="5100" cy="2802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9" name="Google Shape;339;g381a785ae79_0_27"/>
            <p:cNvCxnSpPr/>
            <p:nvPr/>
          </p:nvCxnSpPr>
          <p:spPr>
            <a:xfrm rot="10800000" flipH="1">
              <a:off x="4107642" y="5157739"/>
              <a:ext cx="2070000" cy="48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0" name="Google Shape;340;g381a785ae79_0_27"/>
            <p:cNvCxnSpPr/>
            <p:nvPr/>
          </p:nvCxnSpPr>
          <p:spPr>
            <a:xfrm flipH="1">
              <a:off x="6181425" y="5162546"/>
              <a:ext cx="5100" cy="2802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1" name="Google Shape;341;g381a785ae79_0_27"/>
            <p:cNvSpPr txBox="1"/>
            <p:nvPr/>
          </p:nvSpPr>
          <p:spPr>
            <a:xfrm>
              <a:off x="5492319" y="5092175"/>
              <a:ext cx="69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VIN</a:t>
              </a:r>
              <a:endParaRPr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42" name="Google Shape;342;g381a785ae79_0_27"/>
            <p:cNvCxnSpPr/>
            <p:nvPr/>
          </p:nvCxnSpPr>
          <p:spPr>
            <a:xfrm rot="10800000" flipH="1">
              <a:off x="6564117" y="5386450"/>
              <a:ext cx="1738800" cy="111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3" name="Google Shape;343;g381a785ae79_0_27"/>
            <p:cNvCxnSpPr/>
            <p:nvPr/>
          </p:nvCxnSpPr>
          <p:spPr>
            <a:xfrm flipH="1">
              <a:off x="8305350" y="5194500"/>
              <a:ext cx="8700" cy="4713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4" name="Google Shape;344;g381a785ae79_0_27"/>
            <p:cNvCxnSpPr/>
            <p:nvPr/>
          </p:nvCxnSpPr>
          <p:spPr>
            <a:xfrm flipH="1">
              <a:off x="6566400" y="5383171"/>
              <a:ext cx="5100" cy="2802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5" name="Google Shape;345;g381a785ae79_0_27"/>
            <p:cNvSpPr txBox="1"/>
            <p:nvPr/>
          </p:nvSpPr>
          <p:spPr>
            <a:xfrm>
              <a:off x="8305358" y="5055439"/>
              <a:ext cx="69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VDD</a:t>
              </a:r>
              <a:endParaRPr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46" name="Google Shape;346;g381a785ae79_0_27"/>
            <p:cNvCxnSpPr/>
            <p:nvPr/>
          </p:nvCxnSpPr>
          <p:spPr>
            <a:xfrm>
              <a:off x="2364350" y="5374925"/>
              <a:ext cx="1459200" cy="12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7" name="Google Shape;347;g381a785ae79_0_27"/>
            <p:cNvCxnSpPr/>
            <p:nvPr/>
          </p:nvCxnSpPr>
          <p:spPr>
            <a:xfrm flipH="1">
              <a:off x="3818550" y="5383183"/>
              <a:ext cx="5100" cy="2802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8" name="Google Shape;348;g381a785ae79_0_27"/>
            <p:cNvSpPr txBox="1"/>
            <p:nvPr/>
          </p:nvSpPr>
          <p:spPr>
            <a:xfrm>
              <a:off x="1903681" y="5055461"/>
              <a:ext cx="69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VSS</a:t>
              </a:r>
              <a:endParaRPr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49" name="Google Shape;349;g381a785ae79_0_27"/>
            <p:cNvCxnSpPr/>
            <p:nvPr/>
          </p:nvCxnSpPr>
          <p:spPr>
            <a:xfrm flipH="1">
              <a:off x="2362250" y="5082925"/>
              <a:ext cx="2100" cy="563100"/>
            </a:xfrm>
            <a:prstGeom prst="straightConnector1">
              <a:avLst/>
            </a:prstGeom>
            <a:noFill/>
            <a:ln w="83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0" name="Google Shape;350;g381a785ae79_0_27"/>
            <p:cNvCxnSpPr/>
            <p:nvPr/>
          </p:nvCxnSpPr>
          <p:spPr>
            <a:xfrm>
              <a:off x="8312875" y="5107425"/>
              <a:ext cx="2700" cy="3174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g381a785ae79_0_27"/>
            <p:cNvCxnSpPr/>
            <p:nvPr/>
          </p:nvCxnSpPr>
          <p:spPr>
            <a:xfrm rot="10800000" flipH="1">
              <a:off x="6561019" y="5412116"/>
              <a:ext cx="1775700" cy="30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g381a785ae79_0_27"/>
            <p:cNvCxnSpPr/>
            <p:nvPr/>
          </p:nvCxnSpPr>
          <p:spPr>
            <a:xfrm flipH="1">
              <a:off x="6574391" y="5398334"/>
              <a:ext cx="3000" cy="4182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g381a785ae79_0_27"/>
            <p:cNvCxnSpPr/>
            <p:nvPr/>
          </p:nvCxnSpPr>
          <p:spPr>
            <a:xfrm rot="10800000" flipH="1">
              <a:off x="5838944" y="5796291"/>
              <a:ext cx="741300" cy="48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354;g381a785ae79_0_27"/>
            <p:cNvCxnSpPr/>
            <p:nvPr/>
          </p:nvCxnSpPr>
          <p:spPr>
            <a:xfrm flipH="1">
              <a:off x="5855497" y="5396460"/>
              <a:ext cx="3000" cy="4182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" name="Google Shape;355;g381a785ae79_0_27"/>
            <p:cNvCxnSpPr/>
            <p:nvPr/>
          </p:nvCxnSpPr>
          <p:spPr>
            <a:xfrm rot="10800000" flipH="1">
              <a:off x="4442800" y="5390325"/>
              <a:ext cx="1438200" cy="66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356;g381a785ae79_0_27"/>
            <p:cNvCxnSpPr/>
            <p:nvPr/>
          </p:nvCxnSpPr>
          <p:spPr>
            <a:xfrm flipH="1">
              <a:off x="4429153" y="5378059"/>
              <a:ext cx="3000" cy="4182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" name="Google Shape;357;g381a785ae79_0_27"/>
            <p:cNvCxnSpPr/>
            <p:nvPr/>
          </p:nvCxnSpPr>
          <p:spPr>
            <a:xfrm rot="10800000" flipH="1">
              <a:off x="3823950" y="5798125"/>
              <a:ext cx="624000" cy="24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g381a785ae79_0_27"/>
            <p:cNvCxnSpPr/>
            <p:nvPr/>
          </p:nvCxnSpPr>
          <p:spPr>
            <a:xfrm flipH="1">
              <a:off x="3819606" y="5401319"/>
              <a:ext cx="3000" cy="4182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Google Shape;359;g381a785ae79_0_27"/>
            <p:cNvCxnSpPr/>
            <p:nvPr/>
          </p:nvCxnSpPr>
          <p:spPr>
            <a:xfrm rot="10800000">
              <a:off x="2411819" y="5394841"/>
              <a:ext cx="1428900" cy="600"/>
            </a:xfrm>
            <a:prstGeom prst="straightConnector1">
              <a:avLst/>
            </a:prstGeom>
            <a:noFill/>
            <a:ln w="38100" cap="flat" cmpd="sng">
              <a:solidFill>
                <a:srgbClr val="5E9EE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1599D34E-8152-4532-B876-30D26B51AEA6}"/>
                </a:ext>
              </a:extLst>
            </p:cNvPr>
            <p:cNvGrpSpPr/>
            <p:nvPr/>
          </p:nvGrpSpPr>
          <p:grpSpPr>
            <a:xfrm>
              <a:off x="1961526" y="1842974"/>
              <a:ext cx="6819511" cy="3159489"/>
              <a:chOff x="1606213" y="2397607"/>
              <a:chExt cx="6023048" cy="3200312"/>
            </a:xfrm>
          </p:grpSpPr>
          <p:pic>
            <p:nvPicPr>
              <p:cNvPr id="105" name="그림 104">
                <a:extLst>
                  <a:ext uri="{FF2B5EF4-FFF2-40B4-BE49-F238E27FC236}">
                    <a16:creationId xmlns:a16="http://schemas.microsoft.com/office/drawing/2014/main" id="{F78FC5AB-24BF-4AFF-B45C-0D582C109D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23629"/>
              <a:stretch/>
            </p:blipFill>
            <p:spPr>
              <a:xfrm>
                <a:off x="1606213" y="2397607"/>
                <a:ext cx="6023048" cy="3106751"/>
              </a:xfrm>
              <a:prstGeom prst="rect">
                <a:avLst/>
              </a:prstGeom>
            </p:spPr>
          </p:pic>
          <p:sp>
            <p:nvSpPr>
              <p:cNvPr id="106" name="Google Shape;268;g381a785ae79_0_27">
                <a:extLst>
                  <a:ext uri="{FF2B5EF4-FFF2-40B4-BE49-F238E27FC236}">
                    <a16:creationId xmlns:a16="http://schemas.microsoft.com/office/drawing/2014/main" id="{FBD93D86-D8E0-41E8-B159-191AF4F1107F}"/>
                  </a:ext>
                </a:extLst>
              </p:cNvPr>
              <p:cNvSpPr/>
              <p:nvPr/>
            </p:nvSpPr>
            <p:spPr>
              <a:xfrm>
                <a:off x="4990592" y="5047012"/>
                <a:ext cx="140705" cy="208858"/>
              </a:xfrm>
              <a:prstGeom prst="rect">
                <a:avLst/>
              </a:prstGeom>
              <a:noFill/>
              <a:ln w="31850" cap="flat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6425" tIns="76425" rIns="76425" bIns="76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70"/>
              </a:p>
            </p:txBody>
          </p:sp>
          <p:sp>
            <p:nvSpPr>
              <p:cNvPr id="107" name="Google Shape;269;g381a785ae79_0_27">
                <a:extLst>
                  <a:ext uri="{FF2B5EF4-FFF2-40B4-BE49-F238E27FC236}">
                    <a16:creationId xmlns:a16="http://schemas.microsoft.com/office/drawing/2014/main" id="{A9804349-AC4E-43A2-A6E5-4E8DF4DA8E90}"/>
                  </a:ext>
                </a:extLst>
              </p:cNvPr>
              <p:cNvSpPr txBox="1"/>
              <p:nvPr/>
            </p:nvSpPr>
            <p:spPr>
              <a:xfrm>
                <a:off x="5131293" y="5151441"/>
                <a:ext cx="1450868" cy="4464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425" tIns="38200" rIns="76425" bIns="382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rgbClr val="0000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Short-circuit</a:t>
                </a:r>
                <a:endParaRPr sz="1200" dirty="0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8" name="Google Shape;268;g381a785ae79_0_27">
              <a:extLst>
                <a:ext uri="{FF2B5EF4-FFF2-40B4-BE49-F238E27FC236}">
                  <a16:creationId xmlns:a16="http://schemas.microsoft.com/office/drawing/2014/main" id="{4ADFFD40-C611-473A-8392-CF8328F73674}"/>
                </a:ext>
              </a:extLst>
            </p:cNvPr>
            <p:cNvSpPr/>
            <p:nvPr/>
          </p:nvSpPr>
          <p:spPr>
            <a:xfrm>
              <a:off x="3366200" y="4556481"/>
              <a:ext cx="159311" cy="206194"/>
            </a:xfrm>
            <a:prstGeom prst="rect">
              <a:avLst/>
            </a:prstGeom>
            <a:noFill/>
            <a:ln w="318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6425" tIns="76425" rIns="76425" bIns="76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70">
                <a:solidFill>
                  <a:srgbClr val="FF0000"/>
                </a:solidFill>
              </a:endParaRPr>
            </a:p>
          </p:txBody>
        </p:sp>
        <p:sp>
          <p:nvSpPr>
            <p:cNvPr id="109" name="Google Shape;269;g381a785ae79_0_27">
              <a:extLst>
                <a:ext uri="{FF2B5EF4-FFF2-40B4-BE49-F238E27FC236}">
                  <a16:creationId xmlns:a16="http://schemas.microsoft.com/office/drawing/2014/main" id="{33D21ABA-B471-4E68-984F-683248B3E2F2}"/>
                </a:ext>
              </a:extLst>
            </p:cNvPr>
            <p:cNvSpPr txBox="1"/>
            <p:nvPr/>
          </p:nvSpPr>
          <p:spPr>
            <a:xfrm>
              <a:off x="3525507" y="4659578"/>
              <a:ext cx="1642725" cy="476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425" tIns="38200" rIns="76425" bIns="382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Reverse current</a:t>
              </a:r>
              <a:endParaRPr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10" name="Google Shape;350;g381a785ae79_0_27">
              <a:extLst>
                <a:ext uri="{FF2B5EF4-FFF2-40B4-BE49-F238E27FC236}">
                  <a16:creationId xmlns:a16="http://schemas.microsoft.com/office/drawing/2014/main" id="{4081EB2E-CFE1-45CC-8ECA-3A32998D0E47}"/>
                </a:ext>
              </a:extLst>
            </p:cNvPr>
            <p:cNvCxnSpPr>
              <a:cxnSpLocks/>
            </p:cNvCxnSpPr>
            <p:nvPr/>
          </p:nvCxnSpPr>
          <p:spPr>
            <a:xfrm>
              <a:off x="5740311" y="5347939"/>
              <a:ext cx="0" cy="557205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Google Shape;350;g381a785ae79_0_27">
              <a:extLst>
                <a:ext uri="{FF2B5EF4-FFF2-40B4-BE49-F238E27FC236}">
                  <a16:creationId xmlns:a16="http://schemas.microsoft.com/office/drawing/2014/main" id="{7A49723A-FD20-40A4-BDCA-C64BDEF6B66E}"/>
                </a:ext>
              </a:extLst>
            </p:cNvPr>
            <p:cNvCxnSpPr>
              <a:cxnSpLocks/>
            </p:cNvCxnSpPr>
            <p:nvPr/>
          </p:nvCxnSpPr>
          <p:spPr>
            <a:xfrm>
              <a:off x="5734839" y="5884448"/>
              <a:ext cx="94548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4" name="Google Shape;350;g381a785ae79_0_27">
              <a:extLst>
                <a:ext uri="{FF2B5EF4-FFF2-40B4-BE49-F238E27FC236}">
                  <a16:creationId xmlns:a16="http://schemas.microsoft.com/office/drawing/2014/main" id="{A315B344-7D7A-466B-AE18-CA8BC087B0A3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19" y="5336721"/>
              <a:ext cx="0" cy="557205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B2C3735E-0E55-48F7-8C8C-79EFD9803AFF}"/>
                </a:ext>
              </a:extLst>
            </p:cNvPr>
            <p:cNvCxnSpPr/>
            <p:nvPr/>
          </p:nvCxnSpPr>
          <p:spPr>
            <a:xfrm>
              <a:off x="6674263" y="5330881"/>
              <a:ext cx="155892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1A5DBA66-599C-48CF-A195-FA31D110838D}"/>
              </a:ext>
            </a:extLst>
          </p:cNvPr>
          <p:cNvSpPr/>
          <p:nvPr/>
        </p:nvSpPr>
        <p:spPr>
          <a:xfrm>
            <a:off x="8083805" y="1757548"/>
            <a:ext cx="3945320" cy="4934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3" name="Google Shape;306;g381a785ae79_0_27">
            <a:extLst>
              <a:ext uri="{FF2B5EF4-FFF2-40B4-BE49-F238E27FC236}">
                <a16:creationId xmlns:a16="http://schemas.microsoft.com/office/drawing/2014/main" id="{AE171F35-063F-432F-A704-02D66B86E9CE}"/>
              </a:ext>
            </a:extLst>
          </p:cNvPr>
          <p:cNvGrpSpPr/>
          <p:nvPr/>
        </p:nvGrpSpPr>
        <p:grpSpPr>
          <a:xfrm>
            <a:off x="8248974" y="2816518"/>
            <a:ext cx="1595404" cy="1485143"/>
            <a:chOff x="8741477" y="1989424"/>
            <a:chExt cx="2922323" cy="2655229"/>
          </a:xfrm>
        </p:grpSpPr>
        <p:pic>
          <p:nvPicPr>
            <p:cNvPr id="126" name="Google Shape;307;g381a785ae79_0_27" descr="1.4 CMOS Logic (1) CMOS Inverter(인버터), NAND Gate(낸드게이트), CMOS Logic Gates  (Pull">
              <a:extLst>
                <a:ext uri="{FF2B5EF4-FFF2-40B4-BE49-F238E27FC236}">
                  <a16:creationId xmlns:a16="http://schemas.microsoft.com/office/drawing/2014/main" id="{B51A63A8-07DC-47E3-A1B6-09581B4FAD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741477" y="1989424"/>
              <a:ext cx="2922323" cy="265522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7" name="Google Shape;308;g381a785ae79_0_27">
              <a:extLst>
                <a:ext uri="{FF2B5EF4-FFF2-40B4-BE49-F238E27FC236}">
                  <a16:creationId xmlns:a16="http://schemas.microsoft.com/office/drawing/2014/main" id="{35E76814-4807-4F81-88F5-D0AA09740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1974" y="2451402"/>
              <a:ext cx="0" cy="865636"/>
            </a:xfrm>
            <a:prstGeom prst="straightConnector1">
              <a:avLst/>
            </a:prstGeom>
            <a:noFill/>
            <a:ln w="272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130" name="Google Shape;360;g381a785ae79_0_27">
            <a:extLst>
              <a:ext uri="{FF2B5EF4-FFF2-40B4-BE49-F238E27FC236}">
                <a16:creationId xmlns:a16="http://schemas.microsoft.com/office/drawing/2014/main" id="{C6DF2FA4-8119-4002-8D1E-3462F81A507F}"/>
              </a:ext>
            </a:extLst>
          </p:cNvPr>
          <p:cNvSpPr txBox="1"/>
          <p:nvPr/>
        </p:nvSpPr>
        <p:spPr>
          <a:xfrm>
            <a:off x="10179657" y="2953492"/>
            <a:ext cx="1746978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Reverse</a:t>
            </a: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5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입력이 변하며 충전된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인하여</a:t>
            </a:r>
            <a:endParaRPr lang="en-US" altLang="ko-KR"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순간적으로 역방향으로 흐르는 전류</a:t>
            </a: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Google Shape;249;g3801a7e8453_1_15">
                <a:extLst>
                  <a:ext uri="{FF2B5EF4-FFF2-40B4-BE49-F238E27FC236}">
                    <a16:creationId xmlns:a16="http://schemas.microsoft.com/office/drawing/2014/main" id="{4082594D-58BE-4764-A8E1-673BF9C29035}"/>
                  </a:ext>
                </a:extLst>
              </p:cNvPr>
              <p:cNvSpPr txBox="1"/>
              <p:nvPr/>
            </p:nvSpPr>
            <p:spPr>
              <a:xfrm>
                <a:off x="8348977" y="2020447"/>
                <a:ext cx="3346940" cy="3907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𝑠</m:t>
                        </m:r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h</m:t>
                        </m:r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𝑜𝑟𝑡</m:t>
                        </m:r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−</m:t>
                        </m:r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𝑐𝑖𝑟𝑐𝑢𝑖𝑡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𝑇</m:t>
                        </m:r>
                      </m:e>
                      <m:sub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𝑠𝑐</m:t>
                        </m:r>
                      </m:sub>
                    </m:sSub>
                    <m:sSub>
                      <m:sSubPr>
                        <m:ctrlPr>
                          <a:rPr lang="en-US" altLang="ko-KR" sz="18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𝐷𝐷</m:t>
                        </m:r>
                      </m:sub>
                    </m:sSub>
                    <m:sSub>
                      <m:sSubPr>
                        <m:ctrlPr>
                          <a:rPr lang="en-US" altLang="ko-KR" sz="18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𝐼</m:t>
                        </m:r>
                      </m:e>
                      <m:sub>
                        <m:r>
                          <a:rPr lang="en-US" altLang="ko-KR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𝑝𝑒𝑎𝑘</m:t>
                        </m:r>
                      </m:sub>
                    </m:sSub>
                  </m:oMath>
                </a14:m>
                <a:endParaRPr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137" name="Google Shape;249;g3801a7e8453_1_15">
                <a:extLst>
                  <a:ext uri="{FF2B5EF4-FFF2-40B4-BE49-F238E27FC236}">
                    <a16:creationId xmlns:a16="http://schemas.microsoft.com/office/drawing/2014/main" id="{4082594D-58BE-4764-A8E1-673BF9C29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977" y="2020447"/>
                <a:ext cx="3346940" cy="390708"/>
              </a:xfrm>
              <a:prstGeom prst="rect">
                <a:avLst/>
              </a:prstGeom>
              <a:blipFill>
                <a:blip r:embed="rId5"/>
                <a:stretch>
                  <a:fillRect t="-9231" b="-15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1a785ae79_0_1"/>
          <p:cNvSpPr/>
          <p:nvPr/>
        </p:nvSpPr>
        <p:spPr>
          <a:xfrm>
            <a:off x="0" y="0"/>
            <a:ext cx="1075800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g381a785ae79_0_1"/>
          <p:cNvSpPr/>
          <p:nvPr/>
        </p:nvSpPr>
        <p:spPr>
          <a:xfrm>
            <a:off x="1159497" y="0"/>
            <a:ext cx="273300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67" name="Google Shape;367;g381a785ae79_0_1"/>
          <p:cNvGraphicFramePr/>
          <p:nvPr/>
        </p:nvGraphicFramePr>
        <p:xfrm>
          <a:off x="1532485" y="1958085"/>
          <a:ext cx="6427475" cy="4469440"/>
        </p:xfrm>
        <a:graphic>
          <a:graphicData uri="http://schemas.openxmlformats.org/drawingml/2006/table">
            <a:tbl>
              <a:tblPr>
                <a:noFill/>
                <a:tableStyleId>{BFB81038-B3C2-47C5-B33F-A615394D63FA}</a:tableStyleId>
              </a:tblPr>
              <a:tblGrid>
                <a:gridCol w="80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9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9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11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</a:rPr>
                        <a:t>FF</a:t>
                      </a:r>
                      <a:endParaRPr sz="14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</a:rPr>
                        <a:t>NN</a:t>
                      </a:r>
                      <a:endParaRPr sz="14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</a:rPr>
                        <a:t>SS</a:t>
                      </a:r>
                      <a:endParaRPr sz="14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DD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DD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DD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180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(nm)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18.89u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-18.92u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18.97u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-18.96u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18.92u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-18.91u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1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2X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37.78u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-37.83u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37.93u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-37.91u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37.84u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-37.83u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1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000000"/>
                          </a:solidFill>
                        </a:rPr>
                        <a:t>4X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75.57u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-75.67u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75.86u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-75.82u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75.69u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-75.65u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1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90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(nm)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2.25u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-2.24u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2.18u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-2.18u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2.13u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-2.13u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1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2X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4.49u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-4.48u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4.36u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-4.35u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4.25u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-4.26u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1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4X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8.98u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-8.96u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8.71u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-8.70u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8.50u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-8.52u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1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45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(nm)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0.49u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-0.49u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0.47u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-0.47u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0.45u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-0.45u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1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2X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0.98u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-0.98u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0.95u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-0.95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0.91u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-0.91u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1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4X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1.96u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-1.96u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1.89u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-1.89u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1.82u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1.82u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68" name="Google Shape;368;g381a785ae79_0_1"/>
          <p:cNvSpPr txBox="1"/>
          <p:nvPr/>
        </p:nvSpPr>
        <p:spPr>
          <a:xfrm>
            <a:off x="2003572" y="682510"/>
            <a:ext cx="89634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06. Power Analysis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1" name="Google Shape;371;g381a785ae79_0_1"/>
              <p:cNvSpPr txBox="1"/>
              <p:nvPr/>
            </p:nvSpPr>
            <p:spPr>
              <a:xfrm>
                <a:off x="8727484" y="2027439"/>
                <a:ext cx="3227650" cy="5404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cs typeface="Malgun Gothic"/>
                        <a:sym typeface="Malgun Gothic"/>
                      </a:rPr>
                      <m:t>𝑃</m:t>
                    </m:r>
                  </m:oMath>
                </a14:m>
                <a:r>
                  <a:rPr lang="ar-AE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𝑑𝑦𝑛𝑎𝑚𝑖𝑐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sym typeface="Malgun Gothic"/>
                      </a:rPr>
                      <m:t>+ 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𝑠</m:t>
                        </m:r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h</m:t>
                        </m:r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𝑜𝑟𝑡</m:t>
                        </m:r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−</m:t>
                        </m:r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𝑐𝑖𝑟𝑐𝑢𝑖𝑡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𝑓𝐶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  <m:sSup>
                      <m:sSup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ar-AE" altLang="ko-KR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</m:ctrlPr>
                          </m:sSubPr>
                          <m:e>
                            <m:r>
                              <a:rPr lang="ko-KR" altLang="ar-AE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  <m:t>𝑉</m:t>
                            </m:r>
                          </m:e>
                          <m:sub>
                            <m:r>
                              <a:rPr lang="ko-KR" altLang="ar-AE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  <m:t>𝐷𝐷</m:t>
                            </m:r>
                          </m:sub>
                        </m:sSub>
                      </m:e>
                      <m:sup>
                        <m: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𝑇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𝑠𝑐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𝐷𝐷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𝑝𝑒𝑎𝑘</m:t>
                        </m:r>
                      </m:sub>
                    </m:sSub>
                  </m:oMath>
                </a14:m>
                <a:endParaRPr lang="ar-AE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cs typeface="Malgun Gothic"/>
                        <a:sym typeface="Malgun Gothic"/>
                      </a:rPr>
                      <m:t>𝑃</m:t>
                    </m:r>
                  </m:oMath>
                </a14:m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 </m:t>
                        </m:r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𝐶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같은 공정에서 </a:t>
                </a: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Multiplier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가 증가할수록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 </m:t>
                        </m:r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𝐶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  <m:r>
                      <a:rPr lang="ko-KR" altLang="ar-AE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sym typeface="Malgun Gothic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증가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</a:t>
                </a:r>
                <a:r>
                  <a:rPr lang="en-US" sz="700" dirty="0">
                    <a:solidFill>
                      <a:schemeClr val="bg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</a:t>
                </a: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-&gt;  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전력소모 증가</a:t>
                </a: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공정 크기가 작아지며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면적이 작아지며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 </m:t>
                        </m:r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𝐶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감소 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endParaRPr lang="en-US" sz="7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-&gt; 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전력소모 감소</a:t>
                </a: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371" name="Google Shape;371;g381a785ae79_0_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484" y="2027439"/>
                <a:ext cx="3227650" cy="54042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72E5B4-D74B-4E34-BCA0-001426657D0A}"/>
              </a:ext>
            </a:extLst>
          </p:cNvPr>
          <p:cNvSpPr/>
          <p:nvPr/>
        </p:nvSpPr>
        <p:spPr>
          <a:xfrm>
            <a:off x="8653494" y="1966654"/>
            <a:ext cx="3375631" cy="44719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Google Shape;256;g3801a7e8453_1_15">
            <a:extLst>
              <a:ext uri="{FF2B5EF4-FFF2-40B4-BE49-F238E27FC236}">
                <a16:creationId xmlns:a16="http://schemas.microsoft.com/office/drawing/2014/main" id="{D782C092-A40B-4E5D-B23B-E12CE5FD2EF6}"/>
              </a:ext>
            </a:extLst>
          </p:cNvPr>
          <p:cNvSpPr txBox="1"/>
          <p:nvPr/>
        </p:nvSpPr>
        <p:spPr>
          <a:xfrm>
            <a:off x="2031403" y="1326991"/>
            <a:ext cx="39399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800" b="1" dirty="0">
                <a:solidFill>
                  <a:srgbClr val="09644C"/>
                </a:solidFill>
                <a:latin typeface="Malgun Gothic"/>
                <a:ea typeface="Malgun Gothic"/>
                <a:cs typeface="Malgun Gothic"/>
                <a:sym typeface="Malgun Gothic"/>
              </a:rPr>
              <a:t>Power Consumption (Same Load)</a:t>
            </a:r>
            <a:endParaRPr lang="en-US" altLang="ko-KR"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B014183-586F-4B99-93EC-C7E9EBA18F27}"/>
              </a:ext>
            </a:extLst>
          </p:cNvPr>
          <p:cNvGrpSpPr/>
          <p:nvPr/>
        </p:nvGrpSpPr>
        <p:grpSpPr>
          <a:xfrm>
            <a:off x="8056762" y="3997246"/>
            <a:ext cx="442557" cy="1141480"/>
            <a:chOff x="2562141" y="3687878"/>
            <a:chExt cx="442557" cy="848163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6EC426A8-2D2C-4F78-9468-65B9150194DC}"/>
                </a:ext>
              </a:extLst>
            </p:cNvPr>
            <p:cNvGrpSpPr/>
            <p:nvPr/>
          </p:nvGrpSpPr>
          <p:grpSpPr>
            <a:xfrm>
              <a:off x="2562141" y="3687878"/>
              <a:ext cx="434947" cy="848163"/>
              <a:chOff x="10593629" y="2835348"/>
              <a:chExt cx="569514" cy="1240465"/>
            </a:xfrm>
          </p:grpSpPr>
          <p:sp>
            <p:nvSpPr>
              <p:cNvPr id="12" name="화살표: 아래쪽 11">
                <a:extLst>
                  <a:ext uri="{FF2B5EF4-FFF2-40B4-BE49-F238E27FC236}">
                    <a16:creationId xmlns:a16="http://schemas.microsoft.com/office/drawing/2014/main" id="{9A2B9125-D30A-440B-AFF3-380759AD3719}"/>
                  </a:ext>
                </a:extLst>
              </p:cNvPr>
              <p:cNvSpPr/>
              <p:nvPr/>
            </p:nvSpPr>
            <p:spPr>
              <a:xfrm>
                <a:off x="10610250" y="2835348"/>
                <a:ext cx="552893" cy="1240465"/>
              </a:xfrm>
              <a:prstGeom prst="downArrow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F47EFF-12FA-4882-B0F9-5C5CFDC9828F}"/>
                  </a:ext>
                </a:extLst>
              </p:cNvPr>
              <p:cNvSpPr txBox="1"/>
              <p:nvPr/>
            </p:nvSpPr>
            <p:spPr>
              <a:xfrm>
                <a:off x="10593629" y="2879651"/>
                <a:ext cx="523899" cy="109869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ko-KR" altLang="en-US" dirty="0"/>
                  <a:t> 증가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4658818E-40D9-4084-9468-C39CE5333D9B}"/>
                    </a:ext>
                  </a:extLst>
                </p:cNvPr>
                <p:cNvSpPr/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>
                    <a:buClr>
                      <a:schemeClr val="dk1"/>
                    </a:buClr>
                    <a:buSzPts val="1100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 </m:t>
                          </m:r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𝐶</m:t>
                          </m:r>
                        </m:e>
                        <m:sub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𝑙</m:t>
                          </m:r>
                        </m:sub>
                      </m:sSub>
                    </m:oMath>
                  </a14:m>
                  <a:r>
                    <a:rPr lang="en-US" altLang="ko-KR" dirty="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4658818E-40D9-4084-9468-C39CE5333D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49D1D83-8BE0-4046-8C45-426F88D5514F}"/>
              </a:ext>
            </a:extLst>
          </p:cNvPr>
          <p:cNvGrpSpPr/>
          <p:nvPr/>
        </p:nvGrpSpPr>
        <p:grpSpPr>
          <a:xfrm>
            <a:off x="8049152" y="2770950"/>
            <a:ext cx="442557" cy="1141480"/>
            <a:chOff x="2562141" y="3687878"/>
            <a:chExt cx="442557" cy="848163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BAA06DC6-C892-441D-AAED-C5EF0327E26F}"/>
                </a:ext>
              </a:extLst>
            </p:cNvPr>
            <p:cNvGrpSpPr/>
            <p:nvPr/>
          </p:nvGrpSpPr>
          <p:grpSpPr>
            <a:xfrm>
              <a:off x="2562141" y="3687878"/>
              <a:ext cx="434947" cy="848163"/>
              <a:chOff x="10593629" y="2835348"/>
              <a:chExt cx="569514" cy="1240465"/>
            </a:xfrm>
          </p:grpSpPr>
          <p:sp>
            <p:nvSpPr>
              <p:cNvPr id="19" name="화살표: 아래쪽 18">
                <a:extLst>
                  <a:ext uri="{FF2B5EF4-FFF2-40B4-BE49-F238E27FC236}">
                    <a16:creationId xmlns:a16="http://schemas.microsoft.com/office/drawing/2014/main" id="{993DD640-F3B0-43AA-93B1-86EA6FB545C3}"/>
                  </a:ext>
                </a:extLst>
              </p:cNvPr>
              <p:cNvSpPr/>
              <p:nvPr/>
            </p:nvSpPr>
            <p:spPr>
              <a:xfrm>
                <a:off x="10610250" y="2835348"/>
                <a:ext cx="552893" cy="1240465"/>
              </a:xfrm>
              <a:prstGeom prst="downArrow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AA689C-9AE9-43D3-B294-AA1BAC8D617E}"/>
                  </a:ext>
                </a:extLst>
              </p:cNvPr>
              <p:cNvSpPr txBox="1"/>
              <p:nvPr/>
            </p:nvSpPr>
            <p:spPr>
              <a:xfrm>
                <a:off x="10593629" y="2879651"/>
                <a:ext cx="523899" cy="109869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ko-KR" altLang="en-US" dirty="0"/>
                  <a:t> 증가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4A8F4F16-8DFD-4FEA-A9BF-EE1CFA985603}"/>
                    </a:ext>
                  </a:extLst>
                </p:cNvPr>
                <p:cNvSpPr/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>
                    <a:buClr>
                      <a:schemeClr val="dk1"/>
                    </a:buClr>
                    <a:buSzPts val="1100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 </m:t>
                          </m:r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𝐶</m:t>
                          </m:r>
                        </m:e>
                        <m:sub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𝑙</m:t>
                          </m:r>
                        </m:sub>
                      </m:sSub>
                    </m:oMath>
                  </a14:m>
                  <a:r>
                    <a:rPr lang="en-US" altLang="ko-KR" dirty="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4A8F4F16-8DFD-4FEA-A9BF-EE1CFA9856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9E944B8-3D3C-49CC-93E2-708E406DFDAE}"/>
              </a:ext>
            </a:extLst>
          </p:cNvPr>
          <p:cNvGrpSpPr/>
          <p:nvPr/>
        </p:nvGrpSpPr>
        <p:grpSpPr>
          <a:xfrm>
            <a:off x="8058294" y="5219720"/>
            <a:ext cx="442557" cy="1141480"/>
            <a:chOff x="2562141" y="3687878"/>
            <a:chExt cx="442557" cy="848163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7CCFC08-7791-4FB4-AC24-917111792B20}"/>
                </a:ext>
              </a:extLst>
            </p:cNvPr>
            <p:cNvGrpSpPr/>
            <p:nvPr/>
          </p:nvGrpSpPr>
          <p:grpSpPr>
            <a:xfrm>
              <a:off x="2562141" y="3687878"/>
              <a:ext cx="434947" cy="848163"/>
              <a:chOff x="10593629" y="2835348"/>
              <a:chExt cx="569514" cy="1240465"/>
            </a:xfrm>
          </p:grpSpPr>
          <p:sp>
            <p:nvSpPr>
              <p:cNvPr id="24" name="화살표: 아래쪽 23">
                <a:extLst>
                  <a:ext uri="{FF2B5EF4-FFF2-40B4-BE49-F238E27FC236}">
                    <a16:creationId xmlns:a16="http://schemas.microsoft.com/office/drawing/2014/main" id="{BBF51947-0BCD-445D-830A-CAEC66330942}"/>
                  </a:ext>
                </a:extLst>
              </p:cNvPr>
              <p:cNvSpPr/>
              <p:nvPr/>
            </p:nvSpPr>
            <p:spPr>
              <a:xfrm>
                <a:off x="10610250" y="2835348"/>
                <a:ext cx="552893" cy="1240465"/>
              </a:xfrm>
              <a:prstGeom prst="downArrow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4C6362-1802-4DF2-9384-154C8413B8DC}"/>
                  </a:ext>
                </a:extLst>
              </p:cNvPr>
              <p:cNvSpPr txBox="1"/>
              <p:nvPr/>
            </p:nvSpPr>
            <p:spPr>
              <a:xfrm>
                <a:off x="10593629" y="2879651"/>
                <a:ext cx="523899" cy="109869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ko-KR" altLang="en-US" dirty="0"/>
                  <a:t> 증가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B6DE45A8-154D-46D8-ACAD-D2081DF52DC1}"/>
                    </a:ext>
                  </a:extLst>
                </p:cNvPr>
                <p:cNvSpPr/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>
                    <a:buClr>
                      <a:schemeClr val="dk1"/>
                    </a:buClr>
                    <a:buSzPts val="1100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 </m:t>
                          </m:r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𝐶</m:t>
                          </m:r>
                        </m:e>
                        <m:sub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𝑙</m:t>
                          </m:r>
                        </m:sub>
                      </m:sSub>
                    </m:oMath>
                  </a14:m>
                  <a:r>
                    <a:rPr lang="en-US" altLang="ko-KR" dirty="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B6DE45A8-154D-46D8-ACAD-D2081DF52D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1a785ae79_0_9"/>
          <p:cNvSpPr/>
          <p:nvPr/>
        </p:nvSpPr>
        <p:spPr>
          <a:xfrm>
            <a:off x="0" y="0"/>
            <a:ext cx="1075800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81a785ae79_0_9"/>
          <p:cNvSpPr/>
          <p:nvPr/>
        </p:nvSpPr>
        <p:spPr>
          <a:xfrm>
            <a:off x="1159497" y="0"/>
            <a:ext cx="273300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g381a785ae79_0_9"/>
          <p:cNvSpPr txBox="1"/>
          <p:nvPr/>
        </p:nvSpPr>
        <p:spPr>
          <a:xfrm>
            <a:off x="2003572" y="682510"/>
            <a:ext cx="89634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06. Power Analysis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379" name="Google Shape;379;g381a785ae79_0_9"/>
          <p:cNvGraphicFramePr/>
          <p:nvPr/>
        </p:nvGraphicFramePr>
        <p:xfrm>
          <a:off x="1468671" y="1980199"/>
          <a:ext cx="6598450" cy="4469440"/>
        </p:xfrm>
        <a:graphic>
          <a:graphicData uri="http://schemas.openxmlformats.org/drawingml/2006/table">
            <a:tbl>
              <a:tblPr>
                <a:noFill/>
                <a:tableStyleId>{BFB81038-B3C2-47C5-B33F-A615394D63FA}</a:tableStyleId>
              </a:tblPr>
              <a:tblGrid>
                <a:gridCol w="71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4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34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</a:rPr>
                        <a:t>FF</a:t>
                      </a:r>
                      <a:endParaRPr sz="14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</a:rPr>
                        <a:t>NN</a:t>
                      </a:r>
                      <a:endParaRPr sz="14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</a:rPr>
                        <a:t>SS</a:t>
                      </a:r>
                      <a:endParaRPr sz="1400" b="1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9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DD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DD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DD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22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180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(nm)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18.92u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-18.90u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18.97u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-18.97u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18.91u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-18.91u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2X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56.44u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-56.33u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56.65u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-56.65u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56.04u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-56.00u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4X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187.20u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-187.04u</a:t>
                      </a:r>
                      <a:endParaRPr sz="13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187.84u</a:t>
                      </a:r>
                      <a:endParaRPr sz="12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-187.73u</a:t>
                      </a:r>
                      <a:endParaRPr sz="12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184.55u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-18.42u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22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90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(nm)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2.24u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-2.24u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2.18u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-2.17u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2.13u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-2.13u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2X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7.03u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-7.03u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6.84u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-6.83u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6.69u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-6.69u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4X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24.30u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-24.30u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23.67u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-23.65u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23.11u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-23.10u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22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45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(nm)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0.49u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-0.49u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0.47u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-0.47u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0.45u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-0.45u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2X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1.53u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-1.53u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1.44u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-1.44u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1.35u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-1.35u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4X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5.22u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-5.23u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000000"/>
                          </a:solidFill>
                        </a:rPr>
                        <a:t>4.84u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000000"/>
                          </a:solidFill>
                        </a:rPr>
                        <a:t>-4.84u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4.45u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-4.45u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F0DA0D22-3930-40BB-B6AE-DBF550867BAD}"/>
              </a:ext>
            </a:extLst>
          </p:cNvPr>
          <p:cNvSpPr/>
          <p:nvPr/>
        </p:nvSpPr>
        <p:spPr>
          <a:xfrm>
            <a:off x="8653494" y="1966654"/>
            <a:ext cx="3375631" cy="44719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Google Shape;256;g3801a7e8453_1_15">
            <a:extLst>
              <a:ext uri="{FF2B5EF4-FFF2-40B4-BE49-F238E27FC236}">
                <a16:creationId xmlns:a16="http://schemas.microsoft.com/office/drawing/2014/main" id="{F0B13825-B06B-4425-88BC-1575B9073CB0}"/>
              </a:ext>
            </a:extLst>
          </p:cNvPr>
          <p:cNvSpPr txBox="1"/>
          <p:nvPr/>
        </p:nvSpPr>
        <p:spPr>
          <a:xfrm>
            <a:off x="2031403" y="1326991"/>
            <a:ext cx="39399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1800" b="1" dirty="0">
                <a:solidFill>
                  <a:srgbClr val="09644C"/>
                </a:solidFill>
                <a:latin typeface="Malgun Gothic"/>
                <a:ea typeface="Malgun Gothic"/>
                <a:cs typeface="Malgun Gothic"/>
                <a:sym typeface="Malgun Gothic"/>
              </a:rPr>
              <a:t>Power Consumption (Multi Load)</a:t>
            </a:r>
            <a:endParaRPr lang="en-US" altLang="ko-KR"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Google Shape;371;g381a785ae79_0_1">
                <a:extLst>
                  <a:ext uri="{FF2B5EF4-FFF2-40B4-BE49-F238E27FC236}">
                    <a16:creationId xmlns:a16="http://schemas.microsoft.com/office/drawing/2014/main" id="{012C6D5F-740D-41E8-A312-2EA9030709D3}"/>
                  </a:ext>
                </a:extLst>
              </p:cNvPr>
              <p:cNvSpPr txBox="1"/>
              <p:nvPr/>
            </p:nvSpPr>
            <p:spPr>
              <a:xfrm>
                <a:off x="8727484" y="2027439"/>
                <a:ext cx="3227650" cy="5404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cs typeface="Malgun Gothic"/>
                        <a:sym typeface="Malgun Gothic"/>
                      </a:rPr>
                      <m:t>𝑃</m:t>
                    </m:r>
                  </m:oMath>
                </a14:m>
                <a:r>
                  <a:rPr lang="ar-AE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𝑑𝑦𝑛𝑎𝑚𝑖𝑐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sym typeface="Malgun Gothic"/>
                      </a:rPr>
                      <m:t>+ 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𝑠</m:t>
                        </m:r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h</m:t>
                        </m:r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𝑜𝑟𝑡</m:t>
                        </m:r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−</m:t>
                        </m:r>
                        <m:r>
                          <a:rPr lang="en-US" altLang="ko-KR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𝑐𝑖𝑟𝑐𝑢𝑖𝑡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𝑓𝐶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  <m:sSup>
                      <m:sSup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ar-AE" altLang="ko-KR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</m:ctrlPr>
                          </m:sSubPr>
                          <m:e>
                            <m:r>
                              <a:rPr lang="ko-KR" altLang="ar-AE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  <m:t>𝑉</m:t>
                            </m:r>
                          </m:e>
                          <m:sub>
                            <m:r>
                              <a:rPr lang="ko-KR" altLang="ar-AE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Malgun Gothic"/>
                                <a:sym typeface="Malgun Gothic"/>
                              </a:rPr>
                              <m:t>𝐷𝐷</m:t>
                            </m:r>
                          </m:sub>
                        </m:sSub>
                      </m:e>
                      <m:sup>
                        <m: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𝑇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𝑠𝑐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𝐷𝐷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𝑝𝑒𝑎𝑘</m:t>
                        </m:r>
                      </m:sub>
                    </m:sSub>
                  </m:oMath>
                </a14:m>
                <a:endParaRPr lang="ar-AE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cs typeface="Malgun Gothic"/>
                        <a:sym typeface="Malgun Gothic"/>
                      </a:rPr>
                      <m:t>𝑃</m:t>
                    </m:r>
                  </m:oMath>
                </a14:m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 </m:t>
                        </m:r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𝐶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같은 공정에서 </a:t>
                </a:r>
                <a:r>
                  <a:rPr lang="en-US" altLang="ko-KR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Multiplier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가 증가할수록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 </m:t>
                        </m:r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𝐶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  <m:r>
                      <a:rPr lang="ko-KR" altLang="ar-AE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algun Gothic"/>
                        <a:sym typeface="Malgun Gothic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증가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</a:t>
                </a:r>
                <a:r>
                  <a:rPr lang="en-US" sz="700" dirty="0">
                    <a:solidFill>
                      <a:schemeClr val="bg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</a:t>
                </a: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-&gt;  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전력소모 증가</a:t>
                </a: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공정 크기가 작아지며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면적이 작아지며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 </m:t>
                        </m:r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𝐶</m:t>
                        </m:r>
                      </m:e>
                      <m:sub>
                        <m:r>
                          <a:rPr lang="ko-KR" altLang="ar-AE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Malgun Gothic"/>
                            <a:sym typeface="Malgun Gothic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감소 </a:t>
                </a: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endParaRPr lang="en-US" sz="7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-&gt; </a:t>
                </a:r>
                <a:r>
                  <a:rPr lang="ko-KR" altLang="en-US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전력소모 감소</a:t>
                </a: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12" name="Google Shape;371;g381a785ae79_0_1">
                <a:extLst>
                  <a:ext uri="{FF2B5EF4-FFF2-40B4-BE49-F238E27FC236}">
                    <a16:creationId xmlns:a16="http://schemas.microsoft.com/office/drawing/2014/main" id="{012C6D5F-740D-41E8-A312-2EA903070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484" y="2027439"/>
                <a:ext cx="3227650" cy="54042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81DFF4C5-E7B5-47AF-A807-1B411D1E35F7}"/>
              </a:ext>
            </a:extLst>
          </p:cNvPr>
          <p:cNvGrpSpPr/>
          <p:nvPr/>
        </p:nvGrpSpPr>
        <p:grpSpPr>
          <a:xfrm>
            <a:off x="8086451" y="3997246"/>
            <a:ext cx="442557" cy="1141480"/>
            <a:chOff x="2562141" y="3687878"/>
            <a:chExt cx="442557" cy="84816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F8CD713-11DE-47E5-B5C1-AFB63E1DFCAD}"/>
                </a:ext>
              </a:extLst>
            </p:cNvPr>
            <p:cNvGrpSpPr/>
            <p:nvPr/>
          </p:nvGrpSpPr>
          <p:grpSpPr>
            <a:xfrm>
              <a:off x="2562141" y="3687878"/>
              <a:ext cx="434947" cy="848163"/>
              <a:chOff x="10593629" y="2835348"/>
              <a:chExt cx="569514" cy="1240465"/>
            </a:xfrm>
          </p:grpSpPr>
          <p:sp>
            <p:nvSpPr>
              <p:cNvPr id="16" name="화살표: 아래쪽 15">
                <a:extLst>
                  <a:ext uri="{FF2B5EF4-FFF2-40B4-BE49-F238E27FC236}">
                    <a16:creationId xmlns:a16="http://schemas.microsoft.com/office/drawing/2014/main" id="{00C126BF-E7A6-4218-8C4A-584B78301646}"/>
                  </a:ext>
                </a:extLst>
              </p:cNvPr>
              <p:cNvSpPr/>
              <p:nvPr/>
            </p:nvSpPr>
            <p:spPr>
              <a:xfrm>
                <a:off x="10610250" y="2835348"/>
                <a:ext cx="552893" cy="1240465"/>
              </a:xfrm>
              <a:prstGeom prst="downArrow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AF9592-70B2-433D-96ED-6865F46C4218}"/>
                  </a:ext>
                </a:extLst>
              </p:cNvPr>
              <p:cNvSpPr txBox="1"/>
              <p:nvPr/>
            </p:nvSpPr>
            <p:spPr>
              <a:xfrm>
                <a:off x="10593629" y="2879651"/>
                <a:ext cx="523899" cy="109869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ko-KR" altLang="en-US" dirty="0"/>
                  <a:t> 증가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D88C01DB-D300-444A-89B6-591628AC6397}"/>
                    </a:ext>
                  </a:extLst>
                </p:cNvPr>
                <p:cNvSpPr/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>
                    <a:buClr>
                      <a:schemeClr val="dk1"/>
                    </a:buClr>
                    <a:buSzPts val="1100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 </m:t>
                          </m:r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𝐶</m:t>
                          </m:r>
                        </m:e>
                        <m:sub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𝑙</m:t>
                          </m:r>
                        </m:sub>
                      </m:sSub>
                    </m:oMath>
                  </a14:m>
                  <a:r>
                    <a:rPr lang="en-US" altLang="ko-KR" dirty="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D88C01DB-D300-444A-89B6-591628AC63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CE818EA-276D-441E-B5D7-069A9F845E4B}"/>
              </a:ext>
            </a:extLst>
          </p:cNvPr>
          <p:cNvGrpSpPr/>
          <p:nvPr/>
        </p:nvGrpSpPr>
        <p:grpSpPr>
          <a:xfrm>
            <a:off x="8078841" y="2770950"/>
            <a:ext cx="442557" cy="1141480"/>
            <a:chOff x="2562141" y="3687878"/>
            <a:chExt cx="442557" cy="84816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7E3C69C-860F-465B-B00F-D3E913491A1A}"/>
                </a:ext>
              </a:extLst>
            </p:cNvPr>
            <p:cNvGrpSpPr/>
            <p:nvPr/>
          </p:nvGrpSpPr>
          <p:grpSpPr>
            <a:xfrm>
              <a:off x="2562141" y="3687878"/>
              <a:ext cx="434947" cy="848163"/>
              <a:chOff x="10593629" y="2835348"/>
              <a:chExt cx="569514" cy="1240465"/>
            </a:xfrm>
          </p:grpSpPr>
          <p:sp>
            <p:nvSpPr>
              <p:cNvPr id="21" name="화살표: 아래쪽 20">
                <a:extLst>
                  <a:ext uri="{FF2B5EF4-FFF2-40B4-BE49-F238E27FC236}">
                    <a16:creationId xmlns:a16="http://schemas.microsoft.com/office/drawing/2014/main" id="{3485F665-0752-45C3-A82B-EFA7AF7B8E14}"/>
                  </a:ext>
                </a:extLst>
              </p:cNvPr>
              <p:cNvSpPr/>
              <p:nvPr/>
            </p:nvSpPr>
            <p:spPr>
              <a:xfrm>
                <a:off x="10610250" y="2835348"/>
                <a:ext cx="552893" cy="1240465"/>
              </a:xfrm>
              <a:prstGeom prst="downArrow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321EE9-9CD4-4063-AB7E-4171A5331EA0}"/>
                  </a:ext>
                </a:extLst>
              </p:cNvPr>
              <p:cNvSpPr txBox="1"/>
              <p:nvPr/>
            </p:nvSpPr>
            <p:spPr>
              <a:xfrm>
                <a:off x="10593629" y="2879651"/>
                <a:ext cx="523899" cy="109869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ko-KR" altLang="en-US" dirty="0"/>
                  <a:t> 증가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24EF275F-82F5-4FF7-9166-105579A20CA8}"/>
                    </a:ext>
                  </a:extLst>
                </p:cNvPr>
                <p:cNvSpPr/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>
                    <a:buClr>
                      <a:schemeClr val="dk1"/>
                    </a:buClr>
                    <a:buSzPts val="1100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 </m:t>
                          </m:r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𝐶</m:t>
                          </m:r>
                        </m:e>
                        <m:sub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𝑙</m:t>
                          </m:r>
                        </m:sub>
                      </m:sSub>
                    </m:oMath>
                  </a14:m>
                  <a:r>
                    <a:rPr lang="en-US" altLang="ko-KR" dirty="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24EF275F-82F5-4FF7-9166-105579A20C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4330B73-C44D-4268-9D5C-D9197370451F}"/>
              </a:ext>
            </a:extLst>
          </p:cNvPr>
          <p:cNvGrpSpPr/>
          <p:nvPr/>
        </p:nvGrpSpPr>
        <p:grpSpPr>
          <a:xfrm>
            <a:off x="8087983" y="5219720"/>
            <a:ext cx="442557" cy="1141480"/>
            <a:chOff x="2562141" y="3687878"/>
            <a:chExt cx="442557" cy="848163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C79E315F-EF76-46BB-8E25-72DCA5A63E71}"/>
                </a:ext>
              </a:extLst>
            </p:cNvPr>
            <p:cNvGrpSpPr/>
            <p:nvPr/>
          </p:nvGrpSpPr>
          <p:grpSpPr>
            <a:xfrm>
              <a:off x="2562141" y="3687878"/>
              <a:ext cx="434947" cy="848163"/>
              <a:chOff x="10593629" y="2835348"/>
              <a:chExt cx="569514" cy="1240465"/>
            </a:xfrm>
          </p:grpSpPr>
          <p:sp>
            <p:nvSpPr>
              <p:cNvPr id="26" name="화살표: 아래쪽 25">
                <a:extLst>
                  <a:ext uri="{FF2B5EF4-FFF2-40B4-BE49-F238E27FC236}">
                    <a16:creationId xmlns:a16="http://schemas.microsoft.com/office/drawing/2014/main" id="{99085027-9307-4429-8076-CA489161ACE2}"/>
                  </a:ext>
                </a:extLst>
              </p:cNvPr>
              <p:cNvSpPr/>
              <p:nvPr/>
            </p:nvSpPr>
            <p:spPr>
              <a:xfrm>
                <a:off x="10610250" y="2835348"/>
                <a:ext cx="552893" cy="1240465"/>
              </a:xfrm>
              <a:prstGeom prst="downArrow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FCC868-7937-4D99-8872-70BB8600B03F}"/>
                  </a:ext>
                </a:extLst>
              </p:cNvPr>
              <p:cNvSpPr txBox="1"/>
              <p:nvPr/>
            </p:nvSpPr>
            <p:spPr>
              <a:xfrm>
                <a:off x="10593629" y="2879651"/>
                <a:ext cx="523899" cy="109869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ko-KR" altLang="en-US" dirty="0"/>
                  <a:t> 증가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F3B93676-13B2-43C6-B372-3CA9AEEB2B08}"/>
                    </a:ext>
                  </a:extLst>
                </p:cNvPr>
                <p:cNvSpPr/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>
                    <a:buClr>
                      <a:schemeClr val="dk1"/>
                    </a:buClr>
                    <a:buSzPts val="1100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 </m:t>
                          </m:r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𝐶</m:t>
                          </m:r>
                        </m:e>
                        <m:sub>
                          <m:r>
                            <a:rPr lang="ko-KR" altLang="ar-AE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Malgun Gothic"/>
                              <a:sym typeface="Malgun Gothic"/>
                            </a:rPr>
                            <m:t>𝑙</m:t>
                          </m:r>
                        </m:sub>
                      </m:sSub>
                    </m:oMath>
                  </a14:m>
                  <a:r>
                    <a:rPr lang="en-US" altLang="ko-KR" dirty="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F3B93676-13B2-43C6-B372-3CA9AEEB2B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141" y="3707561"/>
                  <a:ext cx="442557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2649415" y="3240230"/>
            <a:ext cx="8129954" cy="3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6000"/>
              <a:buFont typeface="Arial"/>
              <a:buNone/>
            </a:pPr>
            <a:r>
              <a:rPr lang="en-US" sz="6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07. Conclusion</a:t>
            </a:r>
            <a:endParaRPr sz="6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076329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083169-083B-4278-B970-9AEC0B78FA24}"/>
              </a:ext>
            </a:extLst>
          </p:cNvPr>
          <p:cNvSpPr/>
          <p:nvPr/>
        </p:nvSpPr>
        <p:spPr>
          <a:xfrm>
            <a:off x="0" y="0"/>
            <a:ext cx="1075765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9BA44F-5164-456B-8735-C35285372992}"/>
              </a:ext>
            </a:extLst>
          </p:cNvPr>
          <p:cNvSpPr/>
          <p:nvPr/>
        </p:nvSpPr>
        <p:spPr>
          <a:xfrm>
            <a:off x="1159497" y="0"/>
            <a:ext cx="273377" cy="6858000"/>
          </a:xfrm>
          <a:prstGeom prst="rect">
            <a:avLst/>
          </a:prstGeom>
          <a:solidFill>
            <a:srgbClr val="0964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79D59286-DE78-4A8B-879E-3640F67D805C}"/>
              </a:ext>
            </a:extLst>
          </p:cNvPr>
          <p:cNvSpPr txBox="1">
            <a:spLocks/>
          </p:cNvSpPr>
          <p:nvPr/>
        </p:nvSpPr>
        <p:spPr>
          <a:xfrm>
            <a:off x="2003572" y="682510"/>
            <a:ext cx="8963365" cy="37753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4000" dirty="0">
              <a:solidFill>
                <a:srgbClr val="09644C"/>
              </a:solidFill>
              <a:latin typeface="Arial Black" panose="020B0A04020102020204" pitchFamily="34" charset="0"/>
              <a:ea typeface="KoPubWorld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11058BE-BBDE-4390-A1F8-72F0D5BF8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863" y="1824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1B444A2-30E8-4EA5-A16D-77C69D54A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6863" y="1824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Google Shape;378;g381a785ae79_0_9">
            <a:extLst>
              <a:ext uri="{FF2B5EF4-FFF2-40B4-BE49-F238E27FC236}">
                <a16:creationId xmlns:a16="http://schemas.microsoft.com/office/drawing/2014/main" id="{DCC85CB4-DDA2-40AF-AB72-8B96AA054B02}"/>
              </a:ext>
            </a:extLst>
          </p:cNvPr>
          <p:cNvSpPr txBox="1"/>
          <p:nvPr/>
        </p:nvSpPr>
        <p:spPr>
          <a:xfrm>
            <a:off x="2003572" y="682510"/>
            <a:ext cx="89634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644C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rgbClr val="09644C"/>
                </a:solidFill>
                <a:latin typeface="Arial Black"/>
                <a:ea typeface="Arial Black"/>
                <a:cs typeface="Arial Black"/>
                <a:sym typeface="Arial Black"/>
              </a:rPr>
              <a:t>07. Conclusion</a:t>
            </a:r>
            <a:endParaRPr sz="4000" dirty="0">
              <a:solidFill>
                <a:srgbClr val="09644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C8A4E08-6111-4FA6-BDAF-EEB88B558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419176"/>
              </p:ext>
            </p:extLst>
          </p:nvPr>
        </p:nvGraphicFramePr>
        <p:xfrm>
          <a:off x="3076491" y="1597730"/>
          <a:ext cx="7303770" cy="4637372"/>
        </p:xfrm>
        <a:graphic>
          <a:graphicData uri="http://schemas.openxmlformats.org/drawingml/2006/table">
            <a:tbl>
              <a:tblPr firstRow="1" bandRow="1"/>
              <a:tblGrid>
                <a:gridCol w="1200150">
                  <a:extLst>
                    <a:ext uri="{9D8B030D-6E8A-4147-A177-3AD203B41FA5}">
                      <a16:colId xmlns:a16="http://schemas.microsoft.com/office/drawing/2014/main" val="399577725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1811619888"/>
                    </a:ext>
                  </a:extLst>
                </a:gridCol>
                <a:gridCol w="1491615">
                  <a:extLst>
                    <a:ext uri="{9D8B030D-6E8A-4147-A177-3AD203B41FA5}">
                      <a16:colId xmlns:a16="http://schemas.microsoft.com/office/drawing/2014/main" val="417042157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851977227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330900426"/>
                    </a:ext>
                  </a:extLst>
                </a:gridCol>
              </a:tblGrid>
              <a:tr h="489212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공정 </a:t>
                      </a:r>
                      <a:r>
                        <a:rPr lang="en-US" altLang="ko-KR" dirty="0"/>
                        <a:t>(180nm -&gt; 90nm -&gt; 45nm)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Multiplier (1X -&gt; 2X -&gt; 4X)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412727"/>
                  </a:ext>
                </a:extLst>
              </a:tr>
              <a:tr h="489212">
                <a:tc vMerge="1"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Load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Load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061104"/>
                  </a:ext>
                </a:extLst>
              </a:tr>
              <a:tr h="683557">
                <a:tc vMerge="1"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same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multi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Same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Multi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95552"/>
                  </a:ext>
                </a:extLst>
              </a:tr>
              <a:tr h="4960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l-GR" altLang="ko-KR" dirty="0">
                          <a:effectLst/>
                        </a:rPr>
                        <a:t>β</a:t>
                      </a:r>
                      <a:r>
                        <a:rPr lang="en-US" altLang="ko-KR" dirty="0">
                          <a:effectLst/>
                        </a:rPr>
                        <a:t>-ratio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동일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8179"/>
                  </a:ext>
                </a:extLst>
              </a:tr>
              <a:tr h="4892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/>
                        <a:t>Rise </a:t>
                      </a:r>
                      <a:r>
                        <a:rPr lang="en-US" altLang="ko-KR" dirty="0"/>
                        <a:t>time/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Fall time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12732"/>
                  </a:ext>
                </a:extLst>
              </a:tr>
              <a:tr h="4892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Propagation Delay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881278"/>
                  </a:ext>
                </a:extLst>
              </a:tr>
              <a:tr h="4892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Duty Cycle</a:t>
                      </a:r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70187"/>
                  </a:ext>
                </a:extLst>
              </a:tr>
              <a:tr h="4892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/>
                        <a:t>Power Consumption</a:t>
                      </a:r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감소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증가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996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860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2610</Words>
  <Application>Microsoft Office PowerPoint</Application>
  <PresentationFormat>와이드스크린</PresentationFormat>
  <Paragraphs>1276</Paragraphs>
  <Slides>42</Slides>
  <Notes>20</Notes>
  <HiddenSlides>1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3" baseType="lpstr">
      <vt:lpstr>Arial</vt:lpstr>
      <vt:lpstr>Calibri</vt:lpstr>
      <vt:lpstr>Malgun Gothic</vt:lpstr>
      <vt:lpstr>Malgun Gothic</vt:lpstr>
      <vt:lpstr>Arial Black</vt:lpstr>
      <vt:lpstr>KoPubWorld돋움체 Bold</vt:lpstr>
      <vt:lpstr>Cambria Math</vt:lpstr>
      <vt:lpstr>Source Han Sans KR Bold</vt:lpstr>
      <vt:lpstr>Wingdings</vt:lpstr>
      <vt:lpstr>Source Han Sans KR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cs.hong</dc:creator>
  <cp:lastModifiedBy>fl40</cp:lastModifiedBy>
  <cp:revision>48</cp:revision>
  <dcterms:created xsi:type="dcterms:W3CDTF">2022-03-31T13:07:28Z</dcterms:created>
  <dcterms:modified xsi:type="dcterms:W3CDTF">2025-09-23T08:37:36Z</dcterms:modified>
</cp:coreProperties>
</file>